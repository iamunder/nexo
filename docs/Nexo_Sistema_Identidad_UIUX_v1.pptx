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XO_LIGHT">
    <p:bg>
      <p:bgPr>
        <a:solidFill>
          <a:srgbClr val="FB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XO_DARK">
    <p:bg>
      <p:bgPr>
        <a:solidFill>
          <a:srgbClr val="0E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image" Target="../media/image-19-9.png"/><Relationship Id="rId10" Type="http://schemas.openxmlformats.org/officeDocument/2006/relationships/image" Target="../media/image-19-10.sv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image" Target="../media/image-21-7.png"/><Relationship Id="rId8" Type="http://schemas.openxmlformats.org/officeDocument/2006/relationships/image" Target="../media/image-21-8.svg"/><Relationship Id="rId9" Type="http://schemas.openxmlformats.org/officeDocument/2006/relationships/image" Target="../media/image-21-9.png"/><Relationship Id="rId10" Type="http://schemas.openxmlformats.org/officeDocument/2006/relationships/image" Target="../media/image-21-10.sv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svg"/><Relationship Id="rId13" Type="http://schemas.openxmlformats.org/officeDocument/2006/relationships/image" Target="../media/image-21-13.png"/><Relationship Id="rId14" Type="http://schemas.openxmlformats.org/officeDocument/2006/relationships/image" Target="../media/image-21-14.svg"/><Relationship Id="rId15" Type="http://schemas.openxmlformats.org/officeDocument/2006/relationships/image" Target="../media/image-21-15.png"/><Relationship Id="rId16" Type="http://schemas.openxmlformats.org/officeDocument/2006/relationships/image" Target="../media/image-21-16.svg"/><Relationship Id="rId17" Type="http://schemas.openxmlformats.org/officeDocument/2006/relationships/image" Target="../media/image-21-17.png"/><Relationship Id="rId18" Type="http://schemas.openxmlformats.org/officeDocument/2006/relationships/image" Target="../media/image-21-18.svg"/><Relationship Id="rId19" Type="http://schemas.openxmlformats.org/officeDocument/2006/relationships/image" Target="../media/image-21-19.png"/><Relationship Id="rId20" Type="http://schemas.openxmlformats.org/officeDocument/2006/relationships/image" Target="../media/image-21-20.svg"/><Relationship Id="rId21" Type="http://schemas.openxmlformats.org/officeDocument/2006/relationships/image" Target="../media/image-21-21.png"/><Relationship Id="rId22" Type="http://schemas.openxmlformats.org/officeDocument/2006/relationships/image" Target="../media/image-21-22.svg"/><Relationship Id="rId23" Type="http://schemas.openxmlformats.org/officeDocument/2006/relationships/slideLayout" Target="../slideLayouts/slideLayout2.xml"/><Relationship Id="rId2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image" Target="../media/image-22-7.png"/><Relationship Id="rId8" Type="http://schemas.openxmlformats.org/officeDocument/2006/relationships/image" Target="../media/image-22-8.svg"/><Relationship Id="rId9" Type="http://schemas.openxmlformats.org/officeDocument/2006/relationships/image" Target="../media/image-22-9.png"/><Relationship Id="rId10" Type="http://schemas.openxmlformats.org/officeDocument/2006/relationships/image" Target="../media/image-22-10.svg"/><Relationship Id="rId11" Type="http://schemas.openxmlformats.org/officeDocument/2006/relationships/image" Target="../media/image-22-11.png"/><Relationship Id="rId12" Type="http://schemas.openxmlformats.org/officeDocument/2006/relationships/image" Target="../media/image-22-12.svg"/><Relationship Id="rId13" Type="http://schemas.openxmlformats.org/officeDocument/2006/relationships/image" Target="../media/image-22-13.png"/><Relationship Id="rId14" Type="http://schemas.openxmlformats.org/officeDocument/2006/relationships/image" Target="../media/image-22-14.svg"/><Relationship Id="rId15" Type="http://schemas.openxmlformats.org/officeDocument/2006/relationships/image" Target="../media/image-22-15.png"/><Relationship Id="rId16" Type="http://schemas.openxmlformats.org/officeDocument/2006/relationships/image" Target="../media/image-22-16.svg"/><Relationship Id="rId17" Type="http://schemas.openxmlformats.org/officeDocument/2006/relationships/image" Target="../media/image-22-17.png"/><Relationship Id="rId18" Type="http://schemas.openxmlformats.org/officeDocument/2006/relationships/image" Target="../media/image-22-18.svg"/><Relationship Id="rId19" Type="http://schemas.openxmlformats.org/officeDocument/2006/relationships/image" Target="../media/image-22-19.png"/><Relationship Id="rId20" Type="http://schemas.openxmlformats.org/officeDocument/2006/relationships/image" Target="../media/image-22-20.svg"/><Relationship Id="rId21" Type="http://schemas.openxmlformats.org/officeDocument/2006/relationships/image" Target="../media/image-22-21.png"/><Relationship Id="rId22" Type="http://schemas.openxmlformats.org/officeDocument/2006/relationships/image" Target="../media/image-22-22.svg"/><Relationship Id="rId23" Type="http://schemas.openxmlformats.org/officeDocument/2006/relationships/slideLayout" Target="../slideLayouts/slideLayout3.xml"/><Relationship Id="rId2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image" Target="../media/image-25-5.png"/><Relationship Id="rId6" Type="http://schemas.openxmlformats.org/officeDocument/2006/relationships/image" Target="../media/image-25-6.svg"/><Relationship Id="rId7" Type="http://schemas.openxmlformats.org/officeDocument/2006/relationships/image" Target="../media/image-25-7.png"/><Relationship Id="rId8" Type="http://schemas.openxmlformats.org/officeDocument/2006/relationships/image" Target="../media/image-25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097280"/>
            <a:ext cx="3566160" cy="3566160"/>
          </a:xfrm>
          <a:prstGeom prst="ellipse">
            <a:avLst/>
          </a:prstGeom>
          <a:solidFill>
            <a:srgbClr val="0E0B14">
              <a:alpha val="0"/>
            </a:srgbClr>
          </a:solidFill>
          <a:ln w="1397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75488" y="-365760"/>
            <a:ext cx="3291840" cy="3291840"/>
          </a:xfrm>
          <a:prstGeom prst="ellipse">
            <a:avLst/>
          </a:prstGeom>
          <a:solidFill>
            <a:srgbClr val="0E0B14">
              <a:alpha val="0"/>
            </a:srgbClr>
          </a:solidFill>
          <a:ln w="1397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3977640"/>
            <a:ext cx="4389120" cy="4389120"/>
          </a:xfrm>
          <a:prstGeom prst="ellipse">
            <a:avLst/>
          </a:prstGeom>
          <a:solidFill>
            <a:srgbClr val="0E0B14">
              <a:alpha val="0"/>
            </a:srgbClr>
          </a:solidFill>
          <a:ln w="1397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49640" y="4892040"/>
            <a:ext cx="3246120" cy="3246120"/>
          </a:xfrm>
          <a:prstGeom prst="ellipse">
            <a:avLst/>
          </a:prstGeom>
          <a:solidFill>
            <a:srgbClr val="0E0B14">
              <a:alpha val="0"/>
            </a:srgbClr>
          </a:solidFill>
          <a:ln w="1397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51560"/>
            <a:ext cx="91440" cy="91440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0" y="5577840"/>
            <a:ext cx="91440" cy="91440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4048" y="3108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spc="140" kern="0" dirty="0">
                <a:solidFill>
                  <a:srgbClr val="C7BD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NEXO / PRODUCT SYSTEM</a:t>
            </a:r>
            <a:endParaRPr lang="en-US" sz="820" dirty="0"/>
          </a:p>
        </p:txBody>
      </p:sp>
      <p:sp>
        <p:nvSpPr>
          <p:cNvPr id="9" name="Text 7"/>
          <p:cNvSpPr txBox="1"/>
          <p:nvPr/>
        </p:nvSpPr>
        <p:spPr>
          <a:xfrm>
            <a:off x="9555480" y="31089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C7BD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Versión 1.0</a:t>
            </a:r>
            <a:endParaRPr lang="en-US" sz="820" dirty="0"/>
          </a:p>
        </p:txBody>
      </p:sp>
      <p:sp>
        <p:nvSpPr>
          <p:cNvPr id="10" name="Text 8"/>
          <p:cNvSpPr txBox="1"/>
          <p:nvPr/>
        </p:nvSpPr>
        <p:spPr>
          <a:xfrm>
            <a:off x="384048" y="4901184"/>
            <a:ext cx="51206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200" b="1" dirty="0">
                <a:solidFill>
                  <a:srgbClr val="C4B5F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SISTEMA VISUAL</a:t>
            </a:r>
            <a:endParaRPr lang="en-US" sz="32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3200" b="1" dirty="0">
                <a:solidFill>
                  <a:srgbClr val="C4B5FD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&amp; UI DESIGN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02336" y="619048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2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SaaS B2B modular · Light + Dark</a:t>
            </a:r>
            <a:endParaRPr lang="en-US" sz="1520" dirty="0"/>
          </a:p>
        </p:txBody>
      </p:sp>
      <p:sp>
        <p:nvSpPr>
          <p:cNvPr id="12" name="Text 10"/>
          <p:cNvSpPr txBox="1"/>
          <p:nvPr/>
        </p:nvSpPr>
        <p:spPr>
          <a:xfrm>
            <a:off x="402336" y="66842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928A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Octubre 2026</a:t>
            </a:r>
            <a:endParaRPr lang="en-US" sz="92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85048" y="6327648"/>
            <a:ext cx="420624" cy="42062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897112" y="63230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7F5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nexo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56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BFB6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352544" y="256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BFB6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Contenidos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9674352" y="25603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BFB6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2344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20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01. Concepto y principios</a:t>
            </a:r>
            <a:endParaRPr lang="en-US" sz="152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647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20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02. Firma visual</a:t>
            </a:r>
            <a:endParaRPr lang="en-US" sz="152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2951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20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03. Sistema cromático</a:t>
            </a:r>
            <a:endParaRPr lang="en-US" sz="152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8254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20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04. Tokens Light / Dark</a:t>
            </a:r>
            <a:endParaRPr lang="en-US" sz="152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335584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20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05. Accesibilidad</a:t>
            </a:r>
            <a:endParaRPr lang="en-US" sz="152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8862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20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06. Tipografía</a:t>
            </a:r>
            <a:endParaRPr lang="en-US" sz="152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12344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3977640" y="17647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977640" y="22951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977640" y="282549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977640" y="33558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38862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623560" y="1234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20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07. Foundations</a:t>
            </a:r>
            <a:endParaRPr lang="en-US" sz="1520" dirty="0"/>
          </a:p>
        </p:txBody>
      </p:sp>
      <p:sp>
        <p:nvSpPr>
          <p:cNvPr id="18" name="Text 16"/>
          <p:cNvSpPr txBox="1"/>
          <p:nvPr/>
        </p:nvSpPr>
        <p:spPr>
          <a:xfrm>
            <a:off x="5623560" y="17647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20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08. Componentes</a:t>
            </a:r>
            <a:endParaRPr lang="en-US" sz="1520" dirty="0"/>
          </a:p>
        </p:txBody>
      </p:sp>
      <p:sp>
        <p:nvSpPr>
          <p:cNvPr id="19" name="Text 17"/>
          <p:cNvSpPr txBox="1"/>
          <p:nvPr/>
        </p:nvSpPr>
        <p:spPr>
          <a:xfrm>
            <a:off x="5623560" y="229514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20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09. Datos e iconografía</a:t>
            </a:r>
            <a:endParaRPr lang="en-US" sz="1520" dirty="0"/>
          </a:p>
        </p:txBody>
      </p:sp>
      <p:sp>
        <p:nvSpPr>
          <p:cNvPr id="20" name="Text 18"/>
          <p:cNvSpPr txBox="1"/>
          <p:nvPr/>
        </p:nvSpPr>
        <p:spPr>
          <a:xfrm>
            <a:off x="5623560" y="28254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20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 Microinteracciones</a:t>
            </a:r>
            <a:endParaRPr lang="en-US" sz="1520" dirty="0"/>
          </a:p>
        </p:txBody>
      </p:sp>
      <p:sp>
        <p:nvSpPr>
          <p:cNvPr id="21" name="Text 19"/>
          <p:cNvSpPr txBox="1"/>
          <p:nvPr/>
        </p:nvSpPr>
        <p:spPr>
          <a:xfrm>
            <a:off x="5623560" y="335584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20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 Aplicación UI</a:t>
            </a:r>
            <a:endParaRPr lang="en-US" sz="152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38862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20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 Adaptación y handoff</a:t>
            </a:r>
            <a:endParaRPr lang="en-US" sz="152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12344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9372600" y="17647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9372600" y="22951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372600" y="282549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372600" y="335584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9372600" y="38862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46520" y="-502920"/>
            <a:ext cx="4480560" cy="4480560"/>
          </a:xfrm>
          <a:prstGeom prst="ellipse">
            <a:avLst/>
          </a:prstGeom>
          <a:solidFill>
            <a:srgbClr val="0E0B14">
              <a:alpha val="0"/>
            </a:srgbClr>
          </a:solidFill>
          <a:ln w="1524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07808" y="1783080"/>
            <a:ext cx="4114800" cy="4114800"/>
          </a:xfrm>
          <a:prstGeom prst="ellipse">
            <a:avLst/>
          </a:prstGeom>
          <a:solidFill>
            <a:srgbClr val="0E0B14">
              <a:alpha val="0"/>
            </a:srgbClr>
          </a:solidFill>
          <a:ln w="1524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41080" y="4343400"/>
            <a:ext cx="3063240" cy="3063240"/>
          </a:xfrm>
          <a:prstGeom prst="ellipse">
            <a:avLst/>
          </a:prstGeom>
          <a:solidFill>
            <a:srgbClr val="0E0B14">
              <a:alpha val="0"/>
            </a:srgbClr>
          </a:solidFill>
          <a:ln w="1524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39912" y="2029968"/>
            <a:ext cx="100584" cy="100584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27464" y="4672584"/>
            <a:ext cx="100584" cy="100584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324344" y="576072"/>
            <a:ext cx="100584" cy="100584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56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352544" y="256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Concepto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9674352" y="25603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4048" y="1115568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Conectar</a:t>
            </a:r>
            <a:endParaRPr lang="en-US" sz="30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30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sin saturar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384048" y="2231136"/>
            <a:ext cx="2788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Nexo convierte la complejidad operativa en un sistema legible: cada módulo es un nodo autónomo que comparte contexto con el resto.</a:t>
            </a:r>
            <a:endParaRPr lang="en-US" sz="1240" dirty="0"/>
          </a:p>
          <a:p>
            <a:pPr algn="l" indent="0" marL="0">
              <a:lnSpc>
                <a:spcPct val="105000"/>
              </a:lnSpc>
              <a:buNone/>
            </a:pPr>
            <a:endParaRPr lang="en-US" sz="124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identidad se construye sobre órbitas abiertas, puntos de conexión y capas que aparecen solo cuando aportan valor.</a:t>
            </a:r>
            <a:endParaRPr lang="en-US" sz="1240" dirty="0"/>
          </a:p>
        </p:txBody>
      </p:sp>
      <p:sp>
        <p:nvSpPr>
          <p:cNvPr id="7" name="Text 5"/>
          <p:cNvSpPr txBox="1"/>
          <p:nvPr/>
        </p:nvSpPr>
        <p:spPr>
          <a:xfrm>
            <a:off x="393192" y="592531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6D28D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Todo conectado. Solo lo necesario.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3886200" y="786384"/>
            <a:ext cx="5212080" cy="5212080"/>
          </a:xfrm>
          <a:prstGeom prst="ellipse">
            <a:avLst/>
          </a:prstGeom>
          <a:solidFill>
            <a:srgbClr val="FBFAFD">
              <a:alpha val="0"/>
            </a:srgbClr>
          </a:solidFill>
          <a:ln w="16510">
            <a:solidFill>
              <a:srgbClr val="C4B5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897880" y="-502920"/>
            <a:ext cx="3657600" cy="3657600"/>
          </a:xfrm>
          <a:prstGeom prst="ellipse">
            <a:avLst/>
          </a:prstGeom>
          <a:solidFill>
            <a:srgbClr val="FBFAFD">
              <a:alpha val="0"/>
            </a:srgbClr>
          </a:solidFill>
          <a:ln w="13335">
            <a:solidFill>
              <a:srgbClr val="A78B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96128" y="3840480"/>
            <a:ext cx="3657600" cy="3657600"/>
          </a:xfrm>
          <a:prstGeom prst="ellipse">
            <a:avLst/>
          </a:prstGeom>
          <a:solidFill>
            <a:srgbClr val="FBFAFD">
              <a:alpha val="0"/>
            </a:srgbClr>
          </a:solidFill>
          <a:ln w="13335">
            <a:solidFill>
              <a:srgbClr val="A78B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72784" y="2532888"/>
            <a:ext cx="164592" cy="16459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91272" y="1069848"/>
            <a:ext cx="109728" cy="109728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01584" y="5047488"/>
            <a:ext cx="109728" cy="10972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45152" y="4315968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224942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VENTAS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8119872" y="78638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ENTREGA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8266176" y="4800600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SOPORTE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4096512" y="405079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DATOS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56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352544" y="256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Principios de diseño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9674352" y="25603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4048" y="1115568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Principios</a:t>
            </a:r>
            <a:endParaRPr lang="en-US" sz="29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rectores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384048" y="2231136"/>
            <a:ext cx="2788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estética de Nexo no busca decorar el producto, sino reducir el coste cognitivo de trabajar con información compleja. Cada decisión visual debe pasar estos cinco filtros.</a:t>
            </a:r>
            <a:endParaRPr lang="en-US" sz="1240" dirty="0"/>
          </a:p>
        </p:txBody>
      </p:sp>
      <p:sp>
        <p:nvSpPr>
          <p:cNvPr id="7" name="Shape 5"/>
          <p:cNvSpPr/>
          <p:nvPr/>
        </p:nvSpPr>
        <p:spPr>
          <a:xfrm>
            <a:off x="3794760" y="1143000"/>
            <a:ext cx="196596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0160">
            <a:solidFill>
              <a:srgbClr val="EC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59352" y="1307592"/>
            <a:ext cx="347472" cy="347472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46220" y="1394460"/>
            <a:ext cx="173736" cy="17373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3959352" y="1801368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Claridad</a:t>
            </a:r>
            <a:endParaRPr lang="en-US" sz="1420" dirty="0"/>
          </a:p>
        </p:txBody>
      </p:sp>
      <p:sp>
        <p:nvSpPr>
          <p:cNvPr id="11" name="Text 8"/>
          <p:cNvSpPr txBox="1"/>
          <p:nvPr/>
        </p:nvSpPr>
        <p:spPr>
          <a:xfrm>
            <a:off x="3959352" y="2130552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pantalla responde a una pregunta principal.</a:t>
            </a:r>
            <a:endParaRPr lang="en-US" sz="960" dirty="0"/>
          </a:p>
        </p:txBody>
      </p:sp>
      <p:sp>
        <p:nvSpPr>
          <p:cNvPr id="12" name="Shape 9"/>
          <p:cNvSpPr/>
          <p:nvPr/>
        </p:nvSpPr>
        <p:spPr>
          <a:xfrm>
            <a:off x="5925312" y="1143000"/>
            <a:ext cx="196596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0160">
            <a:solidFill>
              <a:srgbClr val="EC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89904" y="1307592"/>
            <a:ext cx="347472" cy="347472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6772" y="1394460"/>
            <a:ext cx="173736" cy="173736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089904" y="1801368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Modularidad</a:t>
            </a:r>
            <a:endParaRPr lang="en-US" sz="1420" dirty="0"/>
          </a:p>
        </p:txBody>
      </p:sp>
      <p:sp>
        <p:nvSpPr>
          <p:cNvPr id="16" name="Text 12"/>
          <p:cNvSpPr txBox="1"/>
          <p:nvPr/>
        </p:nvSpPr>
        <p:spPr>
          <a:xfrm>
            <a:off x="6089904" y="2130552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componentes se combinan sin perder coherencia.</a:t>
            </a:r>
            <a:endParaRPr lang="en-US" sz="960" dirty="0"/>
          </a:p>
        </p:txBody>
      </p:sp>
      <p:sp>
        <p:nvSpPr>
          <p:cNvPr id="17" name="Shape 13"/>
          <p:cNvSpPr/>
          <p:nvPr/>
        </p:nvSpPr>
        <p:spPr>
          <a:xfrm>
            <a:off x="8055864" y="1143000"/>
            <a:ext cx="1965960" cy="1508760"/>
          </a:xfrm>
          <a:prstGeom prst="roundRect">
            <a:avLst>
              <a:gd name="adj" fmla="val 9697"/>
            </a:avLst>
          </a:prstGeom>
          <a:solidFill>
            <a:srgbClr val="FFFFFF"/>
          </a:solidFill>
          <a:ln w="10160">
            <a:solidFill>
              <a:srgbClr val="EC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20456" y="1307592"/>
            <a:ext cx="347472" cy="347472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7324" y="1394460"/>
            <a:ext cx="173736" cy="17373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220456" y="1801368"/>
            <a:ext cx="1636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Densidad útil</a:t>
            </a:r>
            <a:endParaRPr lang="en-US" sz="1420" dirty="0"/>
          </a:p>
        </p:txBody>
      </p:sp>
      <p:sp>
        <p:nvSpPr>
          <p:cNvPr id="21" name="Text 16"/>
          <p:cNvSpPr txBox="1"/>
          <p:nvPr/>
        </p:nvSpPr>
        <p:spPr>
          <a:xfrm>
            <a:off x="8220456" y="2130552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información por área, nunca más ruido.</a:t>
            </a:r>
            <a:endParaRPr lang="en-US" sz="960" dirty="0"/>
          </a:p>
        </p:txBody>
      </p:sp>
      <p:sp>
        <p:nvSpPr>
          <p:cNvPr id="22" name="Shape 17"/>
          <p:cNvSpPr/>
          <p:nvPr/>
        </p:nvSpPr>
        <p:spPr>
          <a:xfrm>
            <a:off x="4846320" y="2880360"/>
            <a:ext cx="2331720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0160">
            <a:solidFill>
              <a:srgbClr val="ECE8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010912" y="3044952"/>
            <a:ext cx="347472" cy="347472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97780" y="3131820"/>
            <a:ext cx="173736" cy="17373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010912" y="3538728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Continuidad</a:t>
            </a:r>
            <a:endParaRPr lang="en-US" sz="1420" dirty="0"/>
          </a:p>
        </p:txBody>
      </p:sp>
      <p:sp>
        <p:nvSpPr>
          <p:cNvPr id="26" name="Text 20"/>
          <p:cNvSpPr txBox="1"/>
          <p:nvPr/>
        </p:nvSpPr>
        <p:spPr>
          <a:xfrm>
            <a:off x="5010912" y="3867912"/>
            <a:ext cx="2002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contexto viaja entre ventas, entrega y soporte.</a:t>
            </a:r>
            <a:endParaRPr lang="en-US" sz="960" dirty="0"/>
          </a:p>
        </p:txBody>
      </p:sp>
      <p:sp>
        <p:nvSpPr>
          <p:cNvPr id="27" name="Shape 21"/>
          <p:cNvSpPr/>
          <p:nvPr/>
        </p:nvSpPr>
        <p:spPr>
          <a:xfrm>
            <a:off x="7360920" y="2880360"/>
            <a:ext cx="2331720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0160">
            <a:solidFill>
              <a:srgbClr val="ECE8F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525512" y="3044952"/>
            <a:ext cx="347472" cy="347472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12380" y="3131820"/>
            <a:ext cx="173736" cy="17373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525512" y="3538728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Accesibilidad</a:t>
            </a:r>
            <a:endParaRPr lang="en-US" sz="1420" dirty="0"/>
          </a:p>
        </p:txBody>
      </p:sp>
      <p:sp>
        <p:nvSpPr>
          <p:cNvPr id="31" name="Text 24"/>
          <p:cNvSpPr txBox="1"/>
          <p:nvPr/>
        </p:nvSpPr>
        <p:spPr>
          <a:xfrm>
            <a:off x="7525512" y="3867912"/>
            <a:ext cx="2002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Contraste, foco y estados perceptibles por diseño.</a:t>
            </a:r>
            <a:endParaRPr lang="en-US" sz="960" dirty="0"/>
          </a:p>
        </p:txBody>
      </p:sp>
      <p:sp>
        <p:nvSpPr>
          <p:cNvPr id="32" name="Shape 25"/>
          <p:cNvSpPr/>
          <p:nvPr/>
        </p:nvSpPr>
        <p:spPr>
          <a:xfrm>
            <a:off x="3794760" y="4892040"/>
            <a:ext cx="6355080" cy="1097280"/>
          </a:xfrm>
          <a:prstGeom prst="roundRect">
            <a:avLst>
              <a:gd name="adj" fmla="val 15000"/>
            </a:avLst>
          </a:prstGeom>
          <a:solidFill>
            <a:srgbClr val="2E1065"/>
          </a:solidFill>
          <a:ln w="12700">
            <a:solidFill>
              <a:srgbClr val="2E1065">
                <a:alpha val="0"/>
              </a:srgbClr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4041648" y="513892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b="1" spc="90" kern="0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Criterio de calidad</a:t>
            </a:r>
            <a:endParaRPr lang="en-US" sz="870" dirty="0"/>
          </a:p>
        </p:txBody>
      </p:sp>
      <p:sp>
        <p:nvSpPr>
          <p:cNvPr id="34" name="Text 27"/>
          <p:cNvSpPr txBox="1"/>
          <p:nvPr/>
        </p:nvSpPr>
        <p:spPr>
          <a:xfrm>
            <a:off x="4041648" y="5422392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La interfaz debe sentirse más simple que el proceso que representa.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56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352544" y="256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Firma visual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9674352" y="25603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4048" y="1115568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Firma visual</a:t>
            </a:r>
            <a:endParaRPr lang="en-US" sz="29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 sistema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384048" y="2231136"/>
            <a:ext cx="2788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propone una marca tipográfica limpia acompañada de un circuito abierto con nodos. El símbolo representa una arquitectura extensible: siempre existe una entrada, una salida y espacio para un nuevo módulo.</a:t>
            </a:r>
            <a:endParaRPr lang="en-US" sz="1240" dirty="0"/>
          </a:p>
          <a:p>
            <a:pPr algn="l" indent="0" marL="0">
              <a:lnSpc>
                <a:spcPct val="105000"/>
              </a:lnSpc>
              <a:buNone/>
            </a:pPr>
            <a:endParaRPr lang="en-US" sz="124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 dirección es conceptual y debe validarse en un proceso específico de diseño de logotipo y registro.</a:t>
            </a:r>
            <a:endParaRPr lang="en-US" sz="1240" dirty="0"/>
          </a:p>
        </p:txBody>
      </p:sp>
      <p:sp>
        <p:nvSpPr>
          <p:cNvPr id="7" name="Shape 5"/>
          <p:cNvSpPr/>
          <p:nvPr/>
        </p:nvSpPr>
        <p:spPr>
          <a:xfrm>
            <a:off x="3886200" y="1143000"/>
            <a:ext cx="2743200" cy="1508760"/>
          </a:xfrm>
          <a:prstGeom prst="roundRect">
            <a:avLst>
              <a:gd name="adj" fmla="val 10909"/>
            </a:avLst>
          </a:prstGeom>
          <a:solidFill>
            <a:srgbClr val="0E0B14"/>
          </a:solidFill>
          <a:ln w="12700">
            <a:solidFill>
              <a:srgbClr val="0E0B14">
                <a:alpha val="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61688" y="1673352"/>
            <a:ext cx="420624" cy="42062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4873752" y="16687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7F5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nexo</a:t>
            </a:r>
            <a:endParaRPr lang="en-US" sz="2500" dirty="0"/>
          </a:p>
        </p:txBody>
      </p:sp>
      <p:sp>
        <p:nvSpPr>
          <p:cNvPr id="10" name="Shape 7"/>
          <p:cNvSpPr/>
          <p:nvPr/>
        </p:nvSpPr>
        <p:spPr>
          <a:xfrm>
            <a:off x="6903720" y="1143000"/>
            <a:ext cx="2743200" cy="1508760"/>
          </a:xfrm>
          <a:prstGeom prst="roundRect">
            <a:avLst>
              <a:gd name="adj" fmla="val 10909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79208" y="1673352"/>
            <a:ext cx="420624" cy="4206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891272" y="16687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nexo</a:t>
            </a:r>
            <a:endParaRPr lang="en-US" sz="2500" dirty="0"/>
          </a:p>
        </p:txBody>
      </p:sp>
      <p:sp>
        <p:nvSpPr>
          <p:cNvPr id="13" name="Shape 9"/>
          <p:cNvSpPr/>
          <p:nvPr/>
        </p:nvSpPr>
        <p:spPr>
          <a:xfrm>
            <a:off x="3886200" y="2971800"/>
            <a:ext cx="2743200" cy="1508760"/>
          </a:xfrm>
          <a:prstGeom prst="roundRect">
            <a:avLst>
              <a:gd name="adj" fmla="val 10909"/>
            </a:avLst>
          </a:prstGeom>
          <a:solidFill>
            <a:srgbClr val="F5F3FF"/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61688" y="3502152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873752" y="34975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6D28D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nexo</a:t>
            </a:r>
            <a:endParaRPr lang="en-US" sz="2500" dirty="0"/>
          </a:p>
        </p:txBody>
      </p:sp>
      <p:sp>
        <p:nvSpPr>
          <p:cNvPr id="16" name="Shape 11"/>
          <p:cNvSpPr/>
          <p:nvPr/>
        </p:nvSpPr>
        <p:spPr>
          <a:xfrm>
            <a:off x="6903720" y="2971800"/>
            <a:ext cx="2743200" cy="15087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0160">
            <a:solidFill>
              <a:srgbClr val="D8D2E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79208" y="3502152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891272" y="34975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nexo</a:t>
            </a:r>
            <a:endParaRPr lang="en-US" sz="2500" dirty="0"/>
          </a:p>
        </p:txBody>
      </p:sp>
      <p:sp>
        <p:nvSpPr>
          <p:cNvPr id="19" name="Text 13"/>
          <p:cNvSpPr txBox="1"/>
          <p:nvPr/>
        </p:nvSpPr>
        <p:spPr>
          <a:xfrm>
            <a:off x="3886200" y="49834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10" kern="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ANAGRAMA</a:t>
            </a:r>
            <a:endParaRPr lang="en-US" sz="850" dirty="0"/>
          </a:p>
        </p:txBody>
      </p:sp>
      <p:sp>
        <p:nvSpPr>
          <p:cNvPr id="20" name="Shape 14"/>
          <p:cNvSpPr/>
          <p:nvPr/>
        </p:nvSpPr>
        <p:spPr>
          <a:xfrm>
            <a:off x="3886200" y="5303520"/>
            <a:ext cx="841248" cy="841248"/>
          </a:xfrm>
          <a:prstGeom prst="roundRect">
            <a:avLst>
              <a:gd name="adj" fmla="val 16304"/>
            </a:avLst>
          </a:prstGeom>
          <a:solidFill>
            <a:srgbClr val="0E0B14"/>
          </a:solidFill>
          <a:ln w="12700">
            <a:solidFill>
              <a:srgbClr val="0E0B14">
                <a:alpha val="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50792" y="5468112"/>
            <a:ext cx="512064" cy="512064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4983480" y="5303520"/>
            <a:ext cx="841248" cy="841248"/>
          </a:xfrm>
          <a:prstGeom prst="roundRect">
            <a:avLst>
              <a:gd name="adj" fmla="val 16304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48072" y="5468112"/>
            <a:ext cx="512064" cy="512064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6080760" y="5303520"/>
            <a:ext cx="841248" cy="841248"/>
          </a:xfrm>
          <a:prstGeom prst="roundRect">
            <a:avLst>
              <a:gd name="adj" fmla="val 16304"/>
            </a:avLst>
          </a:prstGeom>
          <a:solidFill>
            <a:srgbClr val="F5F3FF"/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245352" y="5468112"/>
            <a:ext cx="512064" cy="512064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7178040" y="5303520"/>
            <a:ext cx="841248" cy="841248"/>
          </a:xfrm>
          <a:prstGeom prst="roundRect">
            <a:avLst>
              <a:gd name="adj" fmla="val 16304"/>
            </a:avLst>
          </a:prstGeom>
          <a:solidFill>
            <a:srgbClr val="FFFFFF"/>
          </a:solidFill>
          <a:ln w="10160">
            <a:solidFill>
              <a:srgbClr val="D8D2E0"/>
            </a:solidFill>
            <a:prstDash val="solid"/>
          </a:ln>
        </p:spPr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342632" y="5468112"/>
            <a:ext cx="512064" cy="512064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8302752" y="53035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Área de respeto recomendada: ½ del diámetro del símbolo.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56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352544" y="256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Colorimetría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9674352" y="25603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4048" y="1115568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Sistema</a:t>
            </a:r>
            <a:endParaRPr lang="en-US" sz="29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cromático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384048" y="2231136"/>
            <a:ext cx="2788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paleta combina un morado central —tecnología, conexión y diferenciación— con un índigo estable y un cian de señal.</a:t>
            </a:r>
            <a:endParaRPr lang="en-US" sz="1240" dirty="0"/>
          </a:p>
          <a:p>
            <a:pPr algn="l" indent="0" marL="0">
              <a:lnSpc>
                <a:spcPct val="105000"/>
              </a:lnSpc>
              <a:buNone/>
            </a:pPr>
            <a:endParaRPr lang="en-US" sz="124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neutros tienen un ligero matiz violeta para que Light y Dark mode compartan personalidad sin recurrir a negro o blanco puros.</a:t>
            </a:r>
            <a:endParaRPr lang="en-US" sz="1240" dirty="0"/>
          </a:p>
        </p:txBody>
      </p:sp>
      <p:sp>
        <p:nvSpPr>
          <p:cNvPr id="7" name="Shape 5"/>
          <p:cNvSpPr/>
          <p:nvPr/>
        </p:nvSpPr>
        <p:spPr>
          <a:xfrm>
            <a:off x="3657600" y="749808"/>
            <a:ext cx="1371600" cy="6263640"/>
          </a:xfrm>
          <a:prstGeom prst="rect">
            <a:avLst/>
          </a:prstGeom>
          <a:solidFill>
            <a:srgbClr val="17111F"/>
          </a:solidFill>
          <a:ln w="12700">
            <a:solidFill>
              <a:srgbClr val="17111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 rot="16200000">
            <a:off x="3749040" y="63550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INK</a:t>
            </a:r>
            <a:endParaRPr lang="en-US" sz="810" dirty="0"/>
          </a:p>
        </p:txBody>
      </p:sp>
      <p:sp>
        <p:nvSpPr>
          <p:cNvPr id="9" name="Text 7"/>
          <p:cNvSpPr txBox="1"/>
          <p:nvPr/>
        </p:nvSpPr>
        <p:spPr>
          <a:xfrm rot="16200000">
            <a:off x="3995928" y="51389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#17111F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5029200" y="749808"/>
            <a:ext cx="1417320" cy="62636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 rot="16200000">
            <a:off x="5120640" y="63550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NEXO PURPLE</a:t>
            </a:r>
            <a:endParaRPr lang="en-US" sz="810" dirty="0"/>
          </a:p>
        </p:txBody>
      </p:sp>
      <p:sp>
        <p:nvSpPr>
          <p:cNvPr id="12" name="Text 10"/>
          <p:cNvSpPr txBox="1"/>
          <p:nvPr/>
        </p:nvSpPr>
        <p:spPr>
          <a:xfrm rot="16200000">
            <a:off x="5367528" y="51389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#6D28D9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6446520" y="749808"/>
            <a:ext cx="1325880" cy="62636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 rot="16200000">
            <a:off x="6537960" y="63550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INDIGO</a:t>
            </a:r>
            <a:endParaRPr lang="en-US" sz="810" dirty="0"/>
          </a:p>
        </p:txBody>
      </p:sp>
      <p:sp>
        <p:nvSpPr>
          <p:cNvPr id="15" name="Text 13"/>
          <p:cNvSpPr txBox="1"/>
          <p:nvPr/>
        </p:nvSpPr>
        <p:spPr>
          <a:xfrm rot="16200000">
            <a:off x="6784848" y="51389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#4338CA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7772400" y="749808"/>
            <a:ext cx="1325880" cy="62636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 rot="16200000">
            <a:off x="7863840" y="63550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SIGNAL CYAN</a:t>
            </a:r>
            <a:endParaRPr lang="en-US" sz="810" dirty="0"/>
          </a:p>
        </p:txBody>
      </p:sp>
      <p:sp>
        <p:nvSpPr>
          <p:cNvPr id="18" name="Text 16"/>
          <p:cNvSpPr txBox="1"/>
          <p:nvPr/>
        </p:nvSpPr>
        <p:spPr>
          <a:xfrm rot="16200000">
            <a:off x="8110728" y="51389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#0E7490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9098280" y="749808"/>
            <a:ext cx="1143000" cy="6263640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 rot="16200000">
            <a:off x="9189720" y="635508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</a:t>
            </a:r>
            <a:endParaRPr lang="en-US" sz="810" dirty="0"/>
          </a:p>
        </p:txBody>
      </p:sp>
      <p:sp>
        <p:nvSpPr>
          <p:cNvPr id="21" name="Text 19"/>
          <p:cNvSpPr txBox="1"/>
          <p:nvPr/>
        </p:nvSpPr>
        <p:spPr>
          <a:xfrm rot="16200000">
            <a:off x="9436608" y="51389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#F5F3FF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56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352544" y="256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 de marca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9674352" y="25603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4048" y="1115568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Escala</a:t>
            </a:r>
            <a:endParaRPr lang="en-US" sz="29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púrpura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384048" y="2231136"/>
            <a:ext cx="2788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escala permite construir jerarquía, estados y temas sin introducir nuevos colores.</a:t>
            </a:r>
            <a:endParaRPr lang="en-US" sz="1240" dirty="0"/>
          </a:p>
          <a:p>
            <a:pPr algn="l" indent="0" marL="0">
              <a:lnSpc>
                <a:spcPct val="105000"/>
              </a:lnSpc>
              <a:buNone/>
            </a:pPr>
            <a:endParaRPr lang="en-US" sz="124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tono 700 es el núcleo en Light; el 400 toma el relevo como acción principal en Dark para mantener contraste y luminosidad.</a:t>
            </a:r>
            <a:endParaRPr lang="en-US" sz="1240" dirty="0"/>
          </a:p>
        </p:txBody>
      </p:sp>
      <p:sp>
        <p:nvSpPr>
          <p:cNvPr id="7" name="Shape 5"/>
          <p:cNvSpPr/>
          <p:nvPr/>
        </p:nvSpPr>
        <p:spPr>
          <a:xfrm>
            <a:off x="3520440" y="1097280"/>
            <a:ext cx="576072" cy="5303520"/>
          </a:xfrm>
          <a:prstGeom prst="rect">
            <a:avLst/>
          </a:prstGeom>
          <a:solidFill>
            <a:srgbClr val="F5F3FF"/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 rot="16200000">
            <a:off x="3666744" y="58338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 rot="16200000">
            <a:off x="3877056" y="521208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#F5F3FF</a:t>
            </a:r>
            <a:endParaRPr lang="en-US" sz="690" dirty="0"/>
          </a:p>
        </p:txBody>
      </p:sp>
      <p:sp>
        <p:nvSpPr>
          <p:cNvPr id="10" name="Shape 8"/>
          <p:cNvSpPr/>
          <p:nvPr/>
        </p:nvSpPr>
        <p:spPr>
          <a:xfrm>
            <a:off x="4123944" y="1097280"/>
            <a:ext cx="576072" cy="530352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 rot="16200000">
            <a:off x="4270248" y="58338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 rot="16200000">
            <a:off x="4480560" y="521208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#EDE9FE</a:t>
            </a:r>
            <a:endParaRPr lang="en-US" sz="690" dirty="0"/>
          </a:p>
        </p:txBody>
      </p:sp>
      <p:sp>
        <p:nvSpPr>
          <p:cNvPr id="13" name="Shape 11"/>
          <p:cNvSpPr/>
          <p:nvPr/>
        </p:nvSpPr>
        <p:spPr>
          <a:xfrm>
            <a:off x="4727448" y="1097280"/>
            <a:ext cx="576072" cy="5303520"/>
          </a:xfrm>
          <a:prstGeom prst="rect">
            <a:avLst/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 rot="16200000">
            <a:off x="4873752" y="58338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 rot="16200000">
            <a:off x="5084064" y="521208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#DDD6FE</a:t>
            </a:r>
            <a:endParaRPr lang="en-US" sz="690" dirty="0"/>
          </a:p>
        </p:txBody>
      </p:sp>
      <p:sp>
        <p:nvSpPr>
          <p:cNvPr id="16" name="Shape 14"/>
          <p:cNvSpPr/>
          <p:nvPr/>
        </p:nvSpPr>
        <p:spPr>
          <a:xfrm>
            <a:off x="5330952" y="1097280"/>
            <a:ext cx="576072" cy="530352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 rot="16200000">
            <a:off x="5477256" y="58338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300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 rot="16200000">
            <a:off x="5687568" y="521208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#C4B5FD</a:t>
            </a:r>
            <a:endParaRPr lang="en-US" sz="690" dirty="0"/>
          </a:p>
        </p:txBody>
      </p:sp>
      <p:sp>
        <p:nvSpPr>
          <p:cNvPr id="19" name="Shape 17"/>
          <p:cNvSpPr/>
          <p:nvPr/>
        </p:nvSpPr>
        <p:spPr>
          <a:xfrm>
            <a:off x="5934456" y="1097280"/>
            <a:ext cx="576072" cy="53035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 rot="16200000">
            <a:off x="6080760" y="58338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 rot="16200000">
            <a:off x="6291072" y="521208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#A78BFA</a:t>
            </a:r>
            <a:endParaRPr lang="en-US" sz="690" dirty="0"/>
          </a:p>
        </p:txBody>
      </p:sp>
      <p:sp>
        <p:nvSpPr>
          <p:cNvPr id="22" name="Shape 20"/>
          <p:cNvSpPr/>
          <p:nvPr/>
        </p:nvSpPr>
        <p:spPr>
          <a:xfrm>
            <a:off x="6537960" y="1097280"/>
            <a:ext cx="576072" cy="53035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 rot="16200000">
            <a:off x="6684264" y="58338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 rot="16200000">
            <a:off x="6894576" y="521208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#8B5CF6</a:t>
            </a:r>
            <a:endParaRPr lang="en-US" sz="690" dirty="0"/>
          </a:p>
        </p:txBody>
      </p:sp>
      <p:sp>
        <p:nvSpPr>
          <p:cNvPr id="25" name="Shape 23"/>
          <p:cNvSpPr/>
          <p:nvPr/>
        </p:nvSpPr>
        <p:spPr>
          <a:xfrm>
            <a:off x="7141464" y="1097280"/>
            <a:ext cx="576072" cy="5303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 rot="16200000">
            <a:off x="7287768" y="58338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600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 rot="16200000">
            <a:off x="7498080" y="521208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#7C3AED</a:t>
            </a:r>
            <a:endParaRPr lang="en-US" sz="690" dirty="0"/>
          </a:p>
        </p:txBody>
      </p:sp>
      <p:sp>
        <p:nvSpPr>
          <p:cNvPr id="28" name="Shape 26"/>
          <p:cNvSpPr/>
          <p:nvPr/>
        </p:nvSpPr>
        <p:spPr>
          <a:xfrm>
            <a:off x="7744968" y="1097280"/>
            <a:ext cx="576072" cy="53035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 rot="16200000">
            <a:off x="7891272" y="58338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700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 rot="16200000">
            <a:off x="8101584" y="521208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#6D28D9</a:t>
            </a:r>
            <a:endParaRPr lang="en-US" sz="690" dirty="0"/>
          </a:p>
        </p:txBody>
      </p:sp>
      <p:sp>
        <p:nvSpPr>
          <p:cNvPr id="31" name="Shape 29"/>
          <p:cNvSpPr/>
          <p:nvPr/>
        </p:nvSpPr>
        <p:spPr>
          <a:xfrm>
            <a:off x="7717536" y="987552"/>
            <a:ext cx="630936" cy="73152"/>
          </a:xfrm>
          <a:prstGeom prst="roundRect">
            <a:avLst>
              <a:gd name="adj" fmla="val 37500"/>
            </a:avLst>
          </a:prstGeom>
          <a:solidFill>
            <a:srgbClr val="0E7490"/>
          </a:solidFill>
          <a:ln w="12700">
            <a:solidFill>
              <a:srgbClr val="0E7490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616952" y="658368"/>
            <a:ext cx="832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0E74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8348472" y="1097280"/>
            <a:ext cx="576072" cy="530352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 rot="16200000">
            <a:off x="8494776" y="58338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800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 rot="16200000">
            <a:off x="8705088" y="521208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#5B21B6</a:t>
            </a:r>
            <a:endParaRPr lang="en-US" sz="690" dirty="0"/>
          </a:p>
        </p:txBody>
      </p:sp>
      <p:sp>
        <p:nvSpPr>
          <p:cNvPr id="36" name="Shape 34"/>
          <p:cNvSpPr/>
          <p:nvPr/>
        </p:nvSpPr>
        <p:spPr>
          <a:xfrm>
            <a:off x="8951976" y="1097280"/>
            <a:ext cx="576072" cy="5303520"/>
          </a:xfrm>
          <a:prstGeom prst="rect">
            <a:avLst/>
          </a:prstGeom>
          <a:solidFill>
            <a:srgbClr val="4C1D95"/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 rot="16200000">
            <a:off x="9098280" y="58338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900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 rot="16200000">
            <a:off x="9308592" y="521208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#4C1D95</a:t>
            </a:r>
            <a:endParaRPr lang="en-US" sz="690" dirty="0"/>
          </a:p>
        </p:txBody>
      </p:sp>
      <p:sp>
        <p:nvSpPr>
          <p:cNvPr id="39" name="Shape 37"/>
          <p:cNvSpPr/>
          <p:nvPr/>
        </p:nvSpPr>
        <p:spPr>
          <a:xfrm>
            <a:off x="9555480" y="1097280"/>
            <a:ext cx="576072" cy="5303520"/>
          </a:xfrm>
          <a:prstGeom prst="rect">
            <a:avLst/>
          </a:prstGeom>
          <a:solidFill>
            <a:srgbClr val="2E1065"/>
          </a:solidFill>
          <a:ln w="12700">
            <a:solidFill>
              <a:srgbClr val="2E1065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 rot="16200000">
            <a:off x="9701784" y="58338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950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 rot="16200000">
            <a:off x="9912096" y="521208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#2E1065</a:t>
            </a:r>
            <a:endParaRPr lang="en-US" sz="69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56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352544" y="256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Tokens UI · Light vs. Dark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9674352" y="25603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20624" y="9326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Tokens semánticos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20624" y="142646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componentes consumen tokens semánticos, nunca HEX directos. De este modo el cambio de tema no altera la lógica del producto.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420624" y="2029968"/>
            <a:ext cx="9857232" cy="347472"/>
          </a:xfrm>
          <a:prstGeom prst="roundRect">
            <a:avLst>
              <a:gd name="adj" fmla="val 18421"/>
            </a:avLst>
          </a:prstGeom>
          <a:solidFill>
            <a:srgbClr val="17111F"/>
          </a:solidFill>
          <a:ln w="12700">
            <a:solidFill>
              <a:srgbClr val="17111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125980"/>
            <a:ext cx="2514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spc="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</a:t>
            </a:r>
            <a:endParaRPr lang="en-US" sz="820" dirty="0"/>
          </a:p>
        </p:txBody>
      </p:sp>
      <p:sp>
        <p:nvSpPr>
          <p:cNvPr id="9" name="Text 7"/>
          <p:cNvSpPr txBox="1"/>
          <p:nvPr/>
        </p:nvSpPr>
        <p:spPr>
          <a:xfrm>
            <a:off x="3419856" y="2125980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spc="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</a:t>
            </a:r>
            <a:endParaRPr lang="en-US" sz="82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2125980"/>
            <a:ext cx="1691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spc="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</a:t>
            </a:r>
            <a:endParaRPr lang="en-US" sz="820" dirty="0"/>
          </a:p>
        </p:txBody>
      </p:sp>
      <p:sp>
        <p:nvSpPr>
          <p:cNvPr id="11" name="Text 9"/>
          <p:cNvSpPr txBox="1"/>
          <p:nvPr/>
        </p:nvSpPr>
        <p:spPr>
          <a:xfrm>
            <a:off x="7461504" y="2125980"/>
            <a:ext cx="28072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spc="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FUNCIÓN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420624" y="2414016"/>
            <a:ext cx="9857232" cy="338328"/>
          </a:xfrm>
          <a:prstGeom prst="rect">
            <a:avLst/>
          </a:prstGeom>
          <a:solidFill>
            <a:srgbClr val="F8F6FA"/>
          </a:solidFill>
          <a:ln w="12700">
            <a:solidFill>
              <a:srgbClr val="F8F6FA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49631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color.bg.canvas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3364992" y="24688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8F7FC"/>
          </a:solidFill>
          <a:ln w="12700">
            <a:solidFill>
              <a:srgbClr val="F8F7FC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94176" y="249631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#F8F7FC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5385816" y="246888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E0B14"/>
          </a:solidFill>
          <a:ln w="12700">
            <a:solidFill>
              <a:srgbClr val="0E0B14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15000" y="249631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#0E0B14</a:t>
            </a:r>
            <a:endParaRPr lang="en-US" sz="840" dirty="0"/>
          </a:p>
        </p:txBody>
      </p:sp>
      <p:sp>
        <p:nvSpPr>
          <p:cNvPr id="18" name="Text 16"/>
          <p:cNvSpPr txBox="1"/>
          <p:nvPr/>
        </p:nvSpPr>
        <p:spPr>
          <a:xfrm>
            <a:off x="7461504" y="249631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Fondo global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285292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color.surface.default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3364992" y="282549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0160">
            <a:solidFill>
              <a:srgbClr val="D8D2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694176" y="285292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#FFFFFF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5385816" y="282549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5111E"/>
          </a:solidFill>
          <a:ln w="12700">
            <a:solidFill>
              <a:srgbClr val="15111E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715000" y="285292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#15111E</a:t>
            </a:r>
            <a:endParaRPr lang="en-US" sz="840" dirty="0"/>
          </a:p>
        </p:txBody>
      </p:sp>
      <p:sp>
        <p:nvSpPr>
          <p:cNvPr id="24" name="Text 22"/>
          <p:cNvSpPr txBox="1"/>
          <p:nvPr/>
        </p:nvSpPr>
        <p:spPr>
          <a:xfrm>
            <a:off x="7461504" y="28529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Tarjetas y paneles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20624" y="3127248"/>
            <a:ext cx="9857232" cy="338328"/>
          </a:xfrm>
          <a:prstGeom prst="rect">
            <a:avLst/>
          </a:prstGeom>
          <a:solidFill>
            <a:srgbClr val="F8F6FA"/>
          </a:solidFill>
          <a:ln w="12700">
            <a:solidFill>
              <a:srgbClr val="F8F6FA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20954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color.surface.raised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3364992" y="318211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0160">
            <a:solidFill>
              <a:srgbClr val="D8D2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694176" y="320954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#FFFFFF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5385816" y="318211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D1728"/>
          </a:solidFill>
          <a:ln w="12700">
            <a:solidFill>
              <a:srgbClr val="1D1728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715000" y="320954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#1D1728</a:t>
            </a:r>
            <a:endParaRPr lang="en-US" sz="840" dirty="0"/>
          </a:p>
        </p:txBody>
      </p:sp>
      <p:sp>
        <p:nvSpPr>
          <p:cNvPr id="31" name="Text 29"/>
          <p:cNvSpPr txBox="1"/>
          <p:nvPr/>
        </p:nvSpPr>
        <p:spPr>
          <a:xfrm>
            <a:off x="7461504" y="320954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Popovers y elevación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356616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color.surface.hover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3364992" y="353872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3F0F7"/>
          </a:solidFill>
          <a:ln w="12700">
            <a:solidFill>
              <a:srgbClr val="F3F0F7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694176" y="356616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#F3F0F7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5385816" y="353872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51E32"/>
          </a:solidFill>
          <a:ln w="12700">
            <a:solidFill>
              <a:srgbClr val="251E32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715000" y="356616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#251E32</a:t>
            </a:r>
            <a:endParaRPr lang="en-US" sz="840" dirty="0"/>
          </a:p>
        </p:txBody>
      </p:sp>
      <p:sp>
        <p:nvSpPr>
          <p:cNvPr id="37" name="Text 35"/>
          <p:cNvSpPr txBox="1"/>
          <p:nvPr/>
        </p:nvSpPr>
        <p:spPr>
          <a:xfrm>
            <a:off x="7461504" y="35661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Hover/selección suave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20624" y="3840480"/>
            <a:ext cx="9857232" cy="338328"/>
          </a:xfrm>
          <a:prstGeom prst="rect">
            <a:avLst/>
          </a:prstGeom>
          <a:solidFill>
            <a:srgbClr val="F8F6FA"/>
          </a:solidFill>
          <a:ln w="12700">
            <a:solidFill>
              <a:srgbClr val="F8F6FA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8640" y="392277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color.border.default</a:t>
            </a:r>
            <a:endParaRPr lang="en-US" sz="860" dirty="0"/>
          </a:p>
        </p:txBody>
      </p:sp>
      <p:sp>
        <p:nvSpPr>
          <p:cNvPr id="40" name="Shape 38"/>
          <p:cNvSpPr/>
          <p:nvPr/>
        </p:nvSpPr>
        <p:spPr>
          <a:xfrm>
            <a:off x="3364992" y="389534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D8D2E0"/>
          </a:solidFill>
          <a:ln w="12700">
            <a:solidFill>
              <a:srgbClr val="D8D2E0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694176" y="3922776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#D8D2E0</a:t>
            </a:r>
            <a:endParaRPr lang="en-US" sz="840" dirty="0"/>
          </a:p>
        </p:txBody>
      </p:sp>
      <p:sp>
        <p:nvSpPr>
          <p:cNvPr id="42" name="Shape 40"/>
          <p:cNvSpPr/>
          <p:nvPr/>
        </p:nvSpPr>
        <p:spPr>
          <a:xfrm>
            <a:off x="5385816" y="389534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40364D"/>
          </a:solidFill>
          <a:ln w="12700">
            <a:solidFill>
              <a:srgbClr val="40364D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715000" y="3922776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#40364D</a:t>
            </a:r>
            <a:endParaRPr lang="en-US" sz="840" dirty="0"/>
          </a:p>
        </p:txBody>
      </p:sp>
      <p:sp>
        <p:nvSpPr>
          <p:cNvPr id="44" name="Text 42"/>
          <p:cNvSpPr txBox="1"/>
          <p:nvPr/>
        </p:nvSpPr>
        <p:spPr>
          <a:xfrm>
            <a:off x="7461504" y="392277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Controles y cards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427939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color.divider.subtle</a:t>
            </a:r>
            <a:endParaRPr lang="en-US" sz="860" dirty="0"/>
          </a:p>
        </p:txBody>
      </p:sp>
      <p:sp>
        <p:nvSpPr>
          <p:cNvPr id="46" name="Shape 44"/>
          <p:cNvSpPr/>
          <p:nvPr/>
        </p:nvSpPr>
        <p:spPr>
          <a:xfrm>
            <a:off x="3364992" y="425196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ECE8F0"/>
          </a:solidFill>
          <a:ln w="12700">
            <a:solidFill>
              <a:srgbClr val="ECE8F0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694176" y="427939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#ECE8F0</a:t>
            </a:r>
            <a:endParaRPr lang="en-US" sz="840" dirty="0"/>
          </a:p>
        </p:txBody>
      </p:sp>
      <p:sp>
        <p:nvSpPr>
          <p:cNvPr id="48" name="Shape 46"/>
          <p:cNvSpPr/>
          <p:nvPr/>
        </p:nvSpPr>
        <p:spPr>
          <a:xfrm>
            <a:off x="5385816" y="425196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2B2435"/>
          </a:solidFill>
          <a:ln w="12700">
            <a:solidFill>
              <a:srgbClr val="2B2435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715000" y="427939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#2B2435</a:t>
            </a:r>
            <a:endParaRPr lang="en-US" sz="840" dirty="0"/>
          </a:p>
        </p:txBody>
      </p:sp>
      <p:sp>
        <p:nvSpPr>
          <p:cNvPr id="50" name="Text 48"/>
          <p:cNvSpPr txBox="1"/>
          <p:nvPr/>
        </p:nvSpPr>
        <p:spPr>
          <a:xfrm>
            <a:off x="7461504" y="42793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Separación interna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20624" y="4553712"/>
            <a:ext cx="9857232" cy="338328"/>
          </a:xfrm>
          <a:prstGeom prst="rect">
            <a:avLst/>
          </a:prstGeom>
          <a:solidFill>
            <a:srgbClr val="F8F6FA"/>
          </a:solidFill>
          <a:ln w="12700">
            <a:solidFill>
              <a:srgbClr val="F8F6FA">
                <a:alpha val="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48640" y="463600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color.text.primary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3364992" y="460857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B1724"/>
          </a:solidFill>
          <a:ln w="12700">
            <a:solidFill>
              <a:srgbClr val="1B1724">
                <a:alpha val="0"/>
              </a:srgbClr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694176" y="463600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#1B1724</a:t>
            </a:r>
            <a:endParaRPr lang="en-US" sz="840" dirty="0"/>
          </a:p>
        </p:txBody>
      </p:sp>
      <p:sp>
        <p:nvSpPr>
          <p:cNvPr id="55" name="Shape 53"/>
          <p:cNvSpPr/>
          <p:nvPr/>
        </p:nvSpPr>
        <p:spPr>
          <a:xfrm>
            <a:off x="5385816" y="460857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7F5FA"/>
          </a:solidFill>
          <a:ln w="12700">
            <a:solidFill>
              <a:srgbClr val="F7F5FA">
                <a:alpha val="0"/>
              </a:srgbClr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715000" y="463600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#F7F5FA</a:t>
            </a:r>
            <a:endParaRPr lang="en-US" sz="840" dirty="0"/>
          </a:p>
        </p:txBody>
      </p:sp>
      <p:sp>
        <p:nvSpPr>
          <p:cNvPr id="57" name="Text 55"/>
          <p:cNvSpPr txBox="1"/>
          <p:nvPr/>
        </p:nvSpPr>
        <p:spPr>
          <a:xfrm>
            <a:off x="7461504" y="463600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Títulos y datos</a:t>
            </a:r>
            <a:endParaRPr lang="en-US" sz="850" dirty="0"/>
          </a:p>
        </p:txBody>
      </p:sp>
      <p:sp>
        <p:nvSpPr>
          <p:cNvPr id="58" name="Text 56"/>
          <p:cNvSpPr txBox="1"/>
          <p:nvPr/>
        </p:nvSpPr>
        <p:spPr>
          <a:xfrm>
            <a:off x="548640" y="499262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color.text.secondary</a:t>
            </a:r>
            <a:endParaRPr lang="en-US" sz="860" dirty="0"/>
          </a:p>
        </p:txBody>
      </p:sp>
      <p:sp>
        <p:nvSpPr>
          <p:cNvPr id="59" name="Shape 57"/>
          <p:cNvSpPr/>
          <p:nvPr/>
        </p:nvSpPr>
        <p:spPr>
          <a:xfrm>
            <a:off x="3364992" y="496519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625C6F"/>
          </a:solidFill>
          <a:ln w="12700">
            <a:solidFill>
              <a:srgbClr val="625C6F">
                <a:alpha val="0"/>
              </a:srgbClr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3694176" y="499262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#625C6F</a:t>
            </a:r>
            <a:endParaRPr lang="en-US" sz="840" dirty="0"/>
          </a:p>
        </p:txBody>
      </p:sp>
      <p:sp>
        <p:nvSpPr>
          <p:cNvPr id="61" name="Shape 59"/>
          <p:cNvSpPr/>
          <p:nvPr/>
        </p:nvSpPr>
        <p:spPr>
          <a:xfrm>
            <a:off x="5385816" y="496519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C1BACB"/>
          </a:solidFill>
          <a:ln w="12700">
            <a:solidFill>
              <a:srgbClr val="C1BACB">
                <a:alpha val="0"/>
              </a:srgbClr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715000" y="4992624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#C1BACB</a:t>
            </a:r>
            <a:endParaRPr lang="en-US" sz="840" dirty="0"/>
          </a:p>
        </p:txBody>
      </p:sp>
      <p:sp>
        <p:nvSpPr>
          <p:cNvPr id="63" name="Text 61"/>
          <p:cNvSpPr txBox="1"/>
          <p:nvPr/>
        </p:nvSpPr>
        <p:spPr>
          <a:xfrm>
            <a:off x="7461504" y="499262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Apoyo y metadatos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20624" y="5266944"/>
            <a:ext cx="9857232" cy="338328"/>
          </a:xfrm>
          <a:prstGeom prst="rect">
            <a:avLst/>
          </a:prstGeom>
          <a:solidFill>
            <a:srgbClr val="F8F6FA"/>
          </a:solidFill>
          <a:ln w="12700">
            <a:solidFill>
              <a:srgbClr val="F8F6FA">
                <a:alpha val="0"/>
              </a:srgbClr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48640" y="534924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color.text.muted</a:t>
            </a:r>
            <a:endParaRPr lang="en-US" sz="860" dirty="0"/>
          </a:p>
        </p:txBody>
      </p:sp>
      <p:sp>
        <p:nvSpPr>
          <p:cNvPr id="66" name="Shape 64"/>
          <p:cNvSpPr/>
          <p:nvPr/>
        </p:nvSpPr>
        <p:spPr>
          <a:xfrm>
            <a:off x="3364992" y="532180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827A8E"/>
          </a:solidFill>
          <a:ln w="12700">
            <a:solidFill>
              <a:srgbClr val="827A8E">
                <a:alpha val="0"/>
              </a:srgbClr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3694176" y="534924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#827A8E</a:t>
            </a:r>
            <a:endParaRPr lang="en-US" sz="840" dirty="0"/>
          </a:p>
        </p:txBody>
      </p:sp>
      <p:sp>
        <p:nvSpPr>
          <p:cNvPr id="68" name="Shape 66"/>
          <p:cNvSpPr/>
          <p:nvPr/>
        </p:nvSpPr>
        <p:spPr>
          <a:xfrm>
            <a:off x="5385816" y="532180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928A9F"/>
          </a:solidFill>
          <a:ln w="12700">
            <a:solidFill>
              <a:srgbClr val="928A9F">
                <a:alpha val="0"/>
              </a:srgbClr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715000" y="5349240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#928A9F</a:t>
            </a:r>
            <a:endParaRPr lang="en-US" sz="840" dirty="0"/>
          </a:p>
        </p:txBody>
      </p:sp>
      <p:sp>
        <p:nvSpPr>
          <p:cNvPr id="70" name="Text 68"/>
          <p:cNvSpPr txBox="1"/>
          <p:nvPr/>
        </p:nvSpPr>
        <p:spPr>
          <a:xfrm>
            <a:off x="7461504" y="53492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Placeholder y ayuda</a:t>
            </a:r>
            <a:endParaRPr lang="en-US" sz="850" dirty="0"/>
          </a:p>
        </p:txBody>
      </p:sp>
      <p:sp>
        <p:nvSpPr>
          <p:cNvPr id="71" name="Text 69"/>
          <p:cNvSpPr txBox="1"/>
          <p:nvPr/>
        </p:nvSpPr>
        <p:spPr>
          <a:xfrm>
            <a:off x="548640" y="570585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color.focus.ring</a:t>
            </a:r>
            <a:endParaRPr lang="en-US" sz="860" dirty="0"/>
          </a:p>
        </p:txBody>
      </p:sp>
      <p:sp>
        <p:nvSpPr>
          <p:cNvPr id="72" name="Shape 70"/>
          <p:cNvSpPr/>
          <p:nvPr/>
        </p:nvSpPr>
        <p:spPr>
          <a:xfrm>
            <a:off x="3364992" y="567842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3694176" y="5705856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#7C3AED</a:t>
            </a:r>
            <a:endParaRPr lang="en-US" sz="840" dirty="0"/>
          </a:p>
        </p:txBody>
      </p:sp>
      <p:sp>
        <p:nvSpPr>
          <p:cNvPr id="74" name="Shape 72"/>
          <p:cNvSpPr/>
          <p:nvPr/>
        </p:nvSpPr>
        <p:spPr>
          <a:xfrm>
            <a:off x="5385816" y="5678424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715000" y="5705856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#A78BFA</a:t>
            </a:r>
            <a:endParaRPr lang="en-US" sz="840" dirty="0"/>
          </a:p>
        </p:txBody>
      </p:sp>
      <p:sp>
        <p:nvSpPr>
          <p:cNvPr id="76" name="Text 74"/>
          <p:cNvSpPr txBox="1"/>
          <p:nvPr/>
        </p:nvSpPr>
        <p:spPr>
          <a:xfrm>
            <a:off x="7461504" y="570585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de teclado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20624" y="5980176"/>
            <a:ext cx="9857232" cy="338328"/>
          </a:xfrm>
          <a:prstGeom prst="rect">
            <a:avLst/>
          </a:prstGeom>
          <a:solidFill>
            <a:srgbClr val="F8F6FA"/>
          </a:solidFill>
          <a:ln w="12700">
            <a:solidFill>
              <a:srgbClr val="F8F6FA">
                <a:alpha val="0"/>
              </a:srgbClr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548640" y="606247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color.action.primary.bg</a:t>
            </a:r>
            <a:endParaRPr lang="en-US" sz="860" dirty="0"/>
          </a:p>
        </p:txBody>
      </p:sp>
      <p:sp>
        <p:nvSpPr>
          <p:cNvPr id="79" name="Shape 77"/>
          <p:cNvSpPr/>
          <p:nvPr/>
        </p:nvSpPr>
        <p:spPr>
          <a:xfrm>
            <a:off x="3364992" y="603504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3694176" y="606247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#6D28D9</a:t>
            </a:r>
            <a:endParaRPr lang="en-US" sz="840" dirty="0"/>
          </a:p>
        </p:txBody>
      </p:sp>
      <p:sp>
        <p:nvSpPr>
          <p:cNvPr id="81" name="Shape 79"/>
          <p:cNvSpPr/>
          <p:nvPr/>
        </p:nvSpPr>
        <p:spPr>
          <a:xfrm>
            <a:off x="5385816" y="603504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5715000" y="6062472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#A78BFA</a:t>
            </a:r>
            <a:endParaRPr lang="en-US" sz="840" dirty="0"/>
          </a:p>
        </p:txBody>
      </p:sp>
      <p:sp>
        <p:nvSpPr>
          <p:cNvPr id="83" name="Text 81"/>
          <p:cNvSpPr txBox="1"/>
          <p:nvPr/>
        </p:nvSpPr>
        <p:spPr>
          <a:xfrm>
            <a:off x="7461504" y="60624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CTA principal</a:t>
            </a:r>
            <a:endParaRPr lang="en-US" sz="850" dirty="0"/>
          </a:p>
        </p:txBody>
      </p:sp>
      <p:sp>
        <p:nvSpPr>
          <p:cNvPr id="84" name="Text 82"/>
          <p:cNvSpPr txBox="1"/>
          <p:nvPr/>
        </p:nvSpPr>
        <p:spPr>
          <a:xfrm>
            <a:off x="548640" y="6419088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color.action.primary.fg</a:t>
            </a:r>
            <a:endParaRPr lang="en-US" sz="860" dirty="0"/>
          </a:p>
        </p:txBody>
      </p:sp>
      <p:sp>
        <p:nvSpPr>
          <p:cNvPr id="85" name="Shape 83"/>
          <p:cNvSpPr/>
          <p:nvPr/>
        </p:nvSpPr>
        <p:spPr>
          <a:xfrm>
            <a:off x="3364992" y="639165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0160">
            <a:solidFill>
              <a:srgbClr val="D8D2E0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3694176" y="641908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#FFFFFF</a:t>
            </a:r>
            <a:endParaRPr lang="en-US" sz="840" dirty="0"/>
          </a:p>
        </p:txBody>
      </p:sp>
      <p:sp>
        <p:nvSpPr>
          <p:cNvPr id="87" name="Shape 85"/>
          <p:cNvSpPr/>
          <p:nvPr/>
        </p:nvSpPr>
        <p:spPr>
          <a:xfrm>
            <a:off x="5385816" y="639165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120B20"/>
          </a:solidFill>
          <a:ln w="12700">
            <a:solidFill>
              <a:srgbClr val="120B20">
                <a:alpha val="0"/>
              </a:srgbClr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5715000" y="641908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#120B20</a:t>
            </a:r>
            <a:endParaRPr lang="en-US" sz="840" dirty="0"/>
          </a:p>
        </p:txBody>
      </p:sp>
      <p:sp>
        <p:nvSpPr>
          <p:cNvPr id="89" name="Text 87"/>
          <p:cNvSpPr txBox="1"/>
          <p:nvPr/>
        </p:nvSpPr>
        <p:spPr>
          <a:xfrm>
            <a:off x="7461504" y="641908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Texto sobre CTA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56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352544" y="256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Colores semánticos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9674352" y="25603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20624" y="9326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Estados del sistema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20624" y="142646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estado dispone de foreground, background y borde. El color siempre se acompaña de texto e icono; nunca es el único portador de significado.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420624" y="2176272"/>
            <a:ext cx="9857232" cy="384048"/>
          </a:xfrm>
          <a:prstGeom prst="roundRect">
            <a:avLst>
              <a:gd name="adj" fmla="val 16667"/>
            </a:avLst>
          </a:prstGeom>
          <a:solidFill>
            <a:srgbClr val="17111F"/>
          </a:solidFill>
          <a:ln w="12700">
            <a:solidFill>
              <a:srgbClr val="17111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28142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spc="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ESTADO</a:t>
            </a:r>
            <a:endParaRPr lang="en-US" sz="82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228142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spc="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</a:t>
            </a:r>
            <a:endParaRPr lang="en-US" sz="820" dirty="0"/>
          </a:p>
        </p:txBody>
      </p:sp>
      <p:sp>
        <p:nvSpPr>
          <p:cNvPr id="10" name="Text 8"/>
          <p:cNvSpPr txBox="1"/>
          <p:nvPr/>
        </p:nvSpPr>
        <p:spPr>
          <a:xfrm>
            <a:off x="5148072" y="2281428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spc="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</a:t>
            </a:r>
            <a:endParaRPr lang="en-US" sz="820" dirty="0"/>
          </a:p>
        </p:txBody>
      </p:sp>
      <p:sp>
        <p:nvSpPr>
          <p:cNvPr id="11" name="Text 9"/>
          <p:cNvSpPr txBox="1"/>
          <p:nvPr/>
        </p:nvSpPr>
        <p:spPr>
          <a:xfrm>
            <a:off x="8211312" y="228142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spc="8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</a:t>
            </a:r>
            <a:endParaRPr lang="en-US" sz="82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9626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Éxito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1929384" y="2651760"/>
            <a:ext cx="2880360" cy="713232"/>
          </a:xfrm>
          <a:prstGeom prst="roundRect">
            <a:avLst>
              <a:gd name="adj" fmla="val 15385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39696" y="2971800"/>
            <a:ext cx="68580" cy="68580"/>
          </a:xfrm>
          <a:prstGeom prst="ellipse">
            <a:avLst/>
          </a:prstGeom>
          <a:solidFill>
            <a:srgbClr val="166534"/>
          </a:solidFill>
          <a:ln w="12700">
            <a:solidFill>
              <a:srgbClr val="166534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340864" y="28529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Operación completada</a:t>
            </a:r>
            <a:endParaRPr lang="en-US" sz="930" dirty="0"/>
          </a:p>
        </p:txBody>
      </p:sp>
      <p:sp>
        <p:nvSpPr>
          <p:cNvPr id="16" name="Text 14"/>
          <p:cNvSpPr txBox="1"/>
          <p:nvPr/>
        </p:nvSpPr>
        <p:spPr>
          <a:xfrm>
            <a:off x="2340864" y="306324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#166534 / #F0FDF4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5020056" y="2651760"/>
            <a:ext cx="2880360" cy="713232"/>
          </a:xfrm>
          <a:prstGeom prst="roundRect">
            <a:avLst>
              <a:gd name="adj" fmla="val 15385"/>
            </a:avLst>
          </a:prstGeom>
          <a:solidFill>
            <a:srgbClr val="0E1A12"/>
          </a:solidFill>
          <a:ln w="12700">
            <a:solidFill>
              <a:srgbClr val="0E1A1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30368" y="2971800"/>
            <a:ext cx="68580" cy="68580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31536" y="28529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Operación completada</a:t>
            </a:r>
            <a:endParaRPr lang="en-US" sz="930" dirty="0"/>
          </a:p>
        </p:txBody>
      </p:sp>
      <p:sp>
        <p:nvSpPr>
          <p:cNvPr id="20" name="Text 18"/>
          <p:cNvSpPr txBox="1"/>
          <p:nvPr/>
        </p:nvSpPr>
        <p:spPr>
          <a:xfrm>
            <a:off x="5431536" y="306324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#4ADE80 / #0E1A12</a:t>
            </a:r>
            <a:endParaRPr lang="en-US" sz="740" dirty="0"/>
          </a:p>
        </p:txBody>
      </p:sp>
      <p:sp>
        <p:nvSpPr>
          <p:cNvPr id="21" name="Text 19"/>
          <p:cNvSpPr txBox="1"/>
          <p:nvPr/>
        </p:nvSpPr>
        <p:spPr>
          <a:xfrm>
            <a:off x="8238744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Confirmación y crecimiento</a:t>
            </a:r>
            <a:endParaRPr lang="en-US" sz="92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95020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Advertencia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1929384" y="3639312"/>
            <a:ext cx="2880360" cy="713232"/>
          </a:xfrm>
          <a:prstGeom prst="roundRect">
            <a:avLst>
              <a:gd name="adj" fmla="val 15385"/>
            </a:avLst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39696" y="3959352"/>
            <a:ext cx="68580" cy="6858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340864" y="3840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Revisión necesaria</a:t>
            </a:r>
            <a:endParaRPr lang="en-US" sz="930" dirty="0"/>
          </a:p>
        </p:txBody>
      </p:sp>
      <p:sp>
        <p:nvSpPr>
          <p:cNvPr id="26" name="Text 24"/>
          <p:cNvSpPr txBox="1"/>
          <p:nvPr/>
        </p:nvSpPr>
        <p:spPr>
          <a:xfrm>
            <a:off x="2340864" y="405079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#92400E / #FFFBEB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5020056" y="3639312"/>
            <a:ext cx="2880360" cy="713232"/>
          </a:xfrm>
          <a:prstGeom prst="roundRect">
            <a:avLst>
              <a:gd name="adj" fmla="val 15385"/>
            </a:avLst>
          </a:prstGeom>
          <a:solidFill>
            <a:srgbClr val="2A1B00"/>
          </a:solidFill>
          <a:ln w="12700">
            <a:solidFill>
              <a:srgbClr val="2A1B00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30368" y="3959352"/>
            <a:ext cx="68580" cy="685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31536" y="38404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Revisión necesaria</a:t>
            </a:r>
            <a:endParaRPr lang="en-US" sz="930" dirty="0"/>
          </a:p>
        </p:txBody>
      </p:sp>
      <p:sp>
        <p:nvSpPr>
          <p:cNvPr id="30" name="Text 28"/>
          <p:cNvSpPr txBox="1"/>
          <p:nvPr/>
        </p:nvSpPr>
        <p:spPr>
          <a:xfrm>
            <a:off x="5431536" y="405079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#FBBF24 / #2A1B00</a:t>
            </a:r>
            <a:endParaRPr lang="en-US" sz="740" dirty="0"/>
          </a:p>
        </p:txBody>
      </p:sp>
      <p:sp>
        <p:nvSpPr>
          <p:cNvPr id="31" name="Text 29"/>
          <p:cNvSpPr txBox="1"/>
          <p:nvPr/>
        </p:nvSpPr>
        <p:spPr>
          <a:xfrm>
            <a:off x="8238744" y="3867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Riesgo reversible</a:t>
            </a:r>
            <a:endParaRPr lang="en-US" sz="92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937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</a:t>
            </a:r>
            <a:endParaRPr lang="en-US" sz="1030" dirty="0"/>
          </a:p>
        </p:txBody>
      </p:sp>
      <p:sp>
        <p:nvSpPr>
          <p:cNvPr id="33" name="Shape 31"/>
          <p:cNvSpPr/>
          <p:nvPr/>
        </p:nvSpPr>
        <p:spPr>
          <a:xfrm>
            <a:off x="1929384" y="4626864"/>
            <a:ext cx="2880360" cy="713232"/>
          </a:xfrm>
          <a:prstGeom prst="roundRect">
            <a:avLst>
              <a:gd name="adj" fmla="val 15385"/>
            </a:avLst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39696" y="4946904"/>
            <a:ext cx="68580" cy="6858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340864" y="48280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se pudo guardar</a:t>
            </a:r>
            <a:endParaRPr lang="en-US" sz="930" dirty="0"/>
          </a:p>
        </p:txBody>
      </p:sp>
      <p:sp>
        <p:nvSpPr>
          <p:cNvPr id="36" name="Text 34"/>
          <p:cNvSpPr txBox="1"/>
          <p:nvPr/>
        </p:nvSpPr>
        <p:spPr>
          <a:xfrm>
            <a:off x="2340864" y="5038344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#991B1B / #FEF2F2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5020056" y="4626864"/>
            <a:ext cx="2880360" cy="713232"/>
          </a:xfrm>
          <a:prstGeom prst="roundRect">
            <a:avLst>
              <a:gd name="adj" fmla="val 15385"/>
            </a:avLst>
          </a:prstGeom>
          <a:solidFill>
            <a:srgbClr val="2A0F12"/>
          </a:solidFill>
          <a:ln w="12700">
            <a:solidFill>
              <a:srgbClr val="2A0F12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30368" y="4946904"/>
            <a:ext cx="68580" cy="6858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431536" y="48280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se pudo guardar</a:t>
            </a:r>
            <a:endParaRPr lang="en-US" sz="930" dirty="0"/>
          </a:p>
        </p:txBody>
      </p:sp>
      <p:sp>
        <p:nvSpPr>
          <p:cNvPr id="40" name="Text 38"/>
          <p:cNvSpPr txBox="1"/>
          <p:nvPr/>
        </p:nvSpPr>
        <p:spPr>
          <a:xfrm>
            <a:off x="5431536" y="5038344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#F87171 / #2A0F12</a:t>
            </a:r>
            <a:endParaRPr lang="en-US" sz="740" dirty="0"/>
          </a:p>
        </p:txBody>
      </p:sp>
      <p:sp>
        <p:nvSpPr>
          <p:cNvPr id="41" name="Text 39"/>
          <p:cNvSpPr txBox="1"/>
          <p:nvPr/>
        </p:nvSpPr>
        <p:spPr>
          <a:xfrm>
            <a:off x="8238744" y="48554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Bloqueo o dato inválido</a:t>
            </a:r>
            <a:endParaRPr lang="en-US" sz="92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59253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Información</a:t>
            </a:r>
            <a:endParaRPr lang="en-US" sz="1030" dirty="0"/>
          </a:p>
        </p:txBody>
      </p:sp>
      <p:sp>
        <p:nvSpPr>
          <p:cNvPr id="43" name="Shape 41"/>
          <p:cNvSpPr/>
          <p:nvPr/>
        </p:nvSpPr>
        <p:spPr>
          <a:xfrm>
            <a:off x="1929384" y="5614416"/>
            <a:ext cx="2880360" cy="713232"/>
          </a:xfrm>
          <a:prstGeom prst="roundRect">
            <a:avLst>
              <a:gd name="adj" fmla="val 15385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139696" y="5934456"/>
            <a:ext cx="68580" cy="6858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340864" y="58155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Nueva automatización</a:t>
            </a:r>
            <a:endParaRPr lang="en-US" sz="930" dirty="0"/>
          </a:p>
        </p:txBody>
      </p:sp>
      <p:sp>
        <p:nvSpPr>
          <p:cNvPr id="46" name="Text 44"/>
          <p:cNvSpPr txBox="1"/>
          <p:nvPr/>
        </p:nvSpPr>
        <p:spPr>
          <a:xfrm>
            <a:off x="2340864" y="6025896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#1E40AF / #EFF6FF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5020056" y="5614416"/>
            <a:ext cx="2880360" cy="713232"/>
          </a:xfrm>
          <a:prstGeom prst="roundRect">
            <a:avLst>
              <a:gd name="adj" fmla="val 15385"/>
            </a:avLst>
          </a:prstGeom>
          <a:solidFill>
            <a:srgbClr val="0B1A2C"/>
          </a:solidFill>
          <a:ln w="12700">
            <a:solidFill>
              <a:srgbClr val="0B1A2C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30368" y="5934456"/>
            <a:ext cx="68580" cy="6858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431536" y="58155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Nueva automatización</a:t>
            </a:r>
            <a:endParaRPr lang="en-US" sz="930" dirty="0"/>
          </a:p>
        </p:txBody>
      </p:sp>
      <p:sp>
        <p:nvSpPr>
          <p:cNvPr id="50" name="Text 48"/>
          <p:cNvSpPr txBox="1"/>
          <p:nvPr/>
        </p:nvSpPr>
        <p:spPr>
          <a:xfrm>
            <a:off x="5431536" y="6025896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#60A5FA / #0B1A2C</a:t>
            </a:r>
            <a:endParaRPr lang="en-US" sz="740" dirty="0"/>
          </a:p>
        </p:txBody>
      </p:sp>
      <p:sp>
        <p:nvSpPr>
          <p:cNvPr id="51" name="Text 49"/>
          <p:cNvSpPr txBox="1"/>
          <p:nvPr/>
        </p:nvSpPr>
        <p:spPr>
          <a:xfrm>
            <a:off x="8238744" y="58430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Ayuda y contexto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56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352544" y="256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Accesibilidad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9674352" y="25603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4048" y="1115568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Contraste</a:t>
            </a:r>
            <a:endParaRPr lang="en-US" sz="29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accesible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384048" y="2231136"/>
            <a:ext cx="27889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pares principales se han seleccionado para alcanzar WCAG AA y, en los casos críticos, AAA.</a:t>
            </a:r>
            <a:endParaRPr lang="en-US" sz="1240" dirty="0"/>
          </a:p>
          <a:p>
            <a:pPr algn="l" indent="0" marL="0">
              <a:lnSpc>
                <a:spcPct val="105000"/>
              </a:lnSpc>
              <a:buNone/>
            </a:pPr>
            <a:endParaRPr lang="en-US" sz="124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Reglas: texto normal ≥ 4,5:1; texto grande y componentes UI ≥ 3:1; AAA normal ≥ 7:1.</a:t>
            </a:r>
            <a:endParaRPr lang="en-US" sz="1240" dirty="0"/>
          </a:p>
        </p:txBody>
      </p:sp>
      <p:sp>
        <p:nvSpPr>
          <p:cNvPr id="7" name="Shape 5"/>
          <p:cNvSpPr/>
          <p:nvPr/>
        </p:nvSpPr>
        <p:spPr>
          <a:xfrm>
            <a:off x="3730752" y="1115568"/>
            <a:ext cx="2880360" cy="1325880"/>
          </a:xfrm>
          <a:prstGeom prst="roundRect">
            <a:avLst>
              <a:gd name="adj" fmla="val 10345"/>
            </a:avLst>
          </a:prstGeom>
          <a:solidFill>
            <a:srgbClr val="F8F7FC"/>
          </a:solidFill>
          <a:ln w="12700">
            <a:solidFill>
              <a:srgbClr val="F8F7FC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95344" y="1280160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Texto principal · Light</a:t>
            </a:r>
            <a:endParaRPr lang="en-US" sz="910" dirty="0"/>
          </a:p>
        </p:txBody>
      </p:sp>
      <p:sp>
        <p:nvSpPr>
          <p:cNvPr id="9" name="Text 7"/>
          <p:cNvSpPr txBox="1"/>
          <p:nvPr/>
        </p:nvSpPr>
        <p:spPr>
          <a:xfrm>
            <a:off x="3895344" y="1563624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Aa 123</a:t>
            </a:r>
            <a:endParaRPr lang="en-US" sz="2300" dirty="0"/>
          </a:p>
        </p:txBody>
      </p:sp>
      <p:sp>
        <p:nvSpPr>
          <p:cNvPr id="10" name="Text 8"/>
          <p:cNvSpPr txBox="1"/>
          <p:nvPr/>
        </p:nvSpPr>
        <p:spPr>
          <a:xfrm>
            <a:off x="3895344" y="21214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16,5:1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5952744" y="2066544"/>
            <a:ext cx="475488" cy="219456"/>
          </a:xfrm>
          <a:prstGeom prst="roundRect">
            <a:avLst>
              <a:gd name="adj" fmla="val 62500"/>
            </a:avLst>
          </a:prstGeom>
          <a:solidFill>
            <a:srgbClr val="F0FDF4"/>
          </a:solidFill>
          <a:ln w="10160">
            <a:solidFill>
              <a:srgbClr val="F0FD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25896" y="2080260"/>
            <a:ext cx="329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AAA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6839712" y="1115568"/>
            <a:ext cx="2880360" cy="132588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0160">
            <a:solidFill>
              <a:srgbClr val="D8D2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04304" y="1280160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Texto secundario · Light</a:t>
            </a:r>
            <a:endParaRPr lang="en-US" sz="910" dirty="0"/>
          </a:p>
        </p:txBody>
      </p:sp>
      <p:sp>
        <p:nvSpPr>
          <p:cNvPr id="15" name="Text 13"/>
          <p:cNvSpPr txBox="1"/>
          <p:nvPr/>
        </p:nvSpPr>
        <p:spPr>
          <a:xfrm>
            <a:off x="7004304" y="1563624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625C6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Aa 123</a:t>
            </a:r>
            <a:endParaRPr lang="en-US" sz="2300" dirty="0"/>
          </a:p>
        </p:txBody>
      </p:sp>
      <p:sp>
        <p:nvSpPr>
          <p:cNvPr id="16" name="Text 14"/>
          <p:cNvSpPr txBox="1"/>
          <p:nvPr/>
        </p:nvSpPr>
        <p:spPr>
          <a:xfrm>
            <a:off x="7004304" y="212140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6,4:1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9061704" y="2066544"/>
            <a:ext cx="475488" cy="219456"/>
          </a:xfrm>
          <a:prstGeom prst="roundRect">
            <a:avLst>
              <a:gd name="adj" fmla="val 62500"/>
            </a:avLst>
          </a:prstGeom>
          <a:solidFill>
            <a:srgbClr val="EFF6FF"/>
          </a:solidFill>
          <a:ln w="10160">
            <a:solidFill>
              <a:srgbClr val="EFF6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34856" y="2080260"/>
            <a:ext cx="329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3730752" y="2697480"/>
            <a:ext cx="2880360" cy="1325880"/>
          </a:xfrm>
          <a:prstGeom prst="roundRect">
            <a:avLst>
              <a:gd name="adj" fmla="val 10345"/>
            </a:avLst>
          </a:prstGeom>
          <a:solidFill>
            <a:srgbClr val="0E0B14"/>
          </a:solidFill>
          <a:ln w="12700">
            <a:solidFill>
              <a:srgbClr val="0E0B14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95344" y="2862072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F7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Texto principal · Dark</a:t>
            </a:r>
            <a:endParaRPr lang="en-US" sz="910" dirty="0"/>
          </a:p>
        </p:txBody>
      </p:sp>
      <p:sp>
        <p:nvSpPr>
          <p:cNvPr id="21" name="Text 19"/>
          <p:cNvSpPr txBox="1"/>
          <p:nvPr/>
        </p:nvSpPr>
        <p:spPr>
          <a:xfrm>
            <a:off x="3895344" y="3145536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F7F5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Aa 123</a:t>
            </a:r>
            <a:endParaRPr lang="en-US" sz="2300" dirty="0"/>
          </a:p>
        </p:txBody>
      </p:sp>
      <p:sp>
        <p:nvSpPr>
          <p:cNvPr id="22" name="Text 20"/>
          <p:cNvSpPr txBox="1"/>
          <p:nvPr/>
        </p:nvSpPr>
        <p:spPr>
          <a:xfrm>
            <a:off x="3895344" y="37033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F7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18,0:1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5952744" y="3648456"/>
            <a:ext cx="475488" cy="219456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025896" y="3662172"/>
            <a:ext cx="329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AAA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6839712" y="2697480"/>
            <a:ext cx="2880360" cy="1325880"/>
          </a:xfrm>
          <a:prstGeom prst="roundRect">
            <a:avLst>
              <a:gd name="adj" fmla="val 10345"/>
            </a:avLst>
          </a:prstGeom>
          <a:solidFill>
            <a:srgbClr val="15111E"/>
          </a:solidFill>
          <a:ln w="12700">
            <a:solidFill>
              <a:srgbClr val="15111E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04304" y="2862072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Texto secundario · Dark</a:t>
            </a:r>
            <a:endParaRPr lang="en-US" sz="910" dirty="0"/>
          </a:p>
        </p:txBody>
      </p:sp>
      <p:sp>
        <p:nvSpPr>
          <p:cNvPr id="27" name="Text 25"/>
          <p:cNvSpPr txBox="1"/>
          <p:nvPr/>
        </p:nvSpPr>
        <p:spPr>
          <a:xfrm>
            <a:off x="7004304" y="3145536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C1BACB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Aa 123</a:t>
            </a:r>
            <a:endParaRPr lang="en-US" sz="2300" dirty="0"/>
          </a:p>
        </p:txBody>
      </p:sp>
      <p:sp>
        <p:nvSpPr>
          <p:cNvPr id="28" name="Text 26"/>
          <p:cNvSpPr txBox="1"/>
          <p:nvPr/>
        </p:nvSpPr>
        <p:spPr>
          <a:xfrm>
            <a:off x="7004304" y="37033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9,9:1</a:t>
            </a:r>
            <a:endParaRPr lang="en-US" sz="910" dirty="0"/>
          </a:p>
        </p:txBody>
      </p:sp>
      <p:sp>
        <p:nvSpPr>
          <p:cNvPr id="29" name="Shape 27"/>
          <p:cNvSpPr/>
          <p:nvPr/>
        </p:nvSpPr>
        <p:spPr>
          <a:xfrm>
            <a:off x="9061704" y="3648456"/>
            <a:ext cx="475488" cy="219456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34856" y="3662172"/>
            <a:ext cx="329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AAA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3730752" y="4279392"/>
            <a:ext cx="2880360" cy="1325880"/>
          </a:xfrm>
          <a:prstGeom prst="roundRect">
            <a:avLst>
              <a:gd name="adj" fmla="val 10345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895344" y="4443984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CTA principal · Light</a:t>
            </a:r>
            <a:endParaRPr lang="en-US" sz="910" dirty="0"/>
          </a:p>
        </p:txBody>
      </p:sp>
      <p:sp>
        <p:nvSpPr>
          <p:cNvPr id="33" name="Text 31"/>
          <p:cNvSpPr txBox="1"/>
          <p:nvPr/>
        </p:nvSpPr>
        <p:spPr>
          <a:xfrm>
            <a:off x="3895344" y="4727448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Aa 123</a:t>
            </a:r>
            <a:endParaRPr lang="en-US" sz="2300" dirty="0"/>
          </a:p>
        </p:txBody>
      </p:sp>
      <p:sp>
        <p:nvSpPr>
          <p:cNvPr id="34" name="Text 32"/>
          <p:cNvSpPr txBox="1"/>
          <p:nvPr/>
        </p:nvSpPr>
        <p:spPr>
          <a:xfrm>
            <a:off x="3895344" y="528523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7,1:1</a:t>
            </a:r>
            <a:endParaRPr lang="en-US" sz="910" dirty="0"/>
          </a:p>
        </p:txBody>
      </p:sp>
      <p:sp>
        <p:nvSpPr>
          <p:cNvPr id="35" name="Shape 33"/>
          <p:cNvSpPr/>
          <p:nvPr/>
        </p:nvSpPr>
        <p:spPr>
          <a:xfrm>
            <a:off x="5952744" y="5230368"/>
            <a:ext cx="475488" cy="219456"/>
          </a:xfrm>
          <a:prstGeom prst="roundRect">
            <a:avLst>
              <a:gd name="adj" fmla="val 62500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025896" y="5244084"/>
            <a:ext cx="329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AAA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6839712" y="4279392"/>
            <a:ext cx="2880360" cy="1325880"/>
          </a:xfrm>
          <a:prstGeom prst="roundRect">
            <a:avLst>
              <a:gd name="adj" fmla="val 10345"/>
            </a:avLst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004304" y="4443984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120B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CTA principal · Dark</a:t>
            </a:r>
            <a:endParaRPr lang="en-US" sz="910" dirty="0"/>
          </a:p>
        </p:txBody>
      </p:sp>
      <p:sp>
        <p:nvSpPr>
          <p:cNvPr id="39" name="Text 37"/>
          <p:cNvSpPr txBox="1"/>
          <p:nvPr/>
        </p:nvSpPr>
        <p:spPr>
          <a:xfrm>
            <a:off x="7004304" y="4727448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120B20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Aa 123</a:t>
            </a:r>
            <a:endParaRPr lang="en-US" sz="2300" dirty="0"/>
          </a:p>
        </p:txBody>
      </p:sp>
      <p:sp>
        <p:nvSpPr>
          <p:cNvPr id="40" name="Text 38"/>
          <p:cNvSpPr txBox="1"/>
          <p:nvPr/>
        </p:nvSpPr>
        <p:spPr>
          <a:xfrm>
            <a:off x="7004304" y="528523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120B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7,1:1</a:t>
            </a:r>
            <a:endParaRPr lang="en-US" sz="910" dirty="0"/>
          </a:p>
        </p:txBody>
      </p:sp>
      <p:sp>
        <p:nvSpPr>
          <p:cNvPr id="41" name="Shape 39"/>
          <p:cNvSpPr/>
          <p:nvPr/>
        </p:nvSpPr>
        <p:spPr>
          <a:xfrm>
            <a:off x="9061704" y="5230368"/>
            <a:ext cx="475488" cy="219456"/>
          </a:xfrm>
          <a:prstGeom prst="roundRect">
            <a:avLst>
              <a:gd name="adj" fmla="val 62500"/>
            </a:avLst>
          </a:prstGeom>
          <a:solidFill>
            <a:srgbClr val="F0FDF4"/>
          </a:solidFill>
          <a:ln w="10160">
            <a:solidFill>
              <a:srgbClr val="F0FDF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134856" y="5244084"/>
            <a:ext cx="3291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AAA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3730752" y="5879592"/>
            <a:ext cx="5989320" cy="603504"/>
          </a:xfrm>
          <a:prstGeom prst="roundRect">
            <a:avLst>
              <a:gd name="adj" fmla="val 18182"/>
            </a:avLst>
          </a:prstGeom>
          <a:solidFill>
            <a:srgbClr val="F5F3FF"/>
          </a:solidFill>
          <a:ln w="10160">
            <a:solidFill>
              <a:srgbClr val="EDE9F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931920" y="60624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visible</a:t>
            </a:r>
            <a:endParaRPr lang="en-US" sz="920" dirty="0"/>
          </a:p>
        </p:txBody>
      </p:sp>
      <p:sp>
        <p:nvSpPr>
          <p:cNvPr id="45" name="Text 43"/>
          <p:cNvSpPr txBox="1"/>
          <p:nvPr/>
        </p:nvSpPr>
        <p:spPr>
          <a:xfrm>
            <a:off x="5010912" y="6053328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Anillo 2 px + offset 2 px · nunca depender únicamente del cambio de color.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56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352544" y="256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Tipografía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9674352" y="25603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4048" y="1115568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Tipografías</a:t>
            </a:r>
            <a:endParaRPr lang="en-US" sz="29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corporativas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384048" y="2231136"/>
            <a:ext cx="2788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Display aporta personalidad y una jerarquía nítida en titulares. Inter optimiza lectura, tablas y cifras en interfaces densas.</a:t>
            </a:r>
            <a:endParaRPr lang="en-US" sz="1240" dirty="0"/>
          </a:p>
          <a:p>
            <a:pPr algn="l" indent="0" marL="0">
              <a:lnSpc>
                <a:spcPct val="105000"/>
              </a:lnSpc>
              <a:buNone/>
            </a:pPr>
            <a:endParaRPr lang="en-US" sz="124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Ambas son open-source, están ampliamente disponibles y comparten métricas compatibles con entornos web.</a:t>
            </a:r>
            <a:endParaRPr lang="en-US" sz="1240" dirty="0"/>
          </a:p>
        </p:txBody>
      </p:sp>
      <p:sp>
        <p:nvSpPr>
          <p:cNvPr id="7" name="Text 5"/>
          <p:cNvSpPr txBox="1"/>
          <p:nvPr/>
        </p:nvSpPr>
        <p:spPr>
          <a:xfrm>
            <a:off x="3794760" y="105156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Inter Display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794760" y="1645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Títulos, métricas y mensajes clave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794760" y="22402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28346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Cuerpo, navegación, tablas y formularios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794760" y="3584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Regular</a:t>
            </a:r>
            <a:endParaRPr lang="en-US" sz="84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3895344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Aa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3794760" y="44439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3584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84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3895344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Aa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5303520" y="44439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3584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Semibold</a:t>
            </a:r>
            <a:endParaRPr lang="en-US" sz="840" dirty="0"/>
          </a:p>
        </p:txBody>
      </p:sp>
      <p:sp>
        <p:nvSpPr>
          <p:cNvPr id="18" name="Text 16"/>
          <p:cNvSpPr txBox="1"/>
          <p:nvPr/>
        </p:nvSpPr>
        <p:spPr>
          <a:xfrm>
            <a:off x="6812280" y="3895344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Aa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6812280" y="44439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600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5844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Bold</a:t>
            </a:r>
            <a:endParaRPr lang="en-US" sz="84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3895344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Aa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44439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700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3794760" y="4956048"/>
            <a:ext cx="58064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40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ABCDEFGH IJKLMN ÑOPQRSTUVWXYZ</a:t>
            </a:r>
            <a:endParaRPr lang="en-US" sz="114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40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abcdefgh ijklmn ñopqrstuvwxyz</a:t>
            </a:r>
            <a:endParaRPr lang="en-US" sz="114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40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0123456789  €  %  +  −  /  :  ;</a:t>
            </a:r>
            <a:endParaRPr lang="en-US" sz="1140" dirty="0"/>
          </a:p>
        </p:txBody>
      </p:sp>
      <p:sp>
        <p:nvSpPr>
          <p:cNvPr id="24" name="Text 22"/>
          <p:cNvSpPr txBox="1"/>
          <p:nvPr/>
        </p:nvSpPr>
        <p:spPr>
          <a:xfrm>
            <a:off x="3794760" y="625449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Numerales tabulares para columnas financieras y KPIs.</a:t>
            </a:r>
            <a:endParaRPr lang="en-US" sz="9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56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352544" y="256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Jerarquía tipográfica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9674352" y="25603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4048" y="1115568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Escala</a:t>
            </a:r>
            <a:endParaRPr lang="en-US" sz="29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tipográfica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384048" y="2231136"/>
            <a:ext cx="2788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escala corta reduce variaciones innecesarias. Se recomienda usar tamaño y peso antes que color para construir jerarquía.</a:t>
            </a:r>
            <a:endParaRPr lang="en-US" sz="124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02412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H1 / Página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02412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 / 40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5577840" y="10241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700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95097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Panel de ventas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657600" y="1554480"/>
            <a:ext cx="6199632" cy="0"/>
          </a:xfrm>
          <a:prstGeom prst="line">
            <a:avLst/>
          </a:prstGeom>
          <a:noFill/>
          <a:ln w="6985">
            <a:solidFill>
              <a:srgbClr val="ECE8F0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3657600" y="177393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H2 / Sección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177393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/ 32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177393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700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170078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Oportunidades abiertas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3657600" y="2304288"/>
            <a:ext cx="6199632" cy="0"/>
          </a:xfrm>
          <a:prstGeom prst="line">
            <a:avLst/>
          </a:prstGeom>
          <a:noFill/>
          <a:ln w="6985">
            <a:solidFill>
              <a:srgbClr val="ECE8F0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 txBox="1"/>
          <p:nvPr/>
        </p:nvSpPr>
        <p:spPr>
          <a:xfrm>
            <a:off x="3657600" y="2523744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H3 / Componente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252374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26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5577840" y="252374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600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24505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Actividad reciente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0" y="3054096"/>
            <a:ext cx="6199632" cy="0"/>
          </a:xfrm>
          <a:prstGeom prst="line">
            <a:avLst/>
          </a:prstGeom>
          <a:noFill/>
          <a:ln w="6985">
            <a:solidFill>
              <a:srgbClr val="ECE8F0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 txBox="1"/>
          <p:nvPr/>
        </p:nvSpPr>
        <p:spPr>
          <a:xfrm>
            <a:off x="3657600" y="32735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L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4800600" y="327355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24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5577840" y="32735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3200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Resumen del rendimiento comercial.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657600" y="3803904"/>
            <a:ext cx="6199632" cy="0"/>
          </a:xfrm>
          <a:prstGeom prst="line">
            <a:avLst/>
          </a:prstGeom>
          <a:noFill/>
          <a:ln w="6985">
            <a:solidFill>
              <a:srgbClr val="ECE8F0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 txBox="1"/>
          <p:nvPr/>
        </p:nvSpPr>
        <p:spPr>
          <a:xfrm>
            <a:off x="3657600" y="402336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4800600" y="40233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20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5577840" y="402336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39502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Digital · propuesta enviada.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0" y="4553712"/>
            <a:ext cx="6199632" cy="0"/>
          </a:xfrm>
          <a:prstGeom prst="line">
            <a:avLst/>
          </a:prstGeom>
          <a:noFill/>
          <a:ln w="6985">
            <a:solidFill>
              <a:srgbClr val="ECE8F0"/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 txBox="1"/>
          <p:nvPr/>
        </p:nvSpPr>
        <p:spPr>
          <a:xfrm>
            <a:off x="3657600" y="477316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 / UI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4800600" y="477316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18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5577840" y="477316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6263640" y="470001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28.400 €   ·   24 días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0" y="5303520"/>
            <a:ext cx="6199632" cy="0"/>
          </a:xfrm>
          <a:prstGeom prst="line">
            <a:avLst/>
          </a:prstGeom>
          <a:noFill/>
          <a:ln w="6985">
            <a:solidFill>
              <a:srgbClr val="ECE8F0"/>
            </a:solidFill>
            <a:prstDash val="solid"/>
            <a:headEnd type="none"/>
            <a:tailEnd type="none"/>
          </a:ln>
        </p:spPr>
      </p:sp>
      <p:sp>
        <p:nvSpPr>
          <p:cNvPr id="37" name="Text 35"/>
          <p:cNvSpPr txBox="1"/>
          <p:nvPr/>
        </p:nvSpPr>
        <p:spPr>
          <a:xfrm>
            <a:off x="3657600" y="5522976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Caption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800600" y="552297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16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5577840" y="55229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500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6263640" y="544982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Actualizado hace 18 min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657600" y="6382512"/>
            <a:ext cx="6199632" cy="50292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 w="8890">
            <a:solidFill>
              <a:srgbClr val="EDE9F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822192" y="654710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Regla:</a:t>
            </a:r>
            <a:endParaRPr lang="en-US" sz="870" dirty="0"/>
          </a:p>
        </p:txBody>
      </p:sp>
      <p:sp>
        <p:nvSpPr>
          <p:cNvPr id="43" name="Text 41"/>
          <p:cNvSpPr txBox="1"/>
          <p:nvPr/>
        </p:nvSpPr>
        <p:spPr>
          <a:xfrm>
            <a:off x="4343400" y="6537960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máximo 2 pesos y 3 tamaños dominantes por vista.</a:t>
            </a:r>
            <a:endParaRPr lang="en-US" sz="8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56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352544" y="256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9674352" y="25603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4048" y="1115568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Grid, espacio</a:t>
            </a:r>
            <a:endParaRPr lang="en-US" sz="29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y elevación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384048" y="2231136"/>
            <a:ext cx="2788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sistema utiliza una unidad base de 4 px. La densidad se controla con presets, no con ajustes arbitrarios por pantalla.</a:t>
            </a:r>
            <a:endParaRPr lang="en-US" sz="1240" dirty="0"/>
          </a:p>
        </p:txBody>
      </p:sp>
      <p:sp>
        <p:nvSpPr>
          <p:cNvPr id="7" name="Shape 5"/>
          <p:cNvSpPr/>
          <p:nvPr/>
        </p:nvSpPr>
        <p:spPr>
          <a:xfrm>
            <a:off x="3703320" y="1078992"/>
            <a:ext cx="297180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0160">
            <a:solidFill>
              <a:srgbClr val="EC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886200" y="12618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10" kern="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 RESPONSIVE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3886200" y="15910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12 columnas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886200" y="2011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 · gutter 24/32 px</a:t>
            </a:r>
            <a:endParaRPr lang="en-US" sz="96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Tablet 8 · Mobile 4</a:t>
            </a:r>
            <a:endParaRPr lang="en-US" sz="96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Ancho de contenido máx. 1440 px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3931920" y="2761488"/>
            <a:ext cx="118872" cy="146304"/>
          </a:xfrm>
          <a:prstGeom prst="roundRect">
            <a:avLst>
              <a:gd name="adj" fmla="val 23077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28516" y="2761488"/>
            <a:ext cx="118872" cy="146304"/>
          </a:xfrm>
          <a:prstGeom prst="roundRect">
            <a:avLst>
              <a:gd name="adj" fmla="val 23077"/>
            </a:avLst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25112" y="2761488"/>
            <a:ext cx="118872" cy="146304"/>
          </a:xfrm>
          <a:prstGeom prst="roundRect">
            <a:avLst>
              <a:gd name="adj" fmla="val 23077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1708" y="2761488"/>
            <a:ext cx="118872" cy="146304"/>
          </a:xfrm>
          <a:prstGeom prst="roundRect">
            <a:avLst>
              <a:gd name="adj" fmla="val 23077"/>
            </a:avLst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18304" y="2761488"/>
            <a:ext cx="118872" cy="146304"/>
          </a:xfrm>
          <a:prstGeom prst="roundRect">
            <a:avLst>
              <a:gd name="adj" fmla="val 23077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14900" y="2761488"/>
            <a:ext cx="118872" cy="146304"/>
          </a:xfrm>
          <a:prstGeom prst="roundRect">
            <a:avLst>
              <a:gd name="adj" fmla="val 23077"/>
            </a:avLst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11496" y="2761488"/>
            <a:ext cx="118872" cy="146304"/>
          </a:xfrm>
          <a:prstGeom prst="roundRect">
            <a:avLst>
              <a:gd name="adj" fmla="val 23077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8092" y="2761488"/>
            <a:ext cx="118872" cy="146304"/>
          </a:xfrm>
          <a:prstGeom prst="roundRect">
            <a:avLst>
              <a:gd name="adj" fmla="val 23077"/>
            </a:avLst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04688" y="2761488"/>
            <a:ext cx="118872" cy="146304"/>
          </a:xfrm>
          <a:prstGeom prst="roundRect">
            <a:avLst>
              <a:gd name="adj" fmla="val 23077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01284" y="2761488"/>
            <a:ext cx="118872" cy="146304"/>
          </a:xfrm>
          <a:prstGeom prst="roundRect">
            <a:avLst>
              <a:gd name="adj" fmla="val 23077"/>
            </a:avLst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97880" y="2761488"/>
            <a:ext cx="118872" cy="146304"/>
          </a:xfrm>
          <a:prstGeom prst="roundRect">
            <a:avLst>
              <a:gd name="adj" fmla="val 23077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94476" y="2761488"/>
            <a:ext cx="118872" cy="146304"/>
          </a:xfrm>
          <a:prstGeom prst="roundRect">
            <a:avLst>
              <a:gd name="adj" fmla="val 23077"/>
            </a:avLst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03720" y="1078992"/>
            <a:ext cx="301752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0160">
            <a:solidFill>
              <a:srgbClr val="EC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86600" y="126187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10" kern="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 DE ESPACIO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114032" y="1664208"/>
            <a:ext cx="130629" cy="91440"/>
          </a:xfrm>
          <a:prstGeom prst="roundRect">
            <a:avLst>
              <a:gd name="adj" fmla="val 30000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418320" y="1645920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7114032" y="1828800"/>
            <a:ext cx="261257" cy="91440"/>
          </a:xfrm>
          <a:prstGeom prst="roundRect">
            <a:avLst>
              <a:gd name="adj" fmla="val 30000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418320" y="181051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7114032" y="1993392"/>
            <a:ext cx="391886" cy="91440"/>
          </a:xfrm>
          <a:prstGeom prst="roundRect">
            <a:avLst>
              <a:gd name="adj" fmla="val 30000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418320" y="1975104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7114032" y="2157984"/>
            <a:ext cx="522514" cy="91440"/>
          </a:xfrm>
          <a:prstGeom prst="roundRect">
            <a:avLst>
              <a:gd name="adj" fmla="val 30000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418320" y="2139696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114032" y="2322576"/>
            <a:ext cx="783771" cy="91440"/>
          </a:xfrm>
          <a:prstGeom prst="roundRect">
            <a:avLst>
              <a:gd name="adj" fmla="val 30000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418320" y="2304288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114032" y="2487168"/>
            <a:ext cx="1045029" cy="91440"/>
          </a:xfrm>
          <a:prstGeom prst="roundRect">
            <a:avLst>
              <a:gd name="adj" fmla="val 30000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418320" y="2468880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114032" y="2651760"/>
            <a:ext cx="1567543" cy="91440"/>
          </a:xfrm>
          <a:prstGeom prst="roundRect">
            <a:avLst>
              <a:gd name="adj" fmla="val 30000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418320" y="2633472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114032" y="2816352"/>
            <a:ext cx="2090057" cy="91440"/>
          </a:xfrm>
          <a:prstGeom prst="roundRect">
            <a:avLst>
              <a:gd name="adj" fmla="val 30000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418320" y="2798064"/>
            <a:ext cx="2926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64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703320" y="3337560"/>
            <a:ext cx="297180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0160">
            <a:solidFill>
              <a:srgbClr val="ECE8F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886200" y="35204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10" kern="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RADIOS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913632" y="4005072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F5F3FF"/>
          </a:solidFill>
          <a:ln w="8890">
            <a:solidFill>
              <a:srgbClr val="DDD6F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913632" y="443484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780" dirty="0"/>
          </a:p>
        </p:txBody>
      </p:sp>
      <p:sp>
        <p:nvSpPr>
          <p:cNvPr id="45" name="Text 43"/>
          <p:cNvSpPr txBox="1"/>
          <p:nvPr/>
        </p:nvSpPr>
        <p:spPr>
          <a:xfrm>
            <a:off x="3840480" y="47183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chips</a:t>
            </a:r>
            <a:endParaRPr lang="en-US" sz="680" dirty="0"/>
          </a:p>
        </p:txBody>
      </p:sp>
      <p:sp>
        <p:nvSpPr>
          <p:cNvPr id="46" name="Shape 44"/>
          <p:cNvSpPr/>
          <p:nvPr/>
        </p:nvSpPr>
        <p:spPr>
          <a:xfrm>
            <a:off x="4407408" y="4005072"/>
            <a:ext cx="347472" cy="347472"/>
          </a:xfrm>
          <a:prstGeom prst="roundRect">
            <a:avLst>
              <a:gd name="adj" fmla="val 26316"/>
            </a:avLst>
          </a:prstGeom>
          <a:solidFill>
            <a:srgbClr val="F5F3FF"/>
          </a:solidFill>
          <a:ln w="8890">
            <a:solidFill>
              <a:srgbClr val="DDD6F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407408" y="443484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780" dirty="0"/>
          </a:p>
        </p:txBody>
      </p:sp>
      <p:sp>
        <p:nvSpPr>
          <p:cNvPr id="48" name="Text 46"/>
          <p:cNvSpPr txBox="1"/>
          <p:nvPr/>
        </p:nvSpPr>
        <p:spPr>
          <a:xfrm>
            <a:off x="4334256" y="47183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controles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4901184" y="4005072"/>
            <a:ext cx="347472" cy="347472"/>
          </a:xfrm>
          <a:prstGeom prst="roundRect">
            <a:avLst>
              <a:gd name="adj" fmla="val 31579"/>
            </a:avLst>
          </a:prstGeom>
          <a:solidFill>
            <a:srgbClr val="F5F3FF"/>
          </a:solidFill>
          <a:ln w="8890">
            <a:solidFill>
              <a:srgbClr val="DDD6FE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901184" y="443484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780" dirty="0"/>
          </a:p>
        </p:txBody>
      </p:sp>
      <p:sp>
        <p:nvSpPr>
          <p:cNvPr id="51" name="Text 49"/>
          <p:cNvSpPr txBox="1"/>
          <p:nvPr/>
        </p:nvSpPr>
        <p:spPr>
          <a:xfrm>
            <a:off x="4828032" y="47183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cards</a:t>
            </a:r>
            <a:endParaRPr lang="en-US" sz="680" dirty="0"/>
          </a:p>
        </p:txBody>
      </p:sp>
      <p:sp>
        <p:nvSpPr>
          <p:cNvPr id="52" name="Shape 50"/>
          <p:cNvSpPr/>
          <p:nvPr/>
        </p:nvSpPr>
        <p:spPr>
          <a:xfrm>
            <a:off x="5394960" y="4005072"/>
            <a:ext cx="347472" cy="347472"/>
          </a:xfrm>
          <a:prstGeom prst="roundRect">
            <a:avLst>
              <a:gd name="adj" fmla="val 42105"/>
            </a:avLst>
          </a:prstGeom>
          <a:solidFill>
            <a:srgbClr val="F5F3FF"/>
          </a:solidFill>
          <a:ln w="8890">
            <a:solidFill>
              <a:srgbClr val="DDD6F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394960" y="443484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780" dirty="0"/>
          </a:p>
        </p:txBody>
      </p:sp>
      <p:sp>
        <p:nvSpPr>
          <p:cNvPr id="54" name="Text 52"/>
          <p:cNvSpPr txBox="1"/>
          <p:nvPr/>
        </p:nvSpPr>
        <p:spPr>
          <a:xfrm>
            <a:off x="5321808" y="47183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modales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5888736" y="4005072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 w="8890">
            <a:solidFill>
              <a:srgbClr val="DDD6FE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888736" y="443484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999</a:t>
            </a:r>
            <a:endParaRPr lang="en-US" sz="780" dirty="0"/>
          </a:p>
        </p:txBody>
      </p:sp>
      <p:sp>
        <p:nvSpPr>
          <p:cNvPr id="57" name="Text 55"/>
          <p:cNvSpPr txBox="1"/>
          <p:nvPr/>
        </p:nvSpPr>
        <p:spPr>
          <a:xfrm>
            <a:off x="5815584" y="47183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pills</a:t>
            </a:r>
            <a:endParaRPr lang="en-US" sz="680" dirty="0"/>
          </a:p>
        </p:txBody>
      </p:sp>
      <p:sp>
        <p:nvSpPr>
          <p:cNvPr id="58" name="Shape 56"/>
          <p:cNvSpPr/>
          <p:nvPr/>
        </p:nvSpPr>
        <p:spPr>
          <a:xfrm>
            <a:off x="6903720" y="3337560"/>
            <a:ext cx="301752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0160">
            <a:solidFill>
              <a:srgbClr val="ECE8F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086600" y="35204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10" kern="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ELEVACIÓN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7132320" y="3977640"/>
            <a:ext cx="71323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0160">
            <a:solidFill>
              <a:srgbClr val="D8D2E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379208" y="42153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8156448" y="3950208"/>
            <a:ext cx="768096" cy="768096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CE8F0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8421624" y="4206240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9253728" y="3913632"/>
            <a:ext cx="832104" cy="832104"/>
          </a:xfrm>
          <a:prstGeom prst="roundRect">
            <a:avLst>
              <a:gd name="adj" fmla="val 13187"/>
            </a:avLst>
          </a:prstGeom>
          <a:solidFill>
            <a:srgbClr val="FFFFFF"/>
          </a:solidFill>
          <a:ln w="3810">
            <a:solidFill>
              <a:srgbClr val="ECE8F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9555480" y="418795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7132320" y="488289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· borde</a:t>
            </a:r>
            <a:endParaRPr lang="en-US" sz="86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0 1 2 / 6%</a:t>
            </a:r>
            <a:endParaRPr lang="en-US" sz="86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0 8 24 / 10%</a:t>
            </a:r>
            <a:endParaRPr lang="en-US" sz="860" dirty="0"/>
          </a:p>
        </p:txBody>
      </p:sp>
      <p:sp>
        <p:nvSpPr>
          <p:cNvPr id="67" name="Shape 65"/>
          <p:cNvSpPr/>
          <p:nvPr/>
        </p:nvSpPr>
        <p:spPr>
          <a:xfrm>
            <a:off x="3703320" y="5669280"/>
            <a:ext cx="6217920" cy="713232"/>
          </a:xfrm>
          <a:prstGeom prst="roundRect">
            <a:avLst>
              <a:gd name="adj" fmla="val 17949"/>
            </a:avLst>
          </a:prstGeom>
          <a:solidFill>
            <a:srgbClr val="2E1065"/>
          </a:solidFill>
          <a:ln w="12700">
            <a:solidFill>
              <a:srgbClr val="2E1065">
                <a:alpha val="0"/>
              </a:srgbClr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3931920" y="59070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Densidad</a:t>
            </a:r>
            <a:endParaRPr lang="en-US" sz="880" dirty="0"/>
          </a:p>
        </p:txBody>
      </p:sp>
      <p:sp>
        <p:nvSpPr>
          <p:cNvPr id="69" name="Text 67"/>
          <p:cNvSpPr txBox="1"/>
          <p:nvPr/>
        </p:nvSpPr>
        <p:spPr>
          <a:xfrm>
            <a:off x="4736592" y="587959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60" b="1" dirty="0">
                <a:solidFill>
                  <a:srgbClr val="FFFF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Compacta 40 px · Estándar 48 px · Touch 56 px</a:t>
            </a:r>
            <a:endParaRPr lang="en-US" sz="13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56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352544" y="256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Componentes · Botones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9674352" y="25603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20624" y="93268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Botones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20624" y="1426464"/>
            <a:ext cx="7040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Altura estándar 40 px · radio 10 px · icono 16–18 px · una sola acción primaria por panel.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889504" y="1901952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</a:t>
            </a:r>
            <a:endParaRPr lang="en-US" sz="860" dirty="0"/>
          </a:p>
        </p:txBody>
      </p:sp>
      <p:sp>
        <p:nvSpPr>
          <p:cNvPr id="8" name="Text 6"/>
          <p:cNvSpPr txBox="1"/>
          <p:nvPr/>
        </p:nvSpPr>
        <p:spPr>
          <a:xfrm>
            <a:off x="4334256" y="1901952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Hover</a:t>
            </a:r>
            <a:endParaRPr lang="en-US" sz="860" dirty="0"/>
          </a:p>
        </p:txBody>
      </p:sp>
      <p:sp>
        <p:nvSpPr>
          <p:cNvPr id="9" name="Text 7"/>
          <p:cNvSpPr txBox="1"/>
          <p:nvPr/>
        </p:nvSpPr>
        <p:spPr>
          <a:xfrm>
            <a:off x="5779008" y="1901952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</a:t>
            </a:r>
            <a:endParaRPr lang="en-US" sz="86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1901952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Disabled</a:t>
            </a:r>
            <a:endParaRPr lang="en-US" sz="86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230428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Primario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9504" y="2212848"/>
            <a:ext cx="1207008" cy="384048"/>
          </a:xfrm>
          <a:prstGeom prst="roundRect">
            <a:avLst>
              <a:gd name="adj" fmla="val 26190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89504" y="2226564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4334256" y="2212848"/>
            <a:ext cx="1207008" cy="384048"/>
          </a:xfrm>
          <a:prstGeom prst="roundRect">
            <a:avLst>
              <a:gd name="adj" fmla="val 26190"/>
            </a:avLst>
          </a:prstGeom>
          <a:solidFill>
            <a:srgbClr val="5B21B6"/>
          </a:solidFill>
          <a:ln w="12700">
            <a:solidFill>
              <a:srgbClr val="5B21B6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34256" y="2226564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5779008" y="2212848"/>
            <a:ext cx="1207008" cy="384048"/>
          </a:xfrm>
          <a:prstGeom prst="roundRect">
            <a:avLst>
              <a:gd name="adj" fmla="val 26190"/>
            </a:avLst>
          </a:prstGeom>
          <a:solidFill>
            <a:srgbClr val="4C1D95"/>
          </a:solidFill>
          <a:ln w="12700">
            <a:solidFill>
              <a:srgbClr val="4C1D95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79008" y="2226564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7223760" y="2212848"/>
            <a:ext cx="1207008" cy="384048"/>
          </a:xfrm>
          <a:prstGeom prst="roundRect">
            <a:avLst>
              <a:gd name="adj" fmla="val 26190"/>
            </a:avLst>
          </a:prstGeom>
          <a:solidFill>
            <a:srgbClr val="E7E3EC"/>
          </a:solidFill>
          <a:ln w="12700">
            <a:solidFill>
              <a:srgbClr val="E7E3EC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2226564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A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</a:t>
            </a:r>
            <a:endParaRPr lang="en-US" sz="1020" dirty="0"/>
          </a:p>
        </p:txBody>
      </p:sp>
      <p:sp>
        <p:nvSpPr>
          <p:cNvPr id="20" name="Text 18"/>
          <p:cNvSpPr txBox="1"/>
          <p:nvPr/>
        </p:nvSpPr>
        <p:spPr>
          <a:xfrm>
            <a:off x="530352" y="287121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Secundario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889504" y="2779776"/>
            <a:ext cx="1207008" cy="384048"/>
          </a:xfrm>
          <a:prstGeom prst="roundRect">
            <a:avLst>
              <a:gd name="adj" fmla="val 26190"/>
            </a:avLst>
          </a:prstGeom>
          <a:solidFill>
            <a:srgbClr val="FFFFFF"/>
          </a:solidFill>
          <a:ln w="12700">
            <a:solidFill>
              <a:srgbClr val="D8D2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89504" y="2793492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4334256" y="2779776"/>
            <a:ext cx="1207008" cy="384048"/>
          </a:xfrm>
          <a:prstGeom prst="roundRect">
            <a:avLst>
              <a:gd name="adj" fmla="val 26190"/>
            </a:avLst>
          </a:prstGeom>
          <a:solidFill>
            <a:srgbClr val="F3F0F8"/>
          </a:solidFill>
          <a:ln w="12700">
            <a:solidFill>
              <a:srgbClr val="D8D2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34256" y="2793492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5779008" y="2779776"/>
            <a:ext cx="1207008" cy="384048"/>
          </a:xfrm>
          <a:prstGeom prst="roundRect">
            <a:avLst>
              <a:gd name="adj" fmla="val 26190"/>
            </a:avLst>
          </a:prstGeom>
          <a:solidFill>
            <a:srgbClr val="E9E4F0"/>
          </a:solidFill>
          <a:ln w="12700">
            <a:solidFill>
              <a:srgbClr val="D8D2E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79008" y="2793492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7223760" y="2779776"/>
            <a:ext cx="1207008" cy="384048"/>
          </a:xfrm>
          <a:prstGeom prst="roundRect">
            <a:avLst>
              <a:gd name="adj" fmla="val 26190"/>
            </a:avLst>
          </a:prstGeom>
          <a:solidFill>
            <a:srgbClr val="F5F3F7"/>
          </a:solidFill>
          <a:ln w="12700">
            <a:solidFill>
              <a:srgbClr val="E6E1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23760" y="2793492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A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</a:t>
            </a:r>
            <a:endParaRPr lang="en-US" sz="1020" dirty="0"/>
          </a:p>
        </p:txBody>
      </p:sp>
      <p:sp>
        <p:nvSpPr>
          <p:cNvPr id="29" name="Text 27"/>
          <p:cNvSpPr txBox="1"/>
          <p:nvPr/>
        </p:nvSpPr>
        <p:spPr>
          <a:xfrm>
            <a:off x="530352" y="343814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Ghost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89504" y="3346704"/>
            <a:ext cx="1207008" cy="384048"/>
          </a:xfrm>
          <a:prstGeom prst="roundRect">
            <a:avLst>
              <a:gd name="adj" fmla="val 2619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89504" y="3360420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4334256" y="3346704"/>
            <a:ext cx="1207008" cy="384048"/>
          </a:xfrm>
          <a:prstGeom prst="roundRect">
            <a:avLst>
              <a:gd name="adj" fmla="val 26190"/>
            </a:avLst>
          </a:prstGeom>
          <a:solidFill>
            <a:srgbClr val="F5F3FF"/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334256" y="3360420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5779008" y="3346704"/>
            <a:ext cx="1207008" cy="384048"/>
          </a:xfrm>
          <a:prstGeom prst="roundRect">
            <a:avLst>
              <a:gd name="adj" fmla="val 26190"/>
            </a:avLst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779008" y="3360420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7223760" y="3346704"/>
            <a:ext cx="1207008" cy="384048"/>
          </a:xfrm>
          <a:prstGeom prst="roundRect">
            <a:avLst>
              <a:gd name="adj" fmla="val 2619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223760" y="3360420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A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</a:t>
            </a:r>
            <a:endParaRPr lang="en-US" sz="1020" dirty="0"/>
          </a:p>
        </p:txBody>
      </p:sp>
      <p:sp>
        <p:nvSpPr>
          <p:cNvPr id="38" name="Text 36"/>
          <p:cNvSpPr txBox="1"/>
          <p:nvPr/>
        </p:nvSpPr>
        <p:spPr>
          <a:xfrm>
            <a:off x="8915400" y="19019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8961120" y="2185416"/>
            <a:ext cx="1133856" cy="438912"/>
          </a:xfrm>
          <a:prstGeom prst="roundRect">
            <a:avLst>
              <a:gd name="adj" fmla="val 27083"/>
            </a:avLst>
          </a:prstGeom>
          <a:solidFill>
            <a:srgbClr val="FBFAFD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997696" y="2212848"/>
            <a:ext cx="1060704" cy="384048"/>
          </a:xfrm>
          <a:prstGeom prst="roundRect">
            <a:avLst>
              <a:gd name="adj" fmla="val 26190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997696" y="2226564"/>
            <a:ext cx="10607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420624" y="4251960"/>
            <a:ext cx="9857232" cy="2194560"/>
          </a:xfrm>
          <a:prstGeom prst="roundRect">
            <a:avLst>
              <a:gd name="adj" fmla="val 6667"/>
            </a:avLst>
          </a:prstGeom>
          <a:solidFill>
            <a:srgbClr val="0E0B14"/>
          </a:solidFill>
          <a:ln w="8890">
            <a:solidFill>
              <a:srgbClr val="40364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0080" y="448970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 mode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2889504" y="4489704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28A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</a:t>
            </a:r>
            <a:endParaRPr lang="en-US" sz="860" dirty="0"/>
          </a:p>
        </p:txBody>
      </p:sp>
      <p:sp>
        <p:nvSpPr>
          <p:cNvPr id="45" name="Text 43"/>
          <p:cNvSpPr txBox="1"/>
          <p:nvPr/>
        </p:nvSpPr>
        <p:spPr>
          <a:xfrm>
            <a:off x="4334256" y="4489704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28A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Hover</a:t>
            </a:r>
            <a:endParaRPr lang="en-US" sz="860" dirty="0"/>
          </a:p>
        </p:txBody>
      </p:sp>
      <p:sp>
        <p:nvSpPr>
          <p:cNvPr id="46" name="Text 44"/>
          <p:cNvSpPr txBox="1"/>
          <p:nvPr/>
        </p:nvSpPr>
        <p:spPr>
          <a:xfrm>
            <a:off x="5779008" y="4489704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28A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</a:t>
            </a:r>
            <a:endParaRPr lang="en-US" sz="860" dirty="0"/>
          </a:p>
        </p:txBody>
      </p:sp>
      <p:sp>
        <p:nvSpPr>
          <p:cNvPr id="47" name="Text 45"/>
          <p:cNvSpPr txBox="1"/>
          <p:nvPr/>
        </p:nvSpPr>
        <p:spPr>
          <a:xfrm>
            <a:off x="7223760" y="4489704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28A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Disabled</a:t>
            </a:r>
            <a:endParaRPr lang="en-US" sz="860" dirty="0"/>
          </a:p>
        </p:txBody>
      </p:sp>
      <p:sp>
        <p:nvSpPr>
          <p:cNvPr id="48" name="Text 46"/>
          <p:cNvSpPr txBox="1"/>
          <p:nvPr/>
        </p:nvSpPr>
        <p:spPr>
          <a:xfrm>
            <a:off x="640080" y="48920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7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Primario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889504" y="4800600"/>
            <a:ext cx="1207008" cy="384048"/>
          </a:xfrm>
          <a:prstGeom prst="roundRect">
            <a:avLst>
              <a:gd name="adj" fmla="val 26190"/>
            </a:avLst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889504" y="4814316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20B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4334256" y="4800600"/>
            <a:ext cx="1207008" cy="384048"/>
          </a:xfrm>
          <a:prstGeom prst="roundRect">
            <a:avLst>
              <a:gd name="adj" fmla="val 26190"/>
            </a:avLst>
          </a:prstGeom>
          <a:solidFill>
            <a:srgbClr val="C4B5FD"/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334256" y="4814316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20B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5779008" y="4800600"/>
            <a:ext cx="1207008" cy="384048"/>
          </a:xfrm>
          <a:prstGeom prst="roundRect">
            <a:avLst>
              <a:gd name="adj" fmla="val 26190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779008" y="4814316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20B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</a:t>
            </a:r>
            <a:endParaRPr lang="en-US" sz="1020" dirty="0"/>
          </a:p>
        </p:txBody>
      </p:sp>
      <p:sp>
        <p:nvSpPr>
          <p:cNvPr id="55" name="Shape 53"/>
          <p:cNvSpPr/>
          <p:nvPr/>
        </p:nvSpPr>
        <p:spPr>
          <a:xfrm>
            <a:off x="7223760" y="4800600"/>
            <a:ext cx="1207008" cy="384048"/>
          </a:xfrm>
          <a:prstGeom prst="roundRect">
            <a:avLst>
              <a:gd name="adj" fmla="val 26190"/>
            </a:avLst>
          </a:prstGeom>
          <a:solidFill>
            <a:srgbClr val="2A2334"/>
          </a:solidFill>
          <a:ln w="12700">
            <a:solidFill>
              <a:srgbClr val="2A2334">
                <a:alpha val="0"/>
              </a:srgbClr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223760" y="4814316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6E66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</a:t>
            </a:r>
            <a:endParaRPr lang="en-US" sz="1020" dirty="0"/>
          </a:p>
        </p:txBody>
      </p:sp>
      <p:sp>
        <p:nvSpPr>
          <p:cNvPr id="57" name="Text 55"/>
          <p:cNvSpPr txBox="1"/>
          <p:nvPr/>
        </p:nvSpPr>
        <p:spPr>
          <a:xfrm>
            <a:off x="640080" y="53675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7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Secundario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889504" y="5276088"/>
            <a:ext cx="1207008" cy="384048"/>
          </a:xfrm>
          <a:prstGeom prst="roundRect">
            <a:avLst>
              <a:gd name="adj" fmla="val 26190"/>
            </a:avLst>
          </a:prstGeom>
          <a:solidFill>
            <a:srgbClr val="15111E"/>
          </a:solidFill>
          <a:ln w="12700">
            <a:solidFill>
              <a:srgbClr val="40364D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2889504" y="5289804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7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</a:t>
            </a:r>
            <a:endParaRPr lang="en-US" sz="1020" dirty="0"/>
          </a:p>
        </p:txBody>
      </p:sp>
      <p:sp>
        <p:nvSpPr>
          <p:cNvPr id="60" name="Shape 58"/>
          <p:cNvSpPr/>
          <p:nvPr/>
        </p:nvSpPr>
        <p:spPr>
          <a:xfrm>
            <a:off x="4334256" y="5276088"/>
            <a:ext cx="1207008" cy="384048"/>
          </a:xfrm>
          <a:prstGeom prst="roundRect">
            <a:avLst>
              <a:gd name="adj" fmla="val 26190"/>
            </a:avLst>
          </a:prstGeom>
          <a:solidFill>
            <a:srgbClr val="251E32"/>
          </a:solidFill>
          <a:ln w="12700">
            <a:solidFill>
              <a:srgbClr val="40364D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334256" y="5289804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7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</a:t>
            </a:r>
            <a:endParaRPr lang="en-US" sz="1020" dirty="0"/>
          </a:p>
        </p:txBody>
      </p:sp>
      <p:sp>
        <p:nvSpPr>
          <p:cNvPr id="62" name="Shape 60"/>
          <p:cNvSpPr/>
          <p:nvPr/>
        </p:nvSpPr>
        <p:spPr>
          <a:xfrm>
            <a:off x="5779008" y="5276088"/>
            <a:ext cx="1207008" cy="384048"/>
          </a:xfrm>
          <a:prstGeom prst="roundRect">
            <a:avLst>
              <a:gd name="adj" fmla="val 26190"/>
            </a:avLst>
          </a:prstGeom>
          <a:solidFill>
            <a:srgbClr val="2F253D"/>
          </a:solidFill>
          <a:ln w="12700">
            <a:solidFill>
              <a:srgbClr val="40364D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779008" y="5289804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7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</a:t>
            </a:r>
            <a:endParaRPr lang="en-US" sz="1020" dirty="0"/>
          </a:p>
        </p:txBody>
      </p:sp>
      <p:sp>
        <p:nvSpPr>
          <p:cNvPr id="64" name="Shape 62"/>
          <p:cNvSpPr/>
          <p:nvPr/>
        </p:nvSpPr>
        <p:spPr>
          <a:xfrm>
            <a:off x="7223760" y="5276088"/>
            <a:ext cx="1207008" cy="384048"/>
          </a:xfrm>
          <a:prstGeom prst="roundRect">
            <a:avLst>
              <a:gd name="adj" fmla="val 26190"/>
            </a:avLst>
          </a:prstGeom>
          <a:solidFill>
            <a:srgbClr val="1A151F"/>
          </a:solidFill>
          <a:ln w="12700">
            <a:solidFill>
              <a:srgbClr val="2C2535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7223760" y="5289804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625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</a:t>
            </a:r>
            <a:endParaRPr lang="en-US" sz="1020" dirty="0"/>
          </a:p>
        </p:txBody>
      </p:sp>
      <p:sp>
        <p:nvSpPr>
          <p:cNvPr id="66" name="Text 64"/>
          <p:cNvSpPr txBox="1"/>
          <p:nvPr/>
        </p:nvSpPr>
        <p:spPr>
          <a:xfrm>
            <a:off x="640080" y="584301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7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Ghost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889504" y="5751576"/>
            <a:ext cx="1207008" cy="384048"/>
          </a:xfrm>
          <a:prstGeom prst="roundRect">
            <a:avLst>
              <a:gd name="adj" fmla="val 26190"/>
            </a:avLst>
          </a:prstGeom>
          <a:solidFill>
            <a:srgbClr val="15111E"/>
          </a:solidFill>
          <a:ln w="12700">
            <a:solidFill>
              <a:srgbClr val="15111E">
                <a:alpha val="0"/>
              </a:srgbClr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2889504" y="5765292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</a:t>
            </a:r>
            <a:endParaRPr lang="en-US" sz="1020" dirty="0"/>
          </a:p>
        </p:txBody>
      </p:sp>
      <p:sp>
        <p:nvSpPr>
          <p:cNvPr id="69" name="Shape 67"/>
          <p:cNvSpPr/>
          <p:nvPr/>
        </p:nvSpPr>
        <p:spPr>
          <a:xfrm>
            <a:off x="4334256" y="5751576"/>
            <a:ext cx="1207008" cy="384048"/>
          </a:xfrm>
          <a:prstGeom prst="roundRect">
            <a:avLst>
              <a:gd name="adj" fmla="val 26190"/>
            </a:avLst>
          </a:prstGeom>
          <a:solidFill>
            <a:srgbClr val="251E32"/>
          </a:solidFill>
          <a:ln w="12700">
            <a:solidFill>
              <a:srgbClr val="251E32">
                <a:alpha val="0"/>
              </a:srgbClr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334256" y="5765292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</a:t>
            </a:r>
            <a:endParaRPr lang="en-US" sz="1020" dirty="0"/>
          </a:p>
        </p:txBody>
      </p:sp>
      <p:sp>
        <p:nvSpPr>
          <p:cNvPr id="71" name="Shape 69"/>
          <p:cNvSpPr/>
          <p:nvPr/>
        </p:nvSpPr>
        <p:spPr>
          <a:xfrm>
            <a:off x="5779008" y="5751576"/>
            <a:ext cx="1207008" cy="384048"/>
          </a:xfrm>
          <a:prstGeom prst="roundRect">
            <a:avLst>
              <a:gd name="adj" fmla="val 26190"/>
            </a:avLst>
          </a:prstGeom>
          <a:solidFill>
            <a:srgbClr val="2F253D"/>
          </a:solidFill>
          <a:ln w="12700">
            <a:solidFill>
              <a:srgbClr val="2F253D">
                <a:alpha val="0"/>
              </a:srgbClr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5779008" y="5765292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</a:t>
            </a:r>
            <a:endParaRPr lang="en-US" sz="1020" dirty="0"/>
          </a:p>
        </p:txBody>
      </p:sp>
      <p:sp>
        <p:nvSpPr>
          <p:cNvPr id="73" name="Shape 71"/>
          <p:cNvSpPr/>
          <p:nvPr/>
        </p:nvSpPr>
        <p:spPr>
          <a:xfrm>
            <a:off x="7223760" y="5751576"/>
            <a:ext cx="1207008" cy="384048"/>
          </a:xfrm>
          <a:prstGeom prst="roundRect">
            <a:avLst>
              <a:gd name="adj" fmla="val 26190"/>
            </a:avLst>
          </a:prstGeom>
          <a:solidFill>
            <a:srgbClr val="15111E"/>
          </a:solidFill>
          <a:ln w="12700">
            <a:solidFill>
              <a:srgbClr val="15111E">
                <a:alpha val="0"/>
              </a:srgbClr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7223760" y="5765292"/>
            <a:ext cx="12070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625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</a:t>
            </a:r>
            <a:endParaRPr lang="en-US" sz="1020" dirty="0"/>
          </a:p>
        </p:txBody>
      </p:sp>
      <p:sp>
        <p:nvSpPr>
          <p:cNvPr id="75" name="Shape 73"/>
          <p:cNvSpPr/>
          <p:nvPr/>
        </p:nvSpPr>
        <p:spPr>
          <a:xfrm>
            <a:off x="8961120" y="4773168"/>
            <a:ext cx="1133856" cy="438912"/>
          </a:xfrm>
          <a:prstGeom prst="roundRect">
            <a:avLst>
              <a:gd name="adj" fmla="val 27083"/>
            </a:avLst>
          </a:prstGeom>
          <a:solidFill>
            <a:srgbClr val="0E0B14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997696" y="4800600"/>
            <a:ext cx="1060704" cy="384048"/>
          </a:xfrm>
          <a:prstGeom prst="roundRect">
            <a:avLst>
              <a:gd name="adj" fmla="val 26190"/>
            </a:avLst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8997696" y="4814316"/>
            <a:ext cx="10607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20B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Acción</a:t>
            </a:r>
            <a:endParaRPr lang="en-US" sz="1020" dirty="0"/>
          </a:p>
        </p:txBody>
      </p:sp>
      <p:sp>
        <p:nvSpPr>
          <p:cNvPr id="78" name="Text 76"/>
          <p:cNvSpPr txBox="1"/>
          <p:nvPr/>
        </p:nvSpPr>
        <p:spPr>
          <a:xfrm>
            <a:off x="640080" y="619963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Foco siempre visible; loading conserva ancho y etiqueta accesible.</a:t>
            </a:r>
            <a:endParaRPr lang="en-US" sz="8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56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352544" y="256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Componentes · Formularios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9674352" y="25603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20624" y="93268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Inputs y controles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20624" y="1426464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Etiqueta persistente, ayuda contextual y validación explícita. El placeholder nunca sustituye al label.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20624" y="188366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10" kern="0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420624" y="221284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Empresa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0624" y="2432304"/>
            <a:ext cx="205740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D8D2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0352" y="2523744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Digital</a:t>
            </a:r>
            <a:endParaRPr lang="en-US" sz="103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221284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97480" y="2432304"/>
            <a:ext cx="205740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07208" y="2523744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hola@acme.com</a:t>
            </a:r>
            <a:endParaRPr lang="en-US" sz="1030" dirty="0"/>
          </a:p>
        </p:txBody>
      </p:sp>
      <p:sp>
        <p:nvSpPr>
          <p:cNvPr id="14" name="Text 12"/>
          <p:cNvSpPr txBox="1"/>
          <p:nvPr/>
        </p:nvSpPr>
        <p:spPr>
          <a:xfrm>
            <a:off x="4974336" y="221284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74336" y="2432304"/>
            <a:ext cx="205740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9050">
            <a:solidFill>
              <a:srgbClr val="991B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84064" y="2523744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12A.300</a:t>
            </a:r>
            <a:endParaRPr lang="en-US" sz="1030" dirty="0"/>
          </a:p>
        </p:txBody>
      </p:sp>
      <p:sp>
        <p:nvSpPr>
          <p:cNvPr id="17" name="Text 15"/>
          <p:cNvSpPr txBox="1"/>
          <p:nvPr/>
        </p:nvSpPr>
        <p:spPr>
          <a:xfrm>
            <a:off x="4974336" y="289864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 un importe válido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7251192" y="221284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A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51192" y="2432304"/>
            <a:ext cx="2057400" cy="420624"/>
          </a:xfrm>
          <a:prstGeom prst="roundRect">
            <a:avLst>
              <a:gd name="adj" fmla="val 21739"/>
            </a:avLst>
          </a:prstGeom>
          <a:solidFill>
            <a:srgbClr val="F5F3F7"/>
          </a:solidFill>
          <a:ln w="12700">
            <a:solidFill>
              <a:srgbClr val="E6E1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60920" y="2523744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AAA3B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NE-2094</a:t>
            </a:r>
            <a:endParaRPr lang="en-US" sz="1030" dirty="0"/>
          </a:p>
        </p:txBody>
      </p:sp>
      <p:sp>
        <p:nvSpPr>
          <p:cNvPr id="21" name="Text 19"/>
          <p:cNvSpPr txBox="1"/>
          <p:nvPr/>
        </p:nvSpPr>
        <p:spPr>
          <a:xfrm>
            <a:off x="420624" y="34290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Checkbox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234440" y="341985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71016" y="3515868"/>
            <a:ext cx="41148" cy="41148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312164" y="3557016"/>
            <a:ext cx="73152" cy="-86868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 txBox="1"/>
          <p:nvPr/>
        </p:nvSpPr>
        <p:spPr>
          <a:xfrm>
            <a:off x="1517904" y="3410712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Activo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2267712" y="3419856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E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551176" y="3410712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Pendiente</a:t>
            </a:r>
            <a:endParaRPr lang="en-US" sz="92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342900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370832" y="3392424"/>
            <a:ext cx="512064" cy="265176"/>
          </a:xfrm>
          <a:prstGeom prst="roundRect">
            <a:avLst>
              <a:gd name="adj" fmla="val 51724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54296" y="342442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10912" y="3410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Automatización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420624" y="4005072"/>
            <a:ext cx="9857232" cy="2423160"/>
          </a:xfrm>
          <a:prstGeom prst="roundRect">
            <a:avLst>
              <a:gd name="adj" fmla="val 6038"/>
            </a:avLst>
          </a:prstGeom>
          <a:solidFill>
            <a:srgbClr val="0E0B14"/>
          </a:solidFill>
          <a:ln w="8890">
            <a:solidFill>
              <a:srgbClr val="40364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426110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10" kern="0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460857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Empresa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40080" y="4828032"/>
            <a:ext cx="2057400" cy="420624"/>
          </a:xfrm>
          <a:prstGeom prst="roundRect">
            <a:avLst>
              <a:gd name="adj" fmla="val 21739"/>
            </a:avLst>
          </a:prstGeom>
          <a:solidFill>
            <a:srgbClr val="15111E"/>
          </a:solidFill>
          <a:ln w="12700">
            <a:solidFill>
              <a:srgbClr val="40364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49808" y="4919472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F7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Digital</a:t>
            </a:r>
            <a:endParaRPr lang="en-US" sz="1030" dirty="0"/>
          </a:p>
        </p:txBody>
      </p:sp>
      <p:sp>
        <p:nvSpPr>
          <p:cNvPr id="37" name="Text 35"/>
          <p:cNvSpPr txBox="1"/>
          <p:nvPr/>
        </p:nvSpPr>
        <p:spPr>
          <a:xfrm>
            <a:off x="2916936" y="460857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916936" y="4828032"/>
            <a:ext cx="2057400" cy="420624"/>
          </a:xfrm>
          <a:prstGeom prst="roundRect">
            <a:avLst>
              <a:gd name="adj" fmla="val 21739"/>
            </a:avLst>
          </a:prstGeom>
          <a:solidFill>
            <a:srgbClr val="15111E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026664" y="4919472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F7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hola@acme.com</a:t>
            </a:r>
            <a:endParaRPr lang="en-US" sz="1030" dirty="0"/>
          </a:p>
        </p:txBody>
      </p:sp>
      <p:sp>
        <p:nvSpPr>
          <p:cNvPr id="40" name="Text 38"/>
          <p:cNvSpPr txBox="1"/>
          <p:nvPr/>
        </p:nvSpPr>
        <p:spPr>
          <a:xfrm>
            <a:off x="5193792" y="460857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193792" y="4828032"/>
            <a:ext cx="2057400" cy="420624"/>
          </a:xfrm>
          <a:prstGeom prst="roundRect">
            <a:avLst>
              <a:gd name="adj" fmla="val 21739"/>
            </a:avLst>
          </a:prstGeom>
          <a:solidFill>
            <a:srgbClr val="15111E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303520" y="4919472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F7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12A.300</a:t>
            </a:r>
            <a:endParaRPr lang="en-US" sz="1030" dirty="0"/>
          </a:p>
        </p:txBody>
      </p:sp>
      <p:sp>
        <p:nvSpPr>
          <p:cNvPr id="43" name="Text 41"/>
          <p:cNvSpPr txBox="1"/>
          <p:nvPr/>
        </p:nvSpPr>
        <p:spPr>
          <a:xfrm>
            <a:off x="5193792" y="529437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 un importe válido</a:t>
            </a:r>
            <a:endParaRPr lang="en-US" sz="850" dirty="0"/>
          </a:p>
        </p:txBody>
      </p:sp>
      <p:sp>
        <p:nvSpPr>
          <p:cNvPr id="44" name="Text 42"/>
          <p:cNvSpPr txBox="1"/>
          <p:nvPr/>
        </p:nvSpPr>
        <p:spPr>
          <a:xfrm>
            <a:off x="7470648" y="460857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625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470648" y="4828032"/>
            <a:ext cx="2057400" cy="420624"/>
          </a:xfrm>
          <a:prstGeom prst="roundRect">
            <a:avLst>
              <a:gd name="adj" fmla="val 21739"/>
            </a:avLst>
          </a:prstGeom>
          <a:solidFill>
            <a:srgbClr val="1A151F"/>
          </a:solidFill>
          <a:ln w="12700">
            <a:solidFill>
              <a:srgbClr val="2C253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580376" y="4919472"/>
            <a:ext cx="1837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625B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NE-2094</a:t>
            </a:r>
            <a:endParaRPr lang="en-US" sz="1030" dirty="0"/>
          </a:p>
        </p:txBody>
      </p:sp>
      <p:sp>
        <p:nvSpPr>
          <p:cNvPr id="47" name="Shape 45"/>
          <p:cNvSpPr/>
          <p:nvPr/>
        </p:nvSpPr>
        <p:spPr>
          <a:xfrm>
            <a:off x="640080" y="594360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76656" y="6039612"/>
            <a:ext cx="41148" cy="41148"/>
          </a:xfrm>
          <a:prstGeom prst="line">
            <a:avLst/>
          </a:prstGeom>
          <a:noFill/>
          <a:ln w="17780">
            <a:solidFill>
              <a:srgbClr val="120B20"/>
            </a:solidFill>
            <a:prstDash val="solid"/>
            <a:headEnd type="none"/>
            <a:tailEnd type="none"/>
          </a:ln>
        </p:spPr>
      </p:sp>
      <p:sp>
        <p:nvSpPr>
          <p:cNvPr id="49" name="Shape 47"/>
          <p:cNvSpPr/>
          <p:nvPr/>
        </p:nvSpPr>
        <p:spPr>
          <a:xfrm>
            <a:off x="717804" y="6080760"/>
            <a:ext cx="73152" cy="-86868"/>
          </a:xfrm>
          <a:prstGeom prst="line">
            <a:avLst/>
          </a:prstGeom>
          <a:noFill/>
          <a:ln w="17780">
            <a:solidFill>
              <a:srgbClr val="120B20"/>
            </a:solidFill>
            <a:prstDash val="solid"/>
            <a:headEnd type="none"/>
            <a:tailEnd type="none"/>
          </a:ln>
        </p:spPr>
      </p:sp>
      <p:sp>
        <p:nvSpPr>
          <p:cNvPr id="50" name="Text 48"/>
          <p:cNvSpPr txBox="1"/>
          <p:nvPr/>
        </p:nvSpPr>
        <p:spPr>
          <a:xfrm>
            <a:off x="923544" y="5934456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F7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Activo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1737360" y="5943600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5111E"/>
          </a:solidFill>
          <a:ln w="12700">
            <a:solidFill>
              <a:srgbClr val="40364D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020824" y="593445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F7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Pendiente</a:t>
            </a:r>
            <a:endParaRPr lang="en-US" sz="920" dirty="0"/>
          </a:p>
        </p:txBody>
      </p:sp>
      <p:sp>
        <p:nvSpPr>
          <p:cNvPr id="53" name="Shape 51"/>
          <p:cNvSpPr/>
          <p:nvPr/>
        </p:nvSpPr>
        <p:spPr>
          <a:xfrm>
            <a:off x="3246120" y="5916168"/>
            <a:ext cx="512064" cy="265176"/>
          </a:xfrm>
          <a:prstGeom prst="roundRect">
            <a:avLst>
              <a:gd name="adj" fmla="val 51724"/>
            </a:avLst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529584" y="5948172"/>
            <a:ext cx="201168" cy="201168"/>
          </a:xfrm>
          <a:prstGeom prst="ellipse">
            <a:avLst/>
          </a:prstGeom>
          <a:solidFill>
            <a:srgbClr val="120B20"/>
          </a:solidFill>
          <a:ln w="12700">
            <a:solidFill>
              <a:srgbClr val="120B20">
                <a:alpha val="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886200" y="59344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F7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Automatización</a:t>
            </a:r>
            <a:endParaRPr lang="en-US" sz="9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56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352544" y="256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Componentes · Cards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9674352" y="25603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4048" y="1115568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Tarjetas y</a:t>
            </a:r>
            <a:endParaRPr lang="en-US" sz="29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superficies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384048" y="2231136"/>
            <a:ext cx="2788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cards agrupan información, no sustituyen la estructura de página. El borde define la mayoría de superficies; la sombra se reserva para elementos flotantes.</a:t>
            </a:r>
            <a:endParaRPr lang="en-US" sz="1240" dirty="0"/>
          </a:p>
        </p:txBody>
      </p:sp>
      <p:sp>
        <p:nvSpPr>
          <p:cNvPr id="7" name="Text 5"/>
          <p:cNvSpPr txBox="1"/>
          <p:nvPr/>
        </p:nvSpPr>
        <p:spPr>
          <a:xfrm>
            <a:off x="3675888" y="107899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10" kern="0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75888" y="1417320"/>
            <a:ext cx="1901952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0160">
            <a:solidFill>
              <a:srgbClr val="EC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40480" y="16184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</a:t>
            </a:r>
            <a:endParaRPr lang="en-US" sz="92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1938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124.500 €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840480" y="2359152"/>
            <a:ext cx="658368" cy="219456"/>
          </a:xfrm>
          <a:prstGeom prst="roundRect">
            <a:avLst>
              <a:gd name="adj" fmla="val 62500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13632" y="2372868"/>
            <a:ext cx="5120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+12,4%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5779008" y="1417320"/>
            <a:ext cx="2176272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0160">
            <a:solidFill>
              <a:srgbClr val="EC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61888" y="1627632"/>
            <a:ext cx="329184" cy="329184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44184" y="1709928"/>
            <a:ext cx="164592" cy="16459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400800" y="162763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Digital</a:t>
            </a:r>
            <a:endParaRPr lang="en-US" sz="102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187452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Servicios tecnológicos</a:t>
            </a:r>
            <a:endParaRPr lang="en-US" sz="810" dirty="0"/>
          </a:p>
        </p:txBody>
      </p:sp>
      <p:sp>
        <p:nvSpPr>
          <p:cNvPr id="18" name="Shape 15"/>
          <p:cNvSpPr/>
          <p:nvPr/>
        </p:nvSpPr>
        <p:spPr>
          <a:xfrm>
            <a:off x="5961888" y="2176272"/>
            <a:ext cx="1783080" cy="0"/>
          </a:xfrm>
          <a:prstGeom prst="line">
            <a:avLst/>
          </a:prstGeom>
          <a:noFill/>
          <a:ln w="7620">
            <a:solidFill>
              <a:srgbClr val="ECE8F0"/>
            </a:solidFill>
            <a:prstDash val="solid"/>
            <a:headEnd type="none"/>
            <a:tailEnd type="none"/>
          </a:ln>
        </p:spPr>
      </p:sp>
      <p:sp>
        <p:nvSpPr>
          <p:cNvPr id="19" name="Text 16"/>
          <p:cNvSpPr txBox="1"/>
          <p:nvPr/>
        </p:nvSpPr>
        <p:spPr>
          <a:xfrm>
            <a:off x="5961888" y="2340864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Último contacto</a:t>
            </a:r>
            <a:endParaRPr lang="en-US" sz="740" dirty="0"/>
          </a:p>
        </p:txBody>
      </p:sp>
      <p:sp>
        <p:nvSpPr>
          <p:cNvPr id="20" name="Text 17"/>
          <p:cNvSpPr txBox="1"/>
          <p:nvPr/>
        </p:nvSpPr>
        <p:spPr>
          <a:xfrm>
            <a:off x="6858000" y="2331720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Ayer, 17:40</a:t>
            </a:r>
            <a:endParaRPr lang="en-US" sz="810" dirty="0"/>
          </a:p>
        </p:txBody>
      </p:sp>
      <p:sp>
        <p:nvSpPr>
          <p:cNvPr id="21" name="Shape 18"/>
          <p:cNvSpPr/>
          <p:nvPr/>
        </p:nvSpPr>
        <p:spPr>
          <a:xfrm>
            <a:off x="8156448" y="1417320"/>
            <a:ext cx="1965960" cy="1417320"/>
          </a:xfrm>
          <a:prstGeom prst="roundRect">
            <a:avLst>
              <a:gd name="adj" fmla="val 9032"/>
            </a:avLst>
          </a:prstGeom>
          <a:solidFill>
            <a:srgbClr val="F5F3FF"/>
          </a:solidFill>
          <a:ln w="11430">
            <a:solidFill>
              <a:srgbClr val="DDD6F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339328" y="162763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Tarea prioritaria</a:t>
            </a:r>
            <a:endParaRPr lang="en-US" sz="920" dirty="0"/>
          </a:p>
        </p:txBody>
      </p:sp>
      <p:sp>
        <p:nvSpPr>
          <p:cNvPr id="23" name="Text 20"/>
          <p:cNvSpPr txBox="1"/>
          <p:nvPr/>
        </p:nvSpPr>
        <p:spPr>
          <a:xfrm>
            <a:off x="8339328" y="193852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Preparar propuesta</a:t>
            </a:r>
            <a:endParaRPr lang="en-US" sz="14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comercial</a:t>
            </a:r>
            <a:endParaRPr lang="en-US" sz="1420" dirty="0"/>
          </a:p>
        </p:txBody>
      </p:sp>
      <p:sp>
        <p:nvSpPr>
          <p:cNvPr id="24" name="Text 21"/>
          <p:cNvSpPr txBox="1"/>
          <p:nvPr/>
        </p:nvSpPr>
        <p:spPr>
          <a:xfrm>
            <a:off x="8339328" y="24688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Hoy · 16:00</a:t>
            </a:r>
            <a:endParaRPr lang="en-US" sz="820" dirty="0"/>
          </a:p>
        </p:txBody>
      </p:sp>
      <p:sp>
        <p:nvSpPr>
          <p:cNvPr id="25" name="Shape 22"/>
          <p:cNvSpPr/>
          <p:nvPr/>
        </p:nvSpPr>
        <p:spPr>
          <a:xfrm>
            <a:off x="3675888" y="3246120"/>
            <a:ext cx="6446520" cy="1965960"/>
          </a:xfrm>
          <a:prstGeom prst="roundRect">
            <a:avLst>
              <a:gd name="adj" fmla="val 7442"/>
            </a:avLst>
          </a:prstGeom>
          <a:solidFill>
            <a:srgbClr val="0E0B14"/>
          </a:solidFill>
          <a:ln w="8890">
            <a:solidFill>
              <a:srgbClr val="40364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913632" y="34930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10" kern="0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913632" y="3822192"/>
            <a:ext cx="1755648" cy="1143000"/>
          </a:xfrm>
          <a:prstGeom prst="roundRect">
            <a:avLst>
              <a:gd name="adj" fmla="val 10400"/>
            </a:avLst>
          </a:prstGeom>
          <a:solidFill>
            <a:srgbClr val="1D1728"/>
          </a:solidFill>
          <a:ln w="8890">
            <a:solidFill>
              <a:srgbClr val="2B243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069080" y="400507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b="1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</a:t>
            </a:r>
            <a:endParaRPr lang="en-US" sz="840" dirty="0"/>
          </a:p>
        </p:txBody>
      </p:sp>
      <p:sp>
        <p:nvSpPr>
          <p:cNvPr id="29" name="Text 26"/>
          <p:cNvSpPr txBox="1"/>
          <p:nvPr/>
        </p:nvSpPr>
        <p:spPr>
          <a:xfrm>
            <a:off x="4069080" y="43159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F7F5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124.500 €</a:t>
            </a:r>
            <a:endParaRPr lang="en-US" sz="1650" dirty="0"/>
          </a:p>
        </p:txBody>
      </p:sp>
      <p:sp>
        <p:nvSpPr>
          <p:cNvPr id="30" name="Shape 27"/>
          <p:cNvSpPr/>
          <p:nvPr/>
        </p:nvSpPr>
        <p:spPr>
          <a:xfrm>
            <a:off x="4069080" y="4663440"/>
            <a:ext cx="621792" cy="201168"/>
          </a:xfrm>
          <a:prstGeom prst="roundRect">
            <a:avLst>
              <a:gd name="adj" fmla="val 68182"/>
            </a:avLst>
          </a:prstGeom>
          <a:solidFill>
            <a:srgbClr val="0E1A12"/>
          </a:solidFill>
          <a:ln w="10160">
            <a:solidFill>
              <a:srgbClr val="1E6A3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142232" y="4677156"/>
            <a:ext cx="475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+12,4%</a:t>
            </a:r>
            <a:endParaRPr lang="en-US" sz="740" dirty="0"/>
          </a:p>
        </p:txBody>
      </p:sp>
      <p:sp>
        <p:nvSpPr>
          <p:cNvPr id="32" name="Shape 29"/>
          <p:cNvSpPr/>
          <p:nvPr/>
        </p:nvSpPr>
        <p:spPr>
          <a:xfrm>
            <a:off x="5870448" y="3822192"/>
            <a:ext cx="1874520" cy="1143000"/>
          </a:xfrm>
          <a:prstGeom prst="roundRect">
            <a:avLst>
              <a:gd name="adj" fmla="val 10400"/>
            </a:avLst>
          </a:prstGeom>
          <a:solidFill>
            <a:srgbClr val="1D1728"/>
          </a:solidFill>
          <a:ln w="8890">
            <a:solidFill>
              <a:srgbClr val="2B2435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035040" y="400507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F7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Digital</a:t>
            </a:r>
            <a:endParaRPr lang="en-US" sz="940" dirty="0"/>
          </a:p>
        </p:txBody>
      </p:sp>
      <p:sp>
        <p:nvSpPr>
          <p:cNvPr id="34" name="Text 31"/>
          <p:cNvSpPr txBox="1"/>
          <p:nvPr/>
        </p:nvSpPr>
        <p:spPr>
          <a:xfrm>
            <a:off x="6035040" y="42519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Servicios tecnológicos</a:t>
            </a:r>
            <a:endParaRPr lang="en-US" sz="760" dirty="0"/>
          </a:p>
        </p:txBody>
      </p:sp>
      <p:sp>
        <p:nvSpPr>
          <p:cNvPr id="35" name="Text 32"/>
          <p:cNvSpPr txBox="1"/>
          <p:nvPr/>
        </p:nvSpPr>
        <p:spPr>
          <a:xfrm>
            <a:off x="6035040" y="465429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928A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Ayer, 17:40</a:t>
            </a:r>
            <a:endParaRPr lang="en-US" sz="780" dirty="0"/>
          </a:p>
        </p:txBody>
      </p:sp>
      <p:sp>
        <p:nvSpPr>
          <p:cNvPr id="36" name="Shape 33"/>
          <p:cNvSpPr/>
          <p:nvPr/>
        </p:nvSpPr>
        <p:spPr>
          <a:xfrm>
            <a:off x="7955280" y="3822192"/>
            <a:ext cx="1901952" cy="1143000"/>
          </a:xfrm>
          <a:prstGeom prst="roundRect">
            <a:avLst>
              <a:gd name="adj" fmla="val 10400"/>
            </a:avLst>
          </a:prstGeom>
          <a:solidFill>
            <a:srgbClr val="2A2037"/>
          </a:solidFill>
          <a:ln w="10160">
            <a:solidFill>
              <a:srgbClr val="392A4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119872" y="400507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Tarea prioritaria</a:t>
            </a:r>
            <a:endParaRPr lang="en-US" sz="830" dirty="0"/>
          </a:p>
        </p:txBody>
      </p:sp>
      <p:sp>
        <p:nvSpPr>
          <p:cNvPr id="38" name="Text 35"/>
          <p:cNvSpPr txBox="1"/>
          <p:nvPr/>
        </p:nvSpPr>
        <p:spPr>
          <a:xfrm>
            <a:off x="8119872" y="4297680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F7F5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Preparar propuesta</a:t>
            </a:r>
            <a:endParaRPr lang="en-US" sz="1220" dirty="0"/>
          </a:p>
        </p:txBody>
      </p:sp>
      <p:sp>
        <p:nvSpPr>
          <p:cNvPr id="39" name="Text 36"/>
          <p:cNvSpPr txBox="1"/>
          <p:nvPr/>
        </p:nvSpPr>
        <p:spPr>
          <a:xfrm>
            <a:off x="8119872" y="465429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Hoy · 16:00</a:t>
            </a:r>
            <a:endParaRPr lang="en-US" sz="760" dirty="0"/>
          </a:p>
        </p:txBody>
      </p:sp>
      <p:sp>
        <p:nvSpPr>
          <p:cNvPr id="40" name="Shape 37"/>
          <p:cNvSpPr/>
          <p:nvPr/>
        </p:nvSpPr>
        <p:spPr>
          <a:xfrm>
            <a:off x="3675888" y="5632704"/>
            <a:ext cx="644652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0160">
            <a:solidFill>
              <a:srgbClr val="ECE8F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858768" y="58430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</a:t>
            </a:r>
            <a:endParaRPr lang="en-US" sz="860" dirty="0"/>
          </a:p>
        </p:txBody>
      </p:sp>
      <p:sp>
        <p:nvSpPr>
          <p:cNvPr id="42" name="Text 39"/>
          <p:cNvSpPr txBox="1"/>
          <p:nvPr/>
        </p:nvSpPr>
        <p:spPr>
          <a:xfrm>
            <a:off x="4608576" y="5833872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borde 1 px · radio 12 px · padding 16/20 px</a:t>
            </a:r>
            <a:endParaRPr lang="en-US" sz="880" dirty="0"/>
          </a:p>
        </p:txBody>
      </p:sp>
      <p:sp>
        <p:nvSpPr>
          <p:cNvPr id="43" name="Text 40"/>
          <p:cNvSpPr txBox="1"/>
          <p:nvPr/>
        </p:nvSpPr>
        <p:spPr>
          <a:xfrm>
            <a:off x="7360920" y="584301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Seleccionada</a:t>
            </a:r>
            <a:endParaRPr lang="en-US" sz="860" dirty="0"/>
          </a:p>
        </p:txBody>
      </p:sp>
      <p:sp>
        <p:nvSpPr>
          <p:cNvPr id="44" name="Text 41"/>
          <p:cNvSpPr txBox="1"/>
          <p:nvPr/>
        </p:nvSpPr>
        <p:spPr>
          <a:xfrm>
            <a:off x="8321040" y="583387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tinte + borde 2 px</a:t>
            </a:r>
            <a:endParaRPr lang="en-US" sz="8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56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352544" y="256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Componentes · Tablas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9674352" y="25603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4048" y="1115568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Tablas de</a:t>
            </a:r>
            <a:endParaRPr lang="en-US" sz="29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datos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384048" y="2231136"/>
            <a:ext cx="2788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tablas priorizan comparación y acción. Se eliminan líneas verticales, se alinean cifras a la derecha y se mantiene la cabecera fija en scroll.</a:t>
            </a:r>
            <a:endParaRPr lang="en-US" sz="1240" dirty="0"/>
          </a:p>
        </p:txBody>
      </p:sp>
      <p:sp>
        <p:nvSpPr>
          <p:cNvPr id="7" name="Text 5"/>
          <p:cNvSpPr txBox="1"/>
          <p:nvPr/>
        </p:nvSpPr>
        <p:spPr>
          <a:xfrm>
            <a:off x="402336" y="39776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Reglas clave</a:t>
            </a:r>
            <a:endParaRPr lang="en-US" sz="920" dirty="0"/>
          </a:p>
        </p:txBody>
      </p:sp>
      <p:sp>
        <p:nvSpPr>
          <p:cNvPr id="8" name="Text 6"/>
          <p:cNvSpPr txBox="1"/>
          <p:nvPr/>
        </p:nvSpPr>
        <p:spPr>
          <a:xfrm>
            <a:off x="402336" y="4325112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40 px compacta / 48 px estándar</a:t>
            </a:r>
            <a:endParaRPr lang="en-US" sz="98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Orden, filtros y selección visibles</a:t>
            </a:r>
            <a:endParaRPr lang="en-US" sz="98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Estado = icono + texto + color</a:t>
            </a:r>
            <a:endParaRPr lang="en-US" sz="98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Acciones secundarias al hover</a:t>
            </a:r>
            <a:endParaRPr lang="en-US" sz="98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Vacíos y loading diseñados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429000" y="1078992"/>
            <a:ext cx="6812280" cy="5230368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0160">
            <a:solidFill>
              <a:srgbClr val="EC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30168" y="1261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Contactos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630168" y="159105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1.248 registros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6766560" y="1261872"/>
            <a:ext cx="1755648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10160">
            <a:solidFill>
              <a:srgbClr val="D8D2E0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03720" y="1344168"/>
            <a:ext cx="146304" cy="14630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7132320" y="133959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Buscar contacto…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9034272" y="1261872"/>
            <a:ext cx="1005840" cy="384048"/>
          </a:xfrm>
          <a:prstGeom prst="roundRect">
            <a:avLst>
              <a:gd name="adj" fmla="val 26190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034272" y="1275588"/>
            <a:ext cx="10058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Nuevo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3538728" y="1947672"/>
            <a:ext cx="6592824" cy="384048"/>
          </a:xfrm>
          <a:prstGeom prst="roundRect">
            <a:avLst>
              <a:gd name="adj" fmla="val 11905"/>
            </a:avLst>
          </a:prstGeom>
          <a:solidFill>
            <a:srgbClr val="F7F5FA"/>
          </a:solidFill>
          <a:ln w="12700">
            <a:solidFill>
              <a:srgbClr val="F7F5FA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648456" y="2057400"/>
            <a:ext cx="274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endParaRPr lang="en-US" sz="720" dirty="0"/>
          </a:p>
        </p:txBody>
      </p:sp>
      <p:sp>
        <p:nvSpPr>
          <p:cNvPr id="19" name="Text 16"/>
          <p:cNvSpPr txBox="1"/>
          <p:nvPr/>
        </p:nvSpPr>
        <p:spPr>
          <a:xfrm>
            <a:off x="5303520" y="2057400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CONTACTO</a:t>
            </a:r>
            <a:endParaRPr lang="en-US" sz="720" dirty="0"/>
          </a:p>
        </p:txBody>
      </p:sp>
      <p:sp>
        <p:nvSpPr>
          <p:cNvPr id="20" name="Text 17"/>
          <p:cNvSpPr txBox="1"/>
          <p:nvPr/>
        </p:nvSpPr>
        <p:spPr>
          <a:xfrm>
            <a:off x="6675120" y="2057400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EMPRESA</a:t>
            </a:r>
            <a:endParaRPr lang="en-US" sz="720" dirty="0"/>
          </a:p>
        </p:txBody>
      </p:sp>
      <p:sp>
        <p:nvSpPr>
          <p:cNvPr id="21" name="Text 18"/>
          <p:cNvSpPr txBox="1"/>
          <p:nvPr/>
        </p:nvSpPr>
        <p:spPr>
          <a:xfrm>
            <a:off x="7680960" y="2057400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ESTADO</a:t>
            </a:r>
            <a:endParaRPr lang="en-US" sz="720" dirty="0"/>
          </a:p>
        </p:txBody>
      </p:sp>
      <p:sp>
        <p:nvSpPr>
          <p:cNvPr id="22" name="Text 19"/>
          <p:cNvSpPr txBox="1"/>
          <p:nvPr/>
        </p:nvSpPr>
        <p:spPr>
          <a:xfrm>
            <a:off x="8714232" y="2057400"/>
            <a:ext cx="685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</a:t>
            </a:r>
            <a:endParaRPr lang="en-US" sz="720" dirty="0"/>
          </a:p>
        </p:txBody>
      </p:sp>
      <p:sp>
        <p:nvSpPr>
          <p:cNvPr id="23" name="Text 20"/>
          <p:cNvSpPr txBox="1"/>
          <p:nvPr/>
        </p:nvSpPr>
        <p:spPr>
          <a:xfrm>
            <a:off x="9509760" y="2057400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ÚLTIMA ACTIVIDAD</a:t>
            </a:r>
            <a:endParaRPr lang="en-US" sz="720" dirty="0"/>
          </a:p>
        </p:txBody>
      </p:sp>
      <p:sp>
        <p:nvSpPr>
          <p:cNvPr id="24" name="Shape 21"/>
          <p:cNvSpPr/>
          <p:nvPr/>
        </p:nvSpPr>
        <p:spPr>
          <a:xfrm>
            <a:off x="3657600" y="245059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E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995928" y="2395728"/>
            <a:ext cx="292608" cy="292608"/>
          </a:xfrm>
          <a:prstGeom prst="ellipse">
            <a:avLst/>
          </a:prstGeom>
          <a:solidFill>
            <a:srgbClr val="E9EEF9"/>
          </a:solidFill>
          <a:ln w="12700">
            <a:solidFill>
              <a:srgbClr val="E9EEF9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995928" y="248259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</a:t>
            </a:r>
            <a:endParaRPr lang="en-US" sz="660" dirty="0"/>
          </a:p>
        </p:txBody>
      </p:sp>
      <p:sp>
        <p:nvSpPr>
          <p:cNvPr id="27" name="Text 24"/>
          <p:cNvSpPr txBox="1"/>
          <p:nvPr/>
        </p:nvSpPr>
        <p:spPr>
          <a:xfrm>
            <a:off x="4379976" y="24231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 Torres</a:t>
            </a:r>
            <a:endParaRPr lang="en-US" sz="850" dirty="0"/>
          </a:p>
        </p:txBody>
      </p:sp>
      <p:sp>
        <p:nvSpPr>
          <p:cNvPr id="28" name="Text 25"/>
          <p:cNvSpPr txBox="1"/>
          <p:nvPr/>
        </p:nvSpPr>
        <p:spPr>
          <a:xfrm>
            <a:off x="4379976" y="264261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ana@torres · CRM</a:t>
            </a:r>
            <a:endParaRPr lang="en-US" sz="680" dirty="0"/>
          </a:p>
        </p:txBody>
      </p:sp>
      <p:sp>
        <p:nvSpPr>
          <p:cNvPr id="29" name="Text 26"/>
          <p:cNvSpPr txBox="1"/>
          <p:nvPr/>
        </p:nvSpPr>
        <p:spPr>
          <a:xfrm>
            <a:off x="6675120" y="251460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Digital</a:t>
            </a:r>
            <a:endParaRPr lang="en-US" sz="810" dirty="0"/>
          </a:p>
        </p:txBody>
      </p:sp>
      <p:sp>
        <p:nvSpPr>
          <p:cNvPr id="30" name="Shape 27"/>
          <p:cNvSpPr/>
          <p:nvPr/>
        </p:nvSpPr>
        <p:spPr>
          <a:xfrm>
            <a:off x="7680960" y="2450592"/>
            <a:ext cx="749808" cy="210312"/>
          </a:xfrm>
          <a:prstGeom prst="roundRect">
            <a:avLst>
              <a:gd name="adj" fmla="val 65217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754112" y="2464308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Activo</a:t>
            </a:r>
            <a:endParaRPr lang="en-US" sz="680" dirty="0"/>
          </a:p>
        </p:txBody>
      </p:sp>
      <p:sp>
        <p:nvSpPr>
          <p:cNvPr id="32" name="Text 29"/>
          <p:cNvSpPr txBox="1"/>
          <p:nvPr/>
        </p:nvSpPr>
        <p:spPr>
          <a:xfrm>
            <a:off x="8522208" y="251460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28.400 €</a:t>
            </a:r>
            <a:endParaRPr lang="en-US" sz="810" dirty="0"/>
          </a:p>
        </p:txBody>
      </p:sp>
      <p:sp>
        <p:nvSpPr>
          <p:cNvPr id="33" name="Text 30"/>
          <p:cNvSpPr txBox="1"/>
          <p:nvPr/>
        </p:nvSpPr>
        <p:spPr>
          <a:xfrm>
            <a:off x="9464040" y="251460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Hoy, 10:42</a:t>
            </a:r>
            <a:endParaRPr lang="en-US" sz="740" dirty="0"/>
          </a:p>
        </p:txBody>
      </p:sp>
      <p:sp>
        <p:nvSpPr>
          <p:cNvPr id="34" name="Shape 31"/>
          <p:cNvSpPr/>
          <p:nvPr/>
        </p:nvSpPr>
        <p:spPr>
          <a:xfrm>
            <a:off x="3538728" y="2944368"/>
            <a:ext cx="6592824" cy="585216"/>
          </a:xfrm>
          <a:prstGeom prst="roundRect">
            <a:avLst>
              <a:gd name="adj" fmla="val 7813"/>
            </a:avLst>
          </a:prstGeom>
          <a:solidFill>
            <a:srgbClr val="F5F3FF"/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611880" y="2926080"/>
            <a:ext cx="6446520" cy="0"/>
          </a:xfrm>
          <a:prstGeom prst="line">
            <a:avLst/>
          </a:prstGeom>
          <a:noFill/>
          <a:ln w="6985">
            <a:solidFill>
              <a:srgbClr val="ECE8F0"/>
            </a:solidFill>
            <a:prstDash val="solid"/>
            <a:headEnd type="none"/>
            <a:tailEnd type="none"/>
          </a:ln>
        </p:spPr>
      </p:sp>
      <p:sp>
        <p:nvSpPr>
          <p:cNvPr id="36" name="Shape 33"/>
          <p:cNvSpPr/>
          <p:nvPr/>
        </p:nvSpPr>
        <p:spPr>
          <a:xfrm>
            <a:off x="3657600" y="309067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3694176" y="3186684"/>
            <a:ext cx="41148" cy="41148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8" name="Shape 35"/>
          <p:cNvSpPr/>
          <p:nvPr/>
        </p:nvSpPr>
        <p:spPr>
          <a:xfrm>
            <a:off x="3735324" y="3227832"/>
            <a:ext cx="73152" cy="-86868"/>
          </a:xfrm>
          <a:prstGeom prst="line">
            <a:avLst/>
          </a:prstGeom>
          <a:noFill/>
          <a:ln w="1778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39" name="Shape 36"/>
          <p:cNvSpPr/>
          <p:nvPr/>
        </p:nvSpPr>
        <p:spPr>
          <a:xfrm>
            <a:off x="3995928" y="3035808"/>
            <a:ext cx="292608" cy="29260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995928" y="312267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</a:t>
            </a:r>
            <a:endParaRPr lang="en-US" sz="660" dirty="0"/>
          </a:p>
        </p:txBody>
      </p:sp>
      <p:sp>
        <p:nvSpPr>
          <p:cNvPr id="41" name="Text 38"/>
          <p:cNvSpPr txBox="1"/>
          <p:nvPr/>
        </p:nvSpPr>
        <p:spPr>
          <a:xfrm>
            <a:off x="4379976" y="30632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Carlos Vega</a:t>
            </a:r>
            <a:endParaRPr lang="en-US" sz="850" dirty="0"/>
          </a:p>
        </p:txBody>
      </p:sp>
      <p:sp>
        <p:nvSpPr>
          <p:cNvPr id="42" name="Text 39"/>
          <p:cNvSpPr txBox="1"/>
          <p:nvPr/>
        </p:nvSpPr>
        <p:spPr>
          <a:xfrm>
            <a:off x="4379976" y="328269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carlos@vega · CRM</a:t>
            </a:r>
            <a:endParaRPr lang="en-US" sz="680" dirty="0"/>
          </a:p>
        </p:txBody>
      </p:sp>
      <p:sp>
        <p:nvSpPr>
          <p:cNvPr id="43" name="Text 40"/>
          <p:cNvSpPr txBox="1"/>
          <p:nvPr/>
        </p:nvSpPr>
        <p:spPr>
          <a:xfrm>
            <a:off x="6675120" y="31546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 Studio</a:t>
            </a:r>
            <a:endParaRPr lang="en-US" sz="810" dirty="0"/>
          </a:p>
        </p:txBody>
      </p:sp>
      <p:sp>
        <p:nvSpPr>
          <p:cNvPr id="44" name="Shape 41"/>
          <p:cNvSpPr/>
          <p:nvPr/>
        </p:nvSpPr>
        <p:spPr>
          <a:xfrm>
            <a:off x="7680960" y="3090672"/>
            <a:ext cx="749808" cy="210312"/>
          </a:xfrm>
          <a:prstGeom prst="roundRect">
            <a:avLst>
              <a:gd name="adj" fmla="val 6521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754112" y="3104388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Prospecto</a:t>
            </a:r>
            <a:endParaRPr lang="en-US" sz="680" dirty="0"/>
          </a:p>
        </p:txBody>
      </p:sp>
      <p:sp>
        <p:nvSpPr>
          <p:cNvPr id="46" name="Text 43"/>
          <p:cNvSpPr txBox="1"/>
          <p:nvPr/>
        </p:nvSpPr>
        <p:spPr>
          <a:xfrm>
            <a:off x="8522208" y="315468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17.900 €</a:t>
            </a:r>
            <a:endParaRPr lang="en-US" sz="810" dirty="0"/>
          </a:p>
        </p:txBody>
      </p:sp>
      <p:sp>
        <p:nvSpPr>
          <p:cNvPr id="47" name="Text 44"/>
          <p:cNvSpPr txBox="1"/>
          <p:nvPr/>
        </p:nvSpPr>
        <p:spPr>
          <a:xfrm>
            <a:off x="9464040" y="315468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Ayer, 18:05</a:t>
            </a:r>
            <a:endParaRPr lang="en-US" sz="740" dirty="0"/>
          </a:p>
        </p:txBody>
      </p:sp>
      <p:sp>
        <p:nvSpPr>
          <p:cNvPr id="48" name="Shape 45"/>
          <p:cNvSpPr/>
          <p:nvPr/>
        </p:nvSpPr>
        <p:spPr>
          <a:xfrm>
            <a:off x="3611880" y="3566160"/>
            <a:ext cx="6446520" cy="0"/>
          </a:xfrm>
          <a:prstGeom prst="line">
            <a:avLst/>
          </a:prstGeom>
          <a:noFill/>
          <a:ln w="6985">
            <a:solidFill>
              <a:srgbClr val="ECE8F0"/>
            </a:solidFill>
            <a:prstDash val="solid"/>
            <a:headEnd type="none"/>
            <a:tailEnd type="none"/>
          </a:ln>
        </p:spPr>
      </p:sp>
      <p:sp>
        <p:nvSpPr>
          <p:cNvPr id="49" name="Shape 46"/>
          <p:cNvSpPr/>
          <p:nvPr/>
        </p:nvSpPr>
        <p:spPr>
          <a:xfrm>
            <a:off x="3657600" y="373075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E0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995928" y="3675888"/>
            <a:ext cx="292608" cy="292608"/>
          </a:xfrm>
          <a:prstGeom prst="ellipse">
            <a:avLst/>
          </a:prstGeom>
          <a:solidFill>
            <a:srgbClr val="E9EEF9"/>
          </a:solidFill>
          <a:ln w="12700">
            <a:solidFill>
              <a:srgbClr val="E9EEF9">
                <a:alpha val="0"/>
              </a:srgbClr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995928" y="376275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LM</a:t>
            </a:r>
            <a:endParaRPr lang="en-US" sz="660" dirty="0"/>
          </a:p>
        </p:txBody>
      </p:sp>
      <p:sp>
        <p:nvSpPr>
          <p:cNvPr id="52" name="Text 49"/>
          <p:cNvSpPr txBox="1"/>
          <p:nvPr/>
        </p:nvSpPr>
        <p:spPr>
          <a:xfrm>
            <a:off x="4379976" y="37033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Lucía Martín</a:t>
            </a:r>
            <a:endParaRPr lang="en-US" sz="850" dirty="0"/>
          </a:p>
        </p:txBody>
      </p:sp>
      <p:sp>
        <p:nvSpPr>
          <p:cNvPr id="53" name="Text 50"/>
          <p:cNvSpPr txBox="1"/>
          <p:nvPr/>
        </p:nvSpPr>
        <p:spPr>
          <a:xfrm>
            <a:off x="4379976" y="392277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lucía@martín · CRM</a:t>
            </a:r>
            <a:endParaRPr lang="en-US" sz="680" dirty="0"/>
          </a:p>
        </p:txBody>
      </p:sp>
      <p:sp>
        <p:nvSpPr>
          <p:cNvPr id="54" name="Text 51"/>
          <p:cNvSpPr txBox="1"/>
          <p:nvPr/>
        </p:nvSpPr>
        <p:spPr>
          <a:xfrm>
            <a:off x="6675120" y="37947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Senda Labs</a:t>
            </a:r>
            <a:endParaRPr lang="en-US" sz="810" dirty="0"/>
          </a:p>
        </p:txBody>
      </p:sp>
      <p:sp>
        <p:nvSpPr>
          <p:cNvPr id="55" name="Shape 52"/>
          <p:cNvSpPr/>
          <p:nvPr/>
        </p:nvSpPr>
        <p:spPr>
          <a:xfrm>
            <a:off x="7680960" y="3730752"/>
            <a:ext cx="749808" cy="210312"/>
          </a:xfrm>
          <a:prstGeom prst="roundRect">
            <a:avLst>
              <a:gd name="adj" fmla="val 65217"/>
            </a:avLst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7754112" y="3744468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Riesgo</a:t>
            </a:r>
            <a:endParaRPr lang="en-US" sz="680" dirty="0"/>
          </a:p>
        </p:txBody>
      </p:sp>
      <p:sp>
        <p:nvSpPr>
          <p:cNvPr id="57" name="Text 54"/>
          <p:cNvSpPr txBox="1"/>
          <p:nvPr/>
        </p:nvSpPr>
        <p:spPr>
          <a:xfrm>
            <a:off x="8522208" y="379476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41.200 €</a:t>
            </a:r>
            <a:endParaRPr lang="en-US" sz="810" dirty="0"/>
          </a:p>
        </p:txBody>
      </p:sp>
      <p:sp>
        <p:nvSpPr>
          <p:cNvPr id="58" name="Text 55"/>
          <p:cNvSpPr txBox="1"/>
          <p:nvPr/>
        </p:nvSpPr>
        <p:spPr>
          <a:xfrm>
            <a:off x="9464040" y="379476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sep, 09:10</a:t>
            </a:r>
            <a:endParaRPr lang="en-US" sz="740" dirty="0"/>
          </a:p>
        </p:txBody>
      </p:sp>
      <p:sp>
        <p:nvSpPr>
          <p:cNvPr id="59" name="Shape 56"/>
          <p:cNvSpPr/>
          <p:nvPr/>
        </p:nvSpPr>
        <p:spPr>
          <a:xfrm>
            <a:off x="3611880" y="4206240"/>
            <a:ext cx="6446520" cy="0"/>
          </a:xfrm>
          <a:prstGeom prst="line">
            <a:avLst/>
          </a:prstGeom>
          <a:noFill/>
          <a:ln w="6985">
            <a:solidFill>
              <a:srgbClr val="ECE8F0"/>
            </a:solidFill>
            <a:prstDash val="solid"/>
            <a:headEnd type="none"/>
            <a:tailEnd type="none"/>
          </a:ln>
        </p:spPr>
      </p:sp>
      <p:sp>
        <p:nvSpPr>
          <p:cNvPr id="60" name="Shape 57"/>
          <p:cNvSpPr/>
          <p:nvPr/>
        </p:nvSpPr>
        <p:spPr>
          <a:xfrm>
            <a:off x="3657600" y="437083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E0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3995928" y="4315968"/>
            <a:ext cx="292608" cy="29260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3995928" y="440283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</a:t>
            </a:r>
            <a:endParaRPr lang="en-US" sz="660" dirty="0"/>
          </a:p>
        </p:txBody>
      </p:sp>
      <p:sp>
        <p:nvSpPr>
          <p:cNvPr id="63" name="Text 60"/>
          <p:cNvSpPr txBox="1"/>
          <p:nvPr/>
        </p:nvSpPr>
        <p:spPr>
          <a:xfrm>
            <a:off x="4379976" y="43434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Miguel Ruiz</a:t>
            </a:r>
            <a:endParaRPr lang="en-US" sz="850" dirty="0"/>
          </a:p>
        </p:txBody>
      </p:sp>
      <p:sp>
        <p:nvSpPr>
          <p:cNvPr id="64" name="Text 61"/>
          <p:cNvSpPr txBox="1"/>
          <p:nvPr/>
        </p:nvSpPr>
        <p:spPr>
          <a:xfrm>
            <a:off x="4379976" y="456285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miguel@ruiz · CRM</a:t>
            </a:r>
            <a:endParaRPr lang="en-US" sz="680" dirty="0"/>
          </a:p>
        </p:txBody>
      </p:sp>
      <p:sp>
        <p:nvSpPr>
          <p:cNvPr id="65" name="Text 62"/>
          <p:cNvSpPr txBox="1"/>
          <p:nvPr/>
        </p:nvSpPr>
        <p:spPr>
          <a:xfrm>
            <a:off x="6675120" y="44348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Orbe Legal</a:t>
            </a:r>
            <a:endParaRPr lang="en-US" sz="810" dirty="0"/>
          </a:p>
        </p:txBody>
      </p:sp>
      <p:sp>
        <p:nvSpPr>
          <p:cNvPr id="66" name="Shape 63"/>
          <p:cNvSpPr/>
          <p:nvPr/>
        </p:nvSpPr>
        <p:spPr>
          <a:xfrm>
            <a:off x="7680960" y="4370832"/>
            <a:ext cx="749808" cy="210312"/>
          </a:xfrm>
          <a:prstGeom prst="roundRect">
            <a:avLst>
              <a:gd name="adj" fmla="val 65217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7754112" y="4384548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Activo</a:t>
            </a:r>
            <a:endParaRPr lang="en-US" sz="680" dirty="0"/>
          </a:p>
        </p:txBody>
      </p:sp>
      <p:sp>
        <p:nvSpPr>
          <p:cNvPr id="68" name="Text 65"/>
          <p:cNvSpPr txBox="1"/>
          <p:nvPr/>
        </p:nvSpPr>
        <p:spPr>
          <a:xfrm>
            <a:off x="8522208" y="443484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9.850 €</a:t>
            </a:r>
            <a:endParaRPr lang="en-US" sz="810" dirty="0"/>
          </a:p>
        </p:txBody>
      </p:sp>
      <p:sp>
        <p:nvSpPr>
          <p:cNvPr id="69" name="Text 66"/>
          <p:cNvSpPr txBox="1"/>
          <p:nvPr/>
        </p:nvSpPr>
        <p:spPr>
          <a:xfrm>
            <a:off x="9464040" y="443484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sep, 16:45</a:t>
            </a:r>
            <a:endParaRPr lang="en-US" sz="740" dirty="0"/>
          </a:p>
        </p:txBody>
      </p:sp>
      <p:sp>
        <p:nvSpPr>
          <p:cNvPr id="70" name="Shape 67"/>
          <p:cNvSpPr/>
          <p:nvPr/>
        </p:nvSpPr>
        <p:spPr>
          <a:xfrm>
            <a:off x="3611880" y="4846320"/>
            <a:ext cx="6446520" cy="0"/>
          </a:xfrm>
          <a:prstGeom prst="line">
            <a:avLst/>
          </a:prstGeom>
          <a:noFill/>
          <a:ln w="6985">
            <a:solidFill>
              <a:srgbClr val="ECE8F0"/>
            </a:solidFill>
            <a:prstDash val="solid"/>
            <a:headEnd type="none"/>
            <a:tailEnd type="none"/>
          </a:ln>
        </p:spPr>
      </p:sp>
      <p:sp>
        <p:nvSpPr>
          <p:cNvPr id="71" name="Shape 68"/>
          <p:cNvSpPr/>
          <p:nvPr/>
        </p:nvSpPr>
        <p:spPr>
          <a:xfrm>
            <a:off x="3657600" y="501091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E0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3995928" y="4956048"/>
            <a:ext cx="292608" cy="292608"/>
          </a:xfrm>
          <a:prstGeom prst="ellipse">
            <a:avLst/>
          </a:prstGeom>
          <a:solidFill>
            <a:srgbClr val="E9EEF9"/>
          </a:solidFill>
          <a:ln w="12700">
            <a:solidFill>
              <a:srgbClr val="E9EEF9">
                <a:alpha val="0"/>
              </a:srgbClr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3995928" y="504291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EG</a:t>
            </a:r>
            <a:endParaRPr lang="en-US" sz="660" dirty="0"/>
          </a:p>
        </p:txBody>
      </p:sp>
      <p:sp>
        <p:nvSpPr>
          <p:cNvPr id="74" name="Text 71"/>
          <p:cNvSpPr txBox="1"/>
          <p:nvPr/>
        </p:nvSpPr>
        <p:spPr>
          <a:xfrm>
            <a:off x="4379976" y="49834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Elena Gil</a:t>
            </a:r>
            <a:endParaRPr lang="en-US" sz="850" dirty="0"/>
          </a:p>
        </p:txBody>
      </p:sp>
      <p:sp>
        <p:nvSpPr>
          <p:cNvPr id="75" name="Text 72"/>
          <p:cNvSpPr txBox="1"/>
          <p:nvPr/>
        </p:nvSpPr>
        <p:spPr>
          <a:xfrm>
            <a:off x="4379976" y="520293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elena@gil · CRM</a:t>
            </a:r>
            <a:endParaRPr lang="en-US" sz="680" dirty="0"/>
          </a:p>
        </p:txBody>
      </p:sp>
      <p:sp>
        <p:nvSpPr>
          <p:cNvPr id="76" name="Text 73"/>
          <p:cNvSpPr txBox="1"/>
          <p:nvPr/>
        </p:nvSpPr>
        <p:spPr>
          <a:xfrm>
            <a:off x="6675120" y="50749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Tacto Norte</a:t>
            </a:r>
            <a:endParaRPr lang="en-US" sz="810" dirty="0"/>
          </a:p>
        </p:txBody>
      </p:sp>
      <p:sp>
        <p:nvSpPr>
          <p:cNvPr id="77" name="Shape 74"/>
          <p:cNvSpPr/>
          <p:nvPr/>
        </p:nvSpPr>
        <p:spPr>
          <a:xfrm>
            <a:off x="7680960" y="5010912"/>
            <a:ext cx="749808" cy="210312"/>
          </a:xfrm>
          <a:prstGeom prst="roundRect">
            <a:avLst>
              <a:gd name="adj" fmla="val 65217"/>
            </a:avLst>
          </a:prstGeom>
          <a:solidFill>
            <a:srgbClr val="F2F0F4"/>
          </a:solidFill>
          <a:ln w="10160">
            <a:solidFill>
              <a:srgbClr val="ECE8F0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7754112" y="5024628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Inactivo</a:t>
            </a:r>
            <a:endParaRPr lang="en-US" sz="680" dirty="0"/>
          </a:p>
        </p:txBody>
      </p:sp>
      <p:sp>
        <p:nvSpPr>
          <p:cNvPr id="79" name="Text 76"/>
          <p:cNvSpPr txBox="1"/>
          <p:nvPr/>
        </p:nvSpPr>
        <p:spPr>
          <a:xfrm>
            <a:off x="8522208" y="507492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6.400 €</a:t>
            </a:r>
            <a:endParaRPr lang="en-US" sz="810" dirty="0"/>
          </a:p>
        </p:txBody>
      </p:sp>
      <p:sp>
        <p:nvSpPr>
          <p:cNvPr id="80" name="Text 77"/>
          <p:cNvSpPr txBox="1"/>
          <p:nvPr/>
        </p:nvSpPr>
        <p:spPr>
          <a:xfrm>
            <a:off x="9464040" y="507492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sep, 12:30</a:t>
            </a:r>
            <a:endParaRPr lang="en-US" sz="740" dirty="0"/>
          </a:p>
        </p:txBody>
      </p:sp>
      <p:sp>
        <p:nvSpPr>
          <p:cNvPr id="81" name="Shape 78"/>
          <p:cNvSpPr/>
          <p:nvPr/>
        </p:nvSpPr>
        <p:spPr>
          <a:xfrm>
            <a:off x="3611880" y="5486400"/>
            <a:ext cx="6446520" cy="0"/>
          </a:xfrm>
          <a:prstGeom prst="line">
            <a:avLst/>
          </a:prstGeom>
          <a:noFill/>
          <a:ln w="6985">
            <a:solidFill>
              <a:srgbClr val="ECE8F0"/>
            </a:solidFill>
            <a:prstDash val="solid"/>
            <a:headEnd type="none"/>
            <a:tailEnd type="none"/>
          </a:ln>
        </p:spPr>
      </p:sp>
      <p:sp>
        <p:nvSpPr>
          <p:cNvPr id="82" name="Shape 79"/>
          <p:cNvSpPr/>
          <p:nvPr/>
        </p:nvSpPr>
        <p:spPr>
          <a:xfrm>
            <a:off x="3657600" y="565099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2E0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3995928" y="5596128"/>
            <a:ext cx="292608" cy="292608"/>
          </a:xfrm>
          <a:prstGeom prst="ellipse">
            <a:avLst/>
          </a:prstGeom>
          <a:solidFill>
            <a:srgbClr val="EDE9FE"/>
          </a:solidFill>
          <a:ln w="12700">
            <a:solidFill>
              <a:srgbClr val="EDE9FE">
                <a:alpha val="0"/>
              </a:srgbClr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3995928" y="568299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DP</a:t>
            </a:r>
            <a:endParaRPr lang="en-US" sz="660" dirty="0"/>
          </a:p>
        </p:txBody>
      </p:sp>
      <p:sp>
        <p:nvSpPr>
          <p:cNvPr id="85" name="Text 82"/>
          <p:cNvSpPr txBox="1"/>
          <p:nvPr/>
        </p:nvSpPr>
        <p:spPr>
          <a:xfrm>
            <a:off x="4379976" y="56235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David Peña</a:t>
            </a:r>
            <a:endParaRPr lang="en-US" sz="850" dirty="0"/>
          </a:p>
        </p:txBody>
      </p:sp>
      <p:sp>
        <p:nvSpPr>
          <p:cNvPr id="86" name="Text 83"/>
          <p:cNvSpPr txBox="1"/>
          <p:nvPr/>
        </p:nvSpPr>
        <p:spPr>
          <a:xfrm>
            <a:off x="4379976" y="5843016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david@peña · CRM</a:t>
            </a:r>
            <a:endParaRPr lang="en-US" sz="680" dirty="0"/>
          </a:p>
        </p:txBody>
      </p:sp>
      <p:sp>
        <p:nvSpPr>
          <p:cNvPr id="87" name="Text 84"/>
          <p:cNvSpPr txBox="1"/>
          <p:nvPr/>
        </p:nvSpPr>
        <p:spPr>
          <a:xfrm>
            <a:off x="6675120" y="571500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Kora Systems</a:t>
            </a:r>
            <a:endParaRPr lang="en-US" sz="810" dirty="0"/>
          </a:p>
        </p:txBody>
      </p:sp>
      <p:sp>
        <p:nvSpPr>
          <p:cNvPr id="88" name="Shape 85"/>
          <p:cNvSpPr/>
          <p:nvPr/>
        </p:nvSpPr>
        <p:spPr>
          <a:xfrm>
            <a:off x="7680960" y="5650992"/>
            <a:ext cx="749808" cy="210312"/>
          </a:xfrm>
          <a:prstGeom prst="roundRect">
            <a:avLst>
              <a:gd name="adj" fmla="val 65217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7754112" y="5664708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Activo</a:t>
            </a:r>
            <a:endParaRPr lang="en-US" sz="680" dirty="0"/>
          </a:p>
        </p:txBody>
      </p:sp>
      <p:sp>
        <p:nvSpPr>
          <p:cNvPr id="90" name="Text 87"/>
          <p:cNvSpPr txBox="1"/>
          <p:nvPr/>
        </p:nvSpPr>
        <p:spPr>
          <a:xfrm>
            <a:off x="8522208" y="5715000"/>
            <a:ext cx="749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1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31.700 €</a:t>
            </a:r>
            <a:endParaRPr lang="en-US" sz="810" dirty="0"/>
          </a:p>
        </p:txBody>
      </p:sp>
      <p:sp>
        <p:nvSpPr>
          <p:cNvPr id="91" name="Text 88"/>
          <p:cNvSpPr txBox="1"/>
          <p:nvPr/>
        </p:nvSpPr>
        <p:spPr>
          <a:xfrm>
            <a:off x="9464040" y="571500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sep, 08:55</a:t>
            </a:r>
            <a:endParaRPr lang="en-US" sz="7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56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352544" y="256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Componentes · Navegación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9674352" y="25603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20624" y="932688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Navegación, badges y densidad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20624" y="142646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navegación mantiene ubicación y contexto. El estado activo combina tinte, indicador y peso tipográfico.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0624" y="1965960"/>
            <a:ext cx="2926080" cy="42245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CE8F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6656" y="2212848"/>
            <a:ext cx="420624" cy="42062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220827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nexo</a:t>
            </a:r>
            <a:endParaRPr lang="en-US" sz="18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960" y="2907792"/>
            <a:ext cx="173736" cy="17373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43000" y="289407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Inicio</a:t>
            </a:r>
            <a:endParaRPr lang="en-US" sz="93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410712"/>
            <a:ext cx="173736" cy="1737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339699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Contactos</a:t>
            </a:r>
            <a:endParaRPr lang="en-US" sz="930" dirty="0"/>
          </a:p>
        </p:txBody>
      </p:sp>
      <p:sp>
        <p:nvSpPr>
          <p:cNvPr id="14" name="Shape 9"/>
          <p:cNvSpPr/>
          <p:nvPr/>
        </p:nvSpPr>
        <p:spPr>
          <a:xfrm>
            <a:off x="2606040" y="3374136"/>
            <a:ext cx="301752" cy="182880"/>
          </a:xfrm>
          <a:prstGeom prst="roundRect">
            <a:avLst>
              <a:gd name="adj" fmla="val 75000"/>
            </a:avLst>
          </a:prstGeom>
          <a:solidFill>
            <a:srgbClr val="F3F0F7"/>
          </a:solidFill>
          <a:ln w="10160">
            <a:solidFill>
              <a:srgbClr val="F3F0F7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2679192" y="338785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660" dirty="0"/>
          </a:p>
        </p:txBody>
      </p:sp>
      <p:sp>
        <p:nvSpPr>
          <p:cNvPr id="16" name="Shape 11"/>
          <p:cNvSpPr/>
          <p:nvPr/>
        </p:nvSpPr>
        <p:spPr>
          <a:xfrm>
            <a:off x="640080" y="3831336"/>
            <a:ext cx="2468880" cy="393192"/>
          </a:xfrm>
          <a:prstGeom prst="roundRect">
            <a:avLst>
              <a:gd name="adj" fmla="val 23256"/>
            </a:avLst>
          </a:prstGeom>
          <a:solidFill>
            <a:srgbClr val="F5F3FF"/>
          </a:solidFill>
          <a:ln w="6350">
            <a:solidFill>
              <a:srgbClr val="EDE9FE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40080" y="3831336"/>
            <a:ext cx="50292" cy="393192"/>
          </a:xfrm>
          <a:prstGeom prst="roundRect">
            <a:avLst>
              <a:gd name="adj" fmla="val 45455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2960" y="3913632"/>
            <a:ext cx="173736" cy="17373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43000" y="389991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Ventas</a:t>
            </a:r>
            <a:endParaRPr lang="en-US" sz="93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2960" y="4416552"/>
            <a:ext cx="173736" cy="17373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43000" y="440283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Actividad</a:t>
            </a:r>
            <a:endParaRPr lang="en-US" sz="93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2960" y="4919472"/>
            <a:ext cx="173736" cy="17373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143000" y="4905756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Informes</a:t>
            </a:r>
            <a:endParaRPr lang="en-US" sz="930" dirty="0"/>
          </a:p>
        </p:txBody>
      </p:sp>
      <p:sp>
        <p:nvSpPr>
          <p:cNvPr id="24" name="Text 16"/>
          <p:cNvSpPr txBox="1"/>
          <p:nvPr/>
        </p:nvSpPr>
        <p:spPr>
          <a:xfrm>
            <a:off x="676656" y="576986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Expandida 240 px / colapsada 72 px</a:t>
            </a:r>
            <a:endParaRPr lang="en-US" sz="820" dirty="0"/>
          </a:p>
        </p:txBody>
      </p:sp>
      <p:sp>
        <p:nvSpPr>
          <p:cNvPr id="25" name="Shape 17"/>
          <p:cNvSpPr/>
          <p:nvPr/>
        </p:nvSpPr>
        <p:spPr>
          <a:xfrm>
            <a:off x="3611880" y="1965960"/>
            <a:ext cx="665683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0160">
            <a:solidFill>
              <a:srgbClr val="ECE8F0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3840480" y="217627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10" kern="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TABS</a:t>
            </a:r>
            <a:endParaRPr lang="en-US" sz="850" dirty="0"/>
          </a:p>
        </p:txBody>
      </p:sp>
      <p:sp>
        <p:nvSpPr>
          <p:cNvPr id="27" name="Text 19"/>
          <p:cNvSpPr txBox="1"/>
          <p:nvPr/>
        </p:nvSpPr>
        <p:spPr>
          <a:xfrm>
            <a:off x="3840480" y="254203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Resumen</a:t>
            </a:r>
            <a:endParaRPr lang="en-US" sz="930" dirty="0"/>
          </a:p>
        </p:txBody>
      </p:sp>
      <p:sp>
        <p:nvSpPr>
          <p:cNvPr id="28" name="Shape 20"/>
          <p:cNvSpPr/>
          <p:nvPr/>
        </p:nvSpPr>
        <p:spPr>
          <a:xfrm>
            <a:off x="3986784" y="2852928"/>
            <a:ext cx="850392" cy="32004"/>
          </a:xfrm>
          <a:prstGeom prst="roundRect">
            <a:avLst>
              <a:gd name="adj" fmla="val 57143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5166360" y="254203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Actividad</a:t>
            </a:r>
            <a:endParaRPr lang="en-US" sz="930" dirty="0"/>
          </a:p>
        </p:txBody>
      </p:sp>
      <p:sp>
        <p:nvSpPr>
          <p:cNvPr id="30" name="Text 22"/>
          <p:cNvSpPr txBox="1"/>
          <p:nvPr/>
        </p:nvSpPr>
        <p:spPr>
          <a:xfrm>
            <a:off x="6492240" y="254203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Archivos</a:t>
            </a:r>
            <a:endParaRPr lang="en-US" sz="930" dirty="0"/>
          </a:p>
        </p:txBody>
      </p:sp>
      <p:sp>
        <p:nvSpPr>
          <p:cNvPr id="31" name="Text 23"/>
          <p:cNvSpPr txBox="1"/>
          <p:nvPr/>
        </p:nvSpPr>
        <p:spPr>
          <a:xfrm>
            <a:off x="7818120" y="254203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Automatizaciones</a:t>
            </a:r>
            <a:endParaRPr lang="en-US" sz="930" dirty="0"/>
          </a:p>
        </p:txBody>
      </p:sp>
      <p:sp>
        <p:nvSpPr>
          <p:cNvPr id="32" name="Shape 24"/>
          <p:cNvSpPr/>
          <p:nvPr/>
        </p:nvSpPr>
        <p:spPr>
          <a:xfrm>
            <a:off x="3611880" y="3364992"/>
            <a:ext cx="3127248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0160">
            <a:solidFill>
              <a:srgbClr val="ECE8F0"/>
            </a:solidFill>
            <a:prstDash val="solid"/>
          </a:ln>
        </p:spPr>
      </p:sp>
      <p:sp>
        <p:nvSpPr>
          <p:cNvPr id="33" name="Text 25"/>
          <p:cNvSpPr txBox="1"/>
          <p:nvPr/>
        </p:nvSpPr>
        <p:spPr>
          <a:xfrm>
            <a:off x="3840480" y="35935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10" kern="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BADGES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3840480" y="3995928"/>
            <a:ext cx="758952" cy="237744"/>
          </a:xfrm>
          <a:prstGeom prst="roundRect">
            <a:avLst>
              <a:gd name="adj" fmla="val 57692"/>
            </a:avLst>
          </a:prstGeom>
          <a:solidFill>
            <a:srgbClr val="F3F0F7"/>
          </a:solidFill>
          <a:ln w="10160">
            <a:solidFill>
              <a:srgbClr val="ECE8F0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3913632" y="4009644"/>
            <a:ext cx="612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Neutral</a:t>
            </a:r>
            <a:endParaRPr lang="en-US" sz="780" dirty="0"/>
          </a:p>
        </p:txBody>
      </p:sp>
      <p:sp>
        <p:nvSpPr>
          <p:cNvPr id="36" name="Shape 28"/>
          <p:cNvSpPr/>
          <p:nvPr/>
        </p:nvSpPr>
        <p:spPr>
          <a:xfrm>
            <a:off x="4709160" y="3995928"/>
            <a:ext cx="932688" cy="237744"/>
          </a:xfrm>
          <a:prstGeom prst="roundRect">
            <a:avLst>
              <a:gd name="adj" fmla="val 57692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4782312" y="4009644"/>
            <a:ext cx="786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1E40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Información</a:t>
            </a:r>
            <a:endParaRPr lang="en-US" sz="780" dirty="0"/>
          </a:p>
        </p:txBody>
      </p:sp>
      <p:sp>
        <p:nvSpPr>
          <p:cNvPr id="38" name="Shape 30"/>
          <p:cNvSpPr/>
          <p:nvPr/>
        </p:nvSpPr>
        <p:spPr>
          <a:xfrm>
            <a:off x="5751576" y="3995928"/>
            <a:ext cx="676656" cy="237744"/>
          </a:xfrm>
          <a:prstGeom prst="roundRect">
            <a:avLst>
              <a:gd name="adj" fmla="val 57692"/>
            </a:avLst>
          </a:prstGeom>
          <a:solidFill>
            <a:srgbClr val="FFFBEB"/>
          </a:solidFill>
          <a:ln w="10160">
            <a:solidFill>
              <a:srgbClr val="FDE68A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5824728" y="4009644"/>
            <a:ext cx="5303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Riesgo</a:t>
            </a:r>
            <a:endParaRPr lang="en-US" sz="780" dirty="0"/>
          </a:p>
        </p:txBody>
      </p:sp>
      <p:sp>
        <p:nvSpPr>
          <p:cNvPr id="40" name="Shape 32"/>
          <p:cNvSpPr/>
          <p:nvPr/>
        </p:nvSpPr>
        <p:spPr>
          <a:xfrm>
            <a:off x="6949440" y="3364992"/>
            <a:ext cx="3319272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0160">
            <a:solidFill>
              <a:srgbClr val="ECE8F0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7178040" y="35935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10" kern="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BREADCRUMB</a:t>
            </a:r>
            <a:endParaRPr lang="en-US" sz="850" dirty="0"/>
          </a:p>
        </p:txBody>
      </p:sp>
      <p:sp>
        <p:nvSpPr>
          <p:cNvPr id="42" name="Text 34"/>
          <p:cNvSpPr txBox="1"/>
          <p:nvPr/>
        </p:nvSpPr>
        <p:spPr>
          <a:xfrm>
            <a:off x="7178040" y="40142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Ventas</a:t>
            </a:r>
            <a:endParaRPr lang="en-US" sz="920" dirty="0"/>
          </a:p>
        </p:txBody>
      </p:sp>
      <p:sp>
        <p:nvSpPr>
          <p:cNvPr id="43" name="Text 35"/>
          <p:cNvSpPr txBox="1"/>
          <p:nvPr/>
        </p:nvSpPr>
        <p:spPr>
          <a:xfrm>
            <a:off x="7799832" y="401421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endParaRPr lang="en-US" sz="920" dirty="0"/>
          </a:p>
        </p:txBody>
      </p:sp>
      <p:sp>
        <p:nvSpPr>
          <p:cNvPr id="44" name="Text 36"/>
          <p:cNvSpPr txBox="1"/>
          <p:nvPr/>
        </p:nvSpPr>
        <p:spPr>
          <a:xfrm>
            <a:off x="8046720" y="4014216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Digital</a:t>
            </a:r>
            <a:endParaRPr lang="en-US" sz="920" dirty="0"/>
          </a:p>
        </p:txBody>
      </p:sp>
      <p:sp>
        <p:nvSpPr>
          <p:cNvPr id="45" name="Text 37"/>
          <p:cNvSpPr txBox="1"/>
          <p:nvPr/>
        </p:nvSpPr>
        <p:spPr>
          <a:xfrm>
            <a:off x="9098280" y="401421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endParaRPr lang="en-US" sz="920" dirty="0"/>
          </a:p>
        </p:txBody>
      </p:sp>
      <p:sp>
        <p:nvSpPr>
          <p:cNvPr id="46" name="Text 38"/>
          <p:cNvSpPr txBox="1"/>
          <p:nvPr/>
        </p:nvSpPr>
        <p:spPr>
          <a:xfrm>
            <a:off x="9326880" y="4014216"/>
            <a:ext cx="713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Propuesta</a:t>
            </a:r>
            <a:endParaRPr lang="en-US" sz="920" dirty="0"/>
          </a:p>
        </p:txBody>
      </p:sp>
      <p:sp>
        <p:nvSpPr>
          <p:cNvPr id="47" name="Shape 39"/>
          <p:cNvSpPr/>
          <p:nvPr/>
        </p:nvSpPr>
        <p:spPr>
          <a:xfrm>
            <a:off x="3611880" y="5047488"/>
            <a:ext cx="6656832" cy="1143000"/>
          </a:xfrm>
          <a:prstGeom prst="roundRect">
            <a:avLst>
              <a:gd name="adj" fmla="val 12800"/>
            </a:avLst>
          </a:prstGeom>
          <a:solidFill>
            <a:srgbClr val="2E1065"/>
          </a:solidFill>
          <a:ln w="12700">
            <a:solidFill>
              <a:srgbClr val="2E1065">
                <a:alpha val="0"/>
              </a:srgbClr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3840480" y="530352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10" kern="0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PRESETS DE DENSIDAD</a:t>
            </a:r>
            <a:endParaRPr lang="en-US" sz="850" dirty="0"/>
          </a:p>
        </p:txBody>
      </p:sp>
      <p:sp>
        <p:nvSpPr>
          <p:cNvPr id="49" name="Shape 41"/>
          <p:cNvSpPr/>
          <p:nvPr/>
        </p:nvSpPr>
        <p:spPr>
          <a:xfrm>
            <a:off x="3840480" y="5632704"/>
            <a:ext cx="1664208" cy="329184"/>
          </a:xfrm>
          <a:prstGeom prst="roundRect">
            <a:avLst>
              <a:gd name="adj" fmla="val 27778"/>
            </a:avLst>
          </a:prstGeom>
          <a:solidFill>
            <a:srgbClr val="3C2E4C"/>
          </a:solidFill>
          <a:ln w="8890">
            <a:solidFill>
              <a:srgbClr val="4B3C5C"/>
            </a:solidFill>
            <a:prstDash val="solid"/>
          </a:ln>
        </p:spPr>
      </p:sp>
      <p:sp>
        <p:nvSpPr>
          <p:cNvPr id="50" name="Text 42"/>
          <p:cNvSpPr txBox="1"/>
          <p:nvPr/>
        </p:nvSpPr>
        <p:spPr>
          <a:xfrm>
            <a:off x="3950208" y="571500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7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Compacta</a:t>
            </a:r>
            <a:endParaRPr lang="en-US" sz="820" dirty="0"/>
          </a:p>
        </p:txBody>
      </p:sp>
      <p:sp>
        <p:nvSpPr>
          <p:cNvPr id="51" name="Text 43"/>
          <p:cNvSpPr txBox="1"/>
          <p:nvPr/>
        </p:nvSpPr>
        <p:spPr>
          <a:xfrm>
            <a:off x="4919472" y="5715000"/>
            <a:ext cx="429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 px</a:t>
            </a:r>
            <a:endParaRPr lang="en-US" sz="740" dirty="0"/>
          </a:p>
        </p:txBody>
      </p:sp>
      <p:sp>
        <p:nvSpPr>
          <p:cNvPr id="52" name="Shape 44"/>
          <p:cNvSpPr/>
          <p:nvPr/>
        </p:nvSpPr>
        <p:spPr>
          <a:xfrm>
            <a:off x="5788152" y="5632704"/>
            <a:ext cx="1664208" cy="329184"/>
          </a:xfrm>
          <a:prstGeom prst="roundRect">
            <a:avLst>
              <a:gd name="adj" fmla="val 27778"/>
            </a:avLst>
          </a:prstGeom>
          <a:solidFill>
            <a:srgbClr val="A78BFA"/>
          </a:solidFill>
          <a:ln w="8890">
            <a:solidFill>
              <a:srgbClr val="A78BFA"/>
            </a:solidFill>
            <a:prstDash val="solid"/>
          </a:ln>
        </p:spPr>
      </p:sp>
      <p:sp>
        <p:nvSpPr>
          <p:cNvPr id="53" name="Text 45"/>
          <p:cNvSpPr txBox="1"/>
          <p:nvPr/>
        </p:nvSpPr>
        <p:spPr>
          <a:xfrm>
            <a:off x="5897880" y="571500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120B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Estándar</a:t>
            </a:r>
            <a:endParaRPr lang="en-US" sz="820" dirty="0"/>
          </a:p>
        </p:txBody>
      </p:sp>
      <p:sp>
        <p:nvSpPr>
          <p:cNvPr id="54" name="Text 46"/>
          <p:cNvSpPr txBox="1"/>
          <p:nvPr/>
        </p:nvSpPr>
        <p:spPr>
          <a:xfrm>
            <a:off x="6867144" y="5715000"/>
            <a:ext cx="429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120B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 px</a:t>
            </a:r>
            <a:endParaRPr lang="en-US" sz="740" dirty="0"/>
          </a:p>
        </p:txBody>
      </p:sp>
      <p:sp>
        <p:nvSpPr>
          <p:cNvPr id="55" name="Shape 47"/>
          <p:cNvSpPr/>
          <p:nvPr/>
        </p:nvSpPr>
        <p:spPr>
          <a:xfrm>
            <a:off x="7735824" y="5632704"/>
            <a:ext cx="1664208" cy="329184"/>
          </a:xfrm>
          <a:prstGeom prst="roundRect">
            <a:avLst>
              <a:gd name="adj" fmla="val 27778"/>
            </a:avLst>
          </a:prstGeom>
          <a:solidFill>
            <a:srgbClr val="3C2E4C"/>
          </a:solidFill>
          <a:ln w="8890">
            <a:solidFill>
              <a:srgbClr val="4B3C5C"/>
            </a:solidFill>
            <a:prstDash val="solid"/>
          </a:ln>
        </p:spPr>
      </p:sp>
      <p:sp>
        <p:nvSpPr>
          <p:cNvPr id="56" name="Text 48"/>
          <p:cNvSpPr txBox="1"/>
          <p:nvPr/>
        </p:nvSpPr>
        <p:spPr>
          <a:xfrm>
            <a:off x="7845552" y="5715000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dirty="0">
                <a:solidFill>
                  <a:srgbClr val="F7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Touch</a:t>
            </a:r>
            <a:endParaRPr lang="en-US" sz="820" dirty="0"/>
          </a:p>
        </p:txBody>
      </p:sp>
      <p:sp>
        <p:nvSpPr>
          <p:cNvPr id="57" name="Text 49"/>
          <p:cNvSpPr txBox="1"/>
          <p:nvPr/>
        </p:nvSpPr>
        <p:spPr>
          <a:xfrm>
            <a:off x="8814816" y="5715000"/>
            <a:ext cx="429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4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56 px</a:t>
            </a:r>
            <a:endParaRPr lang="en-US" sz="7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56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352544" y="256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Gráficos e iconografía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9674352" y="25603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4048" y="1115568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Datos e</a:t>
            </a:r>
            <a:endParaRPr lang="en-US" sz="29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iconografía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384048" y="2231136"/>
            <a:ext cx="2788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visualización debe explicar, no ornamentar. Para una sola serie se usa morado + neutros; la paleta completa aparece solo cuando existen categorías distintas.</a:t>
            </a:r>
            <a:endParaRPr lang="en-US" sz="1240" dirty="0"/>
          </a:p>
        </p:txBody>
      </p:sp>
      <p:sp>
        <p:nvSpPr>
          <p:cNvPr id="7" name="Text 5"/>
          <p:cNvSpPr txBox="1"/>
          <p:nvPr/>
        </p:nvSpPr>
        <p:spPr>
          <a:xfrm>
            <a:off x="3703320" y="107899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10" kern="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PALETA DE SERIES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703320" y="1444752"/>
            <a:ext cx="228600" cy="2286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05072" y="144475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Purple</a:t>
            </a:r>
            <a:endParaRPr lang="en-US" sz="810" dirty="0"/>
          </a:p>
        </p:txBody>
      </p:sp>
      <p:sp>
        <p:nvSpPr>
          <p:cNvPr id="10" name="Text 8"/>
          <p:cNvSpPr txBox="1"/>
          <p:nvPr/>
        </p:nvSpPr>
        <p:spPr>
          <a:xfrm>
            <a:off x="4005072" y="167335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#6D28D9</a:t>
            </a:r>
            <a:endParaRPr lang="en-US" sz="670" dirty="0"/>
          </a:p>
        </p:txBody>
      </p:sp>
      <p:sp>
        <p:nvSpPr>
          <p:cNvPr id="11" name="Shape 9"/>
          <p:cNvSpPr/>
          <p:nvPr/>
        </p:nvSpPr>
        <p:spPr>
          <a:xfrm>
            <a:off x="4727448" y="1444752"/>
            <a:ext cx="228600" cy="2286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144475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</a:t>
            </a:r>
            <a:endParaRPr lang="en-US" sz="81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167335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#2563EB</a:t>
            </a:r>
            <a:endParaRPr lang="en-US" sz="670" dirty="0"/>
          </a:p>
        </p:txBody>
      </p:sp>
      <p:sp>
        <p:nvSpPr>
          <p:cNvPr id="14" name="Shape 12"/>
          <p:cNvSpPr/>
          <p:nvPr/>
        </p:nvSpPr>
        <p:spPr>
          <a:xfrm>
            <a:off x="5751576" y="1444752"/>
            <a:ext cx="228600" cy="2286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53328" y="144475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Teal</a:t>
            </a:r>
            <a:endParaRPr lang="en-US" sz="810" dirty="0"/>
          </a:p>
        </p:txBody>
      </p:sp>
      <p:sp>
        <p:nvSpPr>
          <p:cNvPr id="16" name="Text 14"/>
          <p:cNvSpPr txBox="1"/>
          <p:nvPr/>
        </p:nvSpPr>
        <p:spPr>
          <a:xfrm>
            <a:off x="6053328" y="167335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#0F766E</a:t>
            </a:r>
            <a:endParaRPr lang="en-US" sz="670" dirty="0"/>
          </a:p>
        </p:txBody>
      </p:sp>
      <p:sp>
        <p:nvSpPr>
          <p:cNvPr id="17" name="Shape 15"/>
          <p:cNvSpPr/>
          <p:nvPr/>
        </p:nvSpPr>
        <p:spPr>
          <a:xfrm>
            <a:off x="6775704" y="1444752"/>
            <a:ext cx="228600" cy="22860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77456" y="144475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Orange</a:t>
            </a:r>
            <a:endParaRPr lang="en-US" sz="810" dirty="0"/>
          </a:p>
        </p:txBody>
      </p:sp>
      <p:sp>
        <p:nvSpPr>
          <p:cNvPr id="19" name="Text 17"/>
          <p:cNvSpPr txBox="1"/>
          <p:nvPr/>
        </p:nvSpPr>
        <p:spPr>
          <a:xfrm>
            <a:off x="7077456" y="167335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#C2410C</a:t>
            </a:r>
            <a:endParaRPr lang="en-US" sz="670" dirty="0"/>
          </a:p>
        </p:txBody>
      </p:sp>
      <p:sp>
        <p:nvSpPr>
          <p:cNvPr id="20" name="Shape 18"/>
          <p:cNvSpPr/>
          <p:nvPr/>
        </p:nvSpPr>
        <p:spPr>
          <a:xfrm>
            <a:off x="7799832" y="1444752"/>
            <a:ext cx="228600" cy="228600"/>
          </a:xfrm>
          <a:prstGeom prst="ellipse">
            <a:avLst/>
          </a:prstGeom>
          <a:solidFill>
            <a:srgbClr val="BE185D"/>
          </a:solidFill>
          <a:ln w="12700">
            <a:solidFill>
              <a:srgbClr val="BE185D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01584" y="144475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Pink</a:t>
            </a:r>
            <a:endParaRPr lang="en-US" sz="810" dirty="0"/>
          </a:p>
        </p:txBody>
      </p:sp>
      <p:sp>
        <p:nvSpPr>
          <p:cNvPr id="22" name="Text 20"/>
          <p:cNvSpPr txBox="1"/>
          <p:nvPr/>
        </p:nvSpPr>
        <p:spPr>
          <a:xfrm>
            <a:off x="8101584" y="167335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#BE185D</a:t>
            </a:r>
            <a:endParaRPr lang="en-US" sz="670" dirty="0"/>
          </a:p>
        </p:txBody>
      </p:sp>
      <p:sp>
        <p:nvSpPr>
          <p:cNvPr id="23" name="Shape 21"/>
          <p:cNvSpPr/>
          <p:nvPr/>
        </p:nvSpPr>
        <p:spPr>
          <a:xfrm>
            <a:off x="8823960" y="1444752"/>
            <a:ext cx="228600" cy="22860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25712" y="144475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Slate</a:t>
            </a:r>
            <a:endParaRPr lang="en-US" sz="810" dirty="0"/>
          </a:p>
        </p:txBody>
      </p:sp>
      <p:sp>
        <p:nvSpPr>
          <p:cNvPr id="25" name="Text 23"/>
          <p:cNvSpPr txBox="1"/>
          <p:nvPr/>
        </p:nvSpPr>
        <p:spPr>
          <a:xfrm>
            <a:off x="9125712" y="167335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#64748B</a:t>
            </a:r>
            <a:endParaRPr lang="en-US" sz="670" dirty="0"/>
          </a:p>
        </p:txBody>
      </p:sp>
      <p:sp>
        <p:nvSpPr>
          <p:cNvPr id="26" name="Shape 24"/>
          <p:cNvSpPr/>
          <p:nvPr/>
        </p:nvSpPr>
        <p:spPr>
          <a:xfrm>
            <a:off x="3703320" y="2130552"/>
            <a:ext cx="3977640" cy="224028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0160">
            <a:solidFill>
              <a:srgbClr val="ECE8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904488" y="234086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Ingresos por módulo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986784" y="2824124"/>
            <a:ext cx="320040" cy="1034644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913632" y="396849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</a:t>
            </a:r>
            <a:endParaRPr lang="en-US" sz="680" dirty="0"/>
          </a:p>
        </p:txBody>
      </p:sp>
      <p:sp>
        <p:nvSpPr>
          <p:cNvPr id="30" name="Shape 28"/>
          <p:cNvSpPr/>
          <p:nvPr/>
        </p:nvSpPr>
        <p:spPr>
          <a:xfrm>
            <a:off x="4599432" y="3178454"/>
            <a:ext cx="320040" cy="680314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26280" y="396849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Ops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5212080" y="2980030"/>
            <a:ext cx="320040" cy="878738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138928" y="396849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5824728" y="3376879"/>
            <a:ext cx="320040" cy="481889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 w="12700">
            <a:solidFill>
              <a:srgbClr val="C2410C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751576" y="396849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6437376" y="3121762"/>
            <a:ext cx="320040" cy="737006"/>
          </a:xfrm>
          <a:prstGeom prst="roundRect">
            <a:avLst>
              <a:gd name="adj" fmla="val 20000"/>
            </a:avLst>
          </a:prstGeom>
          <a:solidFill>
            <a:srgbClr val="BE185D"/>
          </a:solidFill>
          <a:ln w="12700">
            <a:solidFill>
              <a:srgbClr val="BE185D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64224" y="396849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</a:t>
            </a:r>
            <a:endParaRPr lang="en-US" sz="680" dirty="0"/>
          </a:p>
        </p:txBody>
      </p:sp>
      <p:sp>
        <p:nvSpPr>
          <p:cNvPr id="38" name="Text 36"/>
          <p:cNvSpPr txBox="1"/>
          <p:nvPr/>
        </p:nvSpPr>
        <p:spPr>
          <a:xfrm>
            <a:off x="6455664" y="262432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6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label + valor</a:t>
            </a:r>
            <a:endParaRPr lang="en-US" sz="760" dirty="0"/>
          </a:p>
        </p:txBody>
      </p:sp>
      <p:sp>
        <p:nvSpPr>
          <p:cNvPr id="39" name="Text 37"/>
          <p:cNvSpPr txBox="1"/>
          <p:nvPr/>
        </p:nvSpPr>
        <p:spPr>
          <a:xfrm>
            <a:off x="6601968" y="288036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D28D9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42%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537960" y="3310128"/>
            <a:ext cx="731520" cy="0"/>
          </a:xfrm>
          <a:prstGeom prst="line">
            <a:avLst/>
          </a:prstGeom>
          <a:noFill/>
          <a:ln w="17780">
            <a:solidFill>
              <a:srgbClr val="6D28D9"/>
            </a:solidFill>
            <a:prstDash val="solid"/>
            <a:headEnd type="none"/>
            <a:tailEnd type="none"/>
          </a:ln>
        </p:spPr>
      </p:sp>
      <p:sp>
        <p:nvSpPr>
          <p:cNvPr id="41" name="Text 39"/>
          <p:cNvSpPr txBox="1"/>
          <p:nvPr/>
        </p:nvSpPr>
        <p:spPr>
          <a:xfrm>
            <a:off x="6601968" y="3429000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1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Objetivo</a:t>
            </a:r>
            <a:endParaRPr lang="en-US" sz="710" dirty="0"/>
          </a:p>
        </p:txBody>
      </p:sp>
      <p:sp>
        <p:nvSpPr>
          <p:cNvPr id="42" name="Shape 40"/>
          <p:cNvSpPr/>
          <p:nvPr/>
        </p:nvSpPr>
        <p:spPr>
          <a:xfrm>
            <a:off x="7936992" y="2130552"/>
            <a:ext cx="2212848" cy="2240280"/>
          </a:xfrm>
          <a:prstGeom prst="roundRect">
            <a:avLst>
              <a:gd name="adj" fmla="val 6198"/>
            </a:avLst>
          </a:prstGeom>
          <a:solidFill>
            <a:srgbClr val="0E0B14"/>
          </a:solidFill>
          <a:ln w="8890">
            <a:solidFill>
              <a:srgbClr val="40364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156448" y="23500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10" kern="0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ICONOS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183880" y="2788920"/>
            <a:ext cx="384048" cy="384048"/>
          </a:xfrm>
          <a:prstGeom prst="ellipse">
            <a:avLst/>
          </a:prstGeom>
          <a:solidFill>
            <a:srgbClr val="21192C"/>
          </a:solidFill>
          <a:ln w="12700">
            <a:solidFill>
              <a:srgbClr val="21192C">
                <a:alpha val="0"/>
              </a:srgbClr>
            </a:solidFill>
            <a:prstDash val="solid"/>
          </a:ln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79892" y="2884932"/>
            <a:ext cx="192024" cy="192024"/>
          </a:xfrm>
          <a:prstGeom prst="rect">
            <a:avLst/>
          </a:prstGeom>
        </p:spPr>
      </p:pic>
      <p:sp>
        <p:nvSpPr>
          <p:cNvPr id="46" name="Shape 43"/>
          <p:cNvSpPr/>
          <p:nvPr/>
        </p:nvSpPr>
        <p:spPr>
          <a:xfrm>
            <a:off x="8805672" y="2788920"/>
            <a:ext cx="384048" cy="384048"/>
          </a:xfrm>
          <a:prstGeom prst="ellipse">
            <a:avLst/>
          </a:prstGeom>
          <a:solidFill>
            <a:srgbClr val="21192C"/>
          </a:solidFill>
          <a:ln w="12700">
            <a:solidFill>
              <a:srgbClr val="21192C">
                <a:alpha val="0"/>
              </a:srgbClr>
            </a:solidFill>
            <a:prstDash val="solid"/>
          </a:ln>
        </p:spPr>
      </p:sp>
      <p:pic>
        <p:nvPicPr>
          <p:cNvPr id="4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01684" y="2884932"/>
            <a:ext cx="192024" cy="192024"/>
          </a:xfrm>
          <a:prstGeom prst="rect">
            <a:avLst/>
          </a:prstGeom>
        </p:spPr>
      </p:pic>
      <p:sp>
        <p:nvSpPr>
          <p:cNvPr id="48" name="Shape 44"/>
          <p:cNvSpPr/>
          <p:nvPr/>
        </p:nvSpPr>
        <p:spPr>
          <a:xfrm>
            <a:off x="9427464" y="2788920"/>
            <a:ext cx="384048" cy="384048"/>
          </a:xfrm>
          <a:prstGeom prst="ellipse">
            <a:avLst/>
          </a:prstGeom>
          <a:solidFill>
            <a:srgbClr val="21192C"/>
          </a:solidFill>
          <a:ln w="12700">
            <a:solidFill>
              <a:srgbClr val="21192C">
                <a:alpha val="0"/>
              </a:srgbClr>
            </a:solidFill>
            <a:prstDash val="solid"/>
          </a:ln>
        </p:spPr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3476" y="2884932"/>
            <a:ext cx="192024" cy="192024"/>
          </a:xfrm>
          <a:prstGeom prst="rect">
            <a:avLst/>
          </a:prstGeom>
        </p:spPr>
      </p:pic>
      <p:sp>
        <p:nvSpPr>
          <p:cNvPr id="50" name="Shape 45"/>
          <p:cNvSpPr/>
          <p:nvPr/>
        </p:nvSpPr>
        <p:spPr>
          <a:xfrm>
            <a:off x="8183880" y="3429000"/>
            <a:ext cx="384048" cy="384048"/>
          </a:xfrm>
          <a:prstGeom prst="ellipse">
            <a:avLst/>
          </a:prstGeom>
          <a:solidFill>
            <a:srgbClr val="21192C"/>
          </a:solidFill>
          <a:ln w="12700">
            <a:solidFill>
              <a:srgbClr val="21192C">
                <a:alpha val="0"/>
              </a:srgbClr>
            </a:solidFill>
            <a:prstDash val="solid"/>
          </a:ln>
        </p:spPr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9892" y="3525012"/>
            <a:ext cx="192024" cy="192024"/>
          </a:xfrm>
          <a:prstGeom prst="rect">
            <a:avLst/>
          </a:prstGeom>
        </p:spPr>
      </p:pic>
      <p:sp>
        <p:nvSpPr>
          <p:cNvPr id="52" name="Shape 46"/>
          <p:cNvSpPr/>
          <p:nvPr/>
        </p:nvSpPr>
        <p:spPr>
          <a:xfrm>
            <a:off x="8805672" y="3429000"/>
            <a:ext cx="384048" cy="384048"/>
          </a:xfrm>
          <a:prstGeom prst="ellipse">
            <a:avLst/>
          </a:prstGeom>
          <a:solidFill>
            <a:srgbClr val="21192C"/>
          </a:solidFill>
          <a:ln w="12700">
            <a:solidFill>
              <a:srgbClr val="21192C">
                <a:alpha val="0"/>
              </a:srgbClr>
            </a:solidFill>
            <a:prstDash val="solid"/>
          </a:ln>
        </p:spPr>
      </p:sp>
      <p:pic>
        <p:nvPicPr>
          <p:cNvPr id="5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01684" y="3525012"/>
            <a:ext cx="192024" cy="192024"/>
          </a:xfrm>
          <a:prstGeom prst="rect">
            <a:avLst/>
          </a:prstGeom>
        </p:spPr>
      </p:pic>
      <p:sp>
        <p:nvSpPr>
          <p:cNvPr id="54" name="Shape 47"/>
          <p:cNvSpPr/>
          <p:nvPr/>
        </p:nvSpPr>
        <p:spPr>
          <a:xfrm>
            <a:off x="9427464" y="3429000"/>
            <a:ext cx="384048" cy="384048"/>
          </a:xfrm>
          <a:prstGeom prst="ellipse">
            <a:avLst/>
          </a:prstGeom>
          <a:solidFill>
            <a:srgbClr val="21192C"/>
          </a:solidFill>
          <a:ln w="12700">
            <a:solidFill>
              <a:srgbClr val="21192C">
                <a:alpha val="0"/>
              </a:srgbClr>
            </a:solidFill>
            <a:prstDash val="solid"/>
          </a:ln>
        </p:spPr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523476" y="3525012"/>
            <a:ext cx="192024" cy="192024"/>
          </a:xfrm>
          <a:prstGeom prst="rect">
            <a:avLst/>
          </a:prstGeom>
        </p:spPr>
      </p:pic>
      <p:sp>
        <p:nvSpPr>
          <p:cNvPr id="56" name="Text 48"/>
          <p:cNvSpPr txBox="1"/>
          <p:nvPr/>
        </p:nvSpPr>
        <p:spPr>
          <a:xfrm>
            <a:off x="8156448" y="4105656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 20/24 px</a:t>
            </a:r>
            <a:endParaRPr lang="en-US" sz="8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Stroke 1,75 px</a:t>
            </a:r>
            <a:endParaRPr lang="en-US" sz="8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Caps redondeados</a:t>
            </a:r>
            <a:endParaRPr lang="en-US" sz="8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Relleno solo en selección</a:t>
            </a:r>
            <a:endParaRPr lang="en-US" sz="830" dirty="0"/>
          </a:p>
        </p:txBody>
      </p:sp>
      <p:sp>
        <p:nvSpPr>
          <p:cNvPr id="57" name="Shape 49"/>
          <p:cNvSpPr/>
          <p:nvPr/>
        </p:nvSpPr>
        <p:spPr>
          <a:xfrm>
            <a:off x="3703320" y="4709160"/>
            <a:ext cx="6446520" cy="1325880"/>
          </a:xfrm>
          <a:prstGeom prst="roundRect">
            <a:avLst>
              <a:gd name="adj" fmla="val 9655"/>
            </a:avLst>
          </a:prstGeom>
          <a:solidFill>
            <a:srgbClr val="F5F3FF"/>
          </a:solidFill>
          <a:ln w="10160">
            <a:solidFill>
              <a:srgbClr val="EDE9FE"/>
            </a:solidFill>
            <a:prstDash val="solid"/>
          </a:ln>
        </p:spPr>
      </p:sp>
      <p:sp>
        <p:nvSpPr>
          <p:cNvPr id="58" name="Text 50"/>
          <p:cNvSpPr txBox="1"/>
          <p:nvPr/>
        </p:nvSpPr>
        <p:spPr>
          <a:xfrm>
            <a:off x="3913632" y="49560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Reglas de lectura</a:t>
            </a:r>
            <a:endParaRPr lang="en-US" sz="880" dirty="0"/>
          </a:p>
        </p:txBody>
      </p:sp>
      <p:sp>
        <p:nvSpPr>
          <p:cNvPr id="59" name="Text 51"/>
          <p:cNvSpPr txBox="1"/>
          <p:nvPr/>
        </p:nvSpPr>
        <p:spPr>
          <a:xfrm>
            <a:off x="3913632" y="5285232"/>
            <a:ext cx="5779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Etiquetas directas · objetivos con línea discontinua · no usar color como único código · máximo 6 series · animación opcional y breve.</a:t>
            </a:r>
            <a:endParaRPr lang="en-US" sz="9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56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352544" y="256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Microinteracciones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9674352" y="25603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4048" y="1115568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Movimiento</a:t>
            </a:r>
            <a:endParaRPr lang="en-US" sz="29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 propósito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384048" y="2231136"/>
            <a:ext cx="2788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transiciones deben confirmar causa y efecto, no competir con el contenido. La respuesta visual empieza de inmediato y termina antes de que el usuario la perciba como espera.</a:t>
            </a:r>
            <a:endParaRPr lang="en-US" sz="1240" dirty="0"/>
          </a:p>
        </p:txBody>
      </p:sp>
      <p:sp>
        <p:nvSpPr>
          <p:cNvPr id="7" name="Text 5"/>
          <p:cNvSpPr txBox="1"/>
          <p:nvPr/>
        </p:nvSpPr>
        <p:spPr>
          <a:xfrm>
            <a:off x="3730752" y="107899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10" kern="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 TEMPORAL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3730752" y="148132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Press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626864" y="1499616"/>
            <a:ext cx="822960" cy="11887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74152" y="147218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 ms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3730752" y="2048256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Hover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626864" y="2066544"/>
            <a:ext cx="1097280" cy="118872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74152" y="203911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 ms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3730752" y="2615184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Tooltip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4626864" y="2633472"/>
            <a:ext cx="1463040" cy="11887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74152" y="260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160 ms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3730752" y="3182112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Panel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626864" y="3200400"/>
            <a:ext cx="2011680" cy="11887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74152" y="317296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220 ms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3730752" y="374904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Modal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4626864" y="3767328"/>
            <a:ext cx="2194560" cy="11887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74152" y="373989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240 ms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3730752" y="4315968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Skeleton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4626864" y="4334256"/>
            <a:ext cx="3200400" cy="118872"/>
          </a:xfrm>
          <a:prstGeom prst="roundRect">
            <a:avLst>
              <a:gd name="adj" fmla="val 50000"/>
            </a:avLst>
          </a:prstGeom>
          <a:solidFill>
            <a:srgbClr val="DDD6FE"/>
          </a:solidFill>
          <a:ln w="12700">
            <a:solidFill>
              <a:srgbClr val="DDD6FE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74152" y="430682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&gt;400 ms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730752" y="5102352"/>
            <a:ext cx="2852928" cy="1051560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0160">
            <a:solidFill>
              <a:srgbClr val="ECE8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931920" y="532180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Easing estándar</a:t>
            </a:r>
            <a:endParaRPr lang="en-US" sz="870" dirty="0"/>
          </a:p>
        </p:txBody>
      </p:sp>
      <p:sp>
        <p:nvSpPr>
          <p:cNvPr id="28" name="Text 26"/>
          <p:cNvSpPr txBox="1"/>
          <p:nvPr/>
        </p:nvSpPr>
        <p:spPr>
          <a:xfrm>
            <a:off x="3931920" y="565099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cubic-bezier(.2, 0, 0, 1)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830568" y="5102352"/>
            <a:ext cx="3328416" cy="1051560"/>
          </a:xfrm>
          <a:prstGeom prst="roundRect">
            <a:avLst>
              <a:gd name="adj" fmla="val 12174"/>
            </a:avLst>
          </a:prstGeom>
          <a:solidFill>
            <a:srgbClr val="0E0B14"/>
          </a:solidFill>
          <a:ln w="8890">
            <a:solidFill>
              <a:srgbClr val="40364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40880" y="532180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motion</a:t>
            </a:r>
            <a:endParaRPr lang="en-US" sz="870" dirty="0"/>
          </a:p>
        </p:txBody>
      </p:sp>
      <p:sp>
        <p:nvSpPr>
          <p:cNvPr id="31" name="Text 29"/>
          <p:cNvSpPr txBox="1"/>
          <p:nvPr/>
        </p:nvSpPr>
        <p:spPr>
          <a:xfrm>
            <a:off x="7040880" y="5632704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Sustituir desplazamiento por fade; sin parallax ni zoom.</a:t>
            </a:r>
            <a:endParaRPr lang="en-US" sz="920" dirty="0"/>
          </a:p>
        </p:txBody>
      </p:sp>
      <p:sp>
        <p:nvSpPr>
          <p:cNvPr id="32" name="Text 30"/>
          <p:cNvSpPr txBox="1"/>
          <p:nvPr/>
        </p:nvSpPr>
        <p:spPr>
          <a:xfrm>
            <a:off x="3730752" y="6419088"/>
            <a:ext cx="626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inmediato · optimistic UI con recuperación · skeleton a partir de 400 ms.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56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352544" y="256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Aplicación UI · Light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9674352" y="25603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Nexo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9875520" cy="6099048"/>
          </a:xfrm>
          <a:prstGeom prst="roundRect">
            <a:avLst>
              <a:gd name="adj" fmla="val 2699"/>
            </a:avLst>
          </a:prstGeom>
          <a:solidFill>
            <a:srgbClr val="F7F5FA"/>
          </a:solidFill>
          <a:ln w="8890">
            <a:solidFill>
              <a:srgbClr val="D8D2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115568"/>
            <a:ext cx="1572768" cy="5879592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8890">
            <a:solidFill>
              <a:srgbClr val="ECE8F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252728"/>
            <a:ext cx="420624" cy="4206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97864" y="12481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nexo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376" y="1938528"/>
            <a:ext cx="164592" cy="1645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69264" y="192481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Inicio</a:t>
            </a:r>
            <a:endParaRPr lang="en-US" sz="86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2376" y="2377440"/>
            <a:ext cx="164592" cy="16459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69264" y="236372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Contactos</a:t>
            </a:r>
            <a:endParaRPr lang="en-US" sz="860" dirty="0"/>
          </a:p>
        </p:txBody>
      </p:sp>
      <p:sp>
        <p:nvSpPr>
          <p:cNvPr id="13" name="Shape 8"/>
          <p:cNvSpPr/>
          <p:nvPr/>
        </p:nvSpPr>
        <p:spPr>
          <a:xfrm>
            <a:off x="630936" y="2752344"/>
            <a:ext cx="1344168" cy="347472"/>
          </a:xfrm>
          <a:prstGeom prst="roundRect">
            <a:avLst>
              <a:gd name="adj" fmla="val 23684"/>
            </a:avLst>
          </a:prstGeom>
          <a:solidFill>
            <a:srgbClr val="F5F3FF"/>
          </a:solidFill>
          <a:ln w="6350">
            <a:solidFill>
              <a:srgbClr val="EDE9FE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2376" y="2816352"/>
            <a:ext cx="164592" cy="16459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69264" y="280263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Ventas</a:t>
            </a:r>
            <a:endParaRPr lang="en-US" sz="86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2376" y="3255264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69264" y="324154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Actividad</a:t>
            </a:r>
            <a:endParaRPr lang="en-US" sz="86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2376" y="3694176"/>
            <a:ext cx="164592" cy="16459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969264" y="368046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Informes</a:t>
            </a:r>
            <a:endParaRPr lang="en-US" sz="860" dirty="0"/>
          </a:p>
        </p:txBody>
      </p:sp>
      <p:sp>
        <p:nvSpPr>
          <p:cNvPr id="20" name="Shape 12"/>
          <p:cNvSpPr/>
          <p:nvPr/>
        </p:nvSpPr>
        <p:spPr>
          <a:xfrm>
            <a:off x="667512" y="6117336"/>
            <a:ext cx="1280160" cy="0"/>
          </a:xfrm>
          <a:prstGeom prst="line">
            <a:avLst/>
          </a:prstGeom>
          <a:noFill/>
          <a:ln w="8890">
            <a:solidFill>
              <a:srgbClr val="ECE8F0"/>
            </a:solidFill>
            <a:prstDash val="solid"/>
            <a:headEnd type="none"/>
            <a:tailEnd type="none"/>
          </a:ln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22376" y="6318504"/>
            <a:ext cx="164592" cy="164592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969264" y="63047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Ajustes</a:t>
            </a:r>
            <a:endParaRPr lang="en-US" sz="860" dirty="0"/>
          </a:p>
        </p:txBody>
      </p:sp>
      <p:sp>
        <p:nvSpPr>
          <p:cNvPr id="23" name="Shape 14"/>
          <p:cNvSpPr/>
          <p:nvPr/>
        </p:nvSpPr>
        <p:spPr>
          <a:xfrm>
            <a:off x="694944" y="6684264"/>
            <a:ext cx="256032" cy="25603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24" name="Text 15"/>
          <p:cNvSpPr txBox="1"/>
          <p:nvPr/>
        </p:nvSpPr>
        <p:spPr>
          <a:xfrm>
            <a:off x="694944" y="6720840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</a:t>
            </a:r>
            <a:endParaRPr lang="en-US" sz="680" dirty="0"/>
          </a:p>
        </p:txBody>
      </p:sp>
      <p:sp>
        <p:nvSpPr>
          <p:cNvPr id="25" name="Text 16"/>
          <p:cNvSpPr txBox="1"/>
          <p:nvPr/>
        </p:nvSpPr>
        <p:spPr>
          <a:xfrm>
            <a:off x="1024128" y="667512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Jorge Olmo</a:t>
            </a:r>
            <a:endParaRPr lang="en-US" sz="830" dirty="0"/>
          </a:p>
        </p:txBody>
      </p:sp>
      <p:sp>
        <p:nvSpPr>
          <p:cNvPr id="26" name="Text 17"/>
          <p:cNvSpPr txBox="1"/>
          <p:nvPr/>
        </p:nvSpPr>
        <p:spPr>
          <a:xfrm>
            <a:off x="1024128" y="685800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</a:t>
            </a:r>
            <a:endParaRPr lang="en-US" sz="720" dirty="0"/>
          </a:p>
        </p:txBody>
      </p:sp>
      <p:sp>
        <p:nvSpPr>
          <p:cNvPr id="27" name="Text 18"/>
          <p:cNvSpPr txBox="1"/>
          <p:nvPr/>
        </p:nvSpPr>
        <p:spPr>
          <a:xfrm>
            <a:off x="2286000" y="12527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Panel de ventas</a:t>
            </a:r>
            <a:endParaRPr lang="en-US" sz="1750" dirty="0"/>
          </a:p>
        </p:txBody>
      </p:sp>
      <p:sp>
        <p:nvSpPr>
          <p:cNvPr id="28" name="Text 19"/>
          <p:cNvSpPr txBox="1"/>
          <p:nvPr/>
        </p:nvSpPr>
        <p:spPr>
          <a:xfrm>
            <a:off x="2286000" y="159105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Visión general del rendimiento comercial</a:t>
            </a:r>
            <a:endParaRPr lang="en-US" sz="860" dirty="0"/>
          </a:p>
        </p:txBody>
      </p:sp>
      <p:sp>
        <p:nvSpPr>
          <p:cNvPr id="29" name="Shape 20"/>
          <p:cNvSpPr/>
          <p:nvPr/>
        </p:nvSpPr>
        <p:spPr>
          <a:xfrm>
            <a:off x="7598664" y="1261872"/>
            <a:ext cx="141732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8890">
            <a:solidFill>
              <a:srgbClr val="ECE8F0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754112" y="1344168"/>
            <a:ext cx="137160" cy="13716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964424" y="1330452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827A8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Buscar…</a:t>
            </a:r>
            <a:endParaRPr lang="en-US" sz="830" dirty="0"/>
          </a:p>
        </p:txBody>
      </p:sp>
      <p:sp>
        <p:nvSpPr>
          <p:cNvPr id="32" name="Shape 22"/>
          <p:cNvSpPr/>
          <p:nvPr/>
        </p:nvSpPr>
        <p:spPr>
          <a:xfrm>
            <a:off x="9171432" y="1261872"/>
            <a:ext cx="914400" cy="347472"/>
          </a:xfrm>
          <a:prstGeom prst="roundRect">
            <a:avLst>
              <a:gd name="adj" fmla="val 26316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33" name="Text 23"/>
          <p:cNvSpPr txBox="1"/>
          <p:nvPr/>
        </p:nvSpPr>
        <p:spPr>
          <a:xfrm>
            <a:off x="9235440" y="1330452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Nueva</a:t>
            </a:r>
            <a:endParaRPr lang="en-US" sz="830" dirty="0"/>
          </a:p>
        </p:txBody>
      </p:sp>
      <p:sp>
        <p:nvSpPr>
          <p:cNvPr id="34" name="Shape 24"/>
          <p:cNvSpPr/>
          <p:nvPr/>
        </p:nvSpPr>
        <p:spPr>
          <a:xfrm>
            <a:off x="2286000" y="1975104"/>
            <a:ext cx="186766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CE8F0"/>
            </a:solidFill>
            <a:prstDash val="solid"/>
          </a:ln>
        </p:spPr>
      </p:sp>
      <p:sp>
        <p:nvSpPr>
          <p:cNvPr id="35" name="Text 25"/>
          <p:cNvSpPr txBox="1"/>
          <p:nvPr/>
        </p:nvSpPr>
        <p:spPr>
          <a:xfrm>
            <a:off x="2432304" y="2112264"/>
            <a:ext cx="15750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</a:t>
            </a:r>
            <a:endParaRPr lang="en-US" sz="870" dirty="0"/>
          </a:p>
        </p:txBody>
      </p:sp>
      <p:sp>
        <p:nvSpPr>
          <p:cNvPr id="36" name="Text 26"/>
          <p:cNvSpPr txBox="1"/>
          <p:nvPr/>
        </p:nvSpPr>
        <p:spPr>
          <a:xfrm>
            <a:off x="2432304" y="2331720"/>
            <a:ext cx="15750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124.500 €</a:t>
            </a:r>
            <a:endParaRPr lang="en-US" sz="1800" dirty="0"/>
          </a:p>
        </p:txBody>
      </p:sp>
      <p:sp>
        <p:nvSpPr>
          <p:cNvPr id="37" name="Shape 27"/>
          <p:cNvSpPr/>
          <p:nvPr/>
        </p:nvSpPr>
        <p:spPr>
          <a:xfrm>
            <a:off x="2432304" y="2633472"/>
            <a:ext cx="585216" cy="201168"/>
          </a:xfrm>
          <a:prstGeom prst="roundRect">
            <a:avLst>
              <a:gd name="adj" fmla="val 68182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38" name="Text 28"/>
          <p:cNvSpPr txBox="1"/>
          <p:nvPr/>
        </p:nvSpPr>
        <p:spPr>
          <a:xfrm>
            <a:off x="2505456" y="2647188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+12,4%</a:t>
            </a:r>
            <a:endParaRPr lang="en-US" sz="760" dirty="0"/>
          </a:p>
        </p:txBody>
      </p:sp>
      <p:sp>
        <p:nvSpPr>
          <p:cNvPr id="39" name="Shape 29"/>
          <p:cNvSpPr/>
          <p:nvPr/>
        </p:nvSpPr>
        <p:spPr>
          <a:xfrm>
            <a:off x="4263390" y="1975104"/>
            <a:ext cx="186766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CE8F0"/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4409694" y="2112264"/>
            <a:ext cx="15750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CONVERSIÓN</a:t>
            </a:r>
            <a:endParaRPr lang="en-US" sz="870" dirty="0"/>
          </a:p>
        </p:txBody>
      </p:sp>
      <p:sp>
        <p:nvSpPr>
          <p:cNvPr id="41" name="Text 31"/>
          <p:cNvSpPr txBox="1"/>
          <p:nvPr/>
        </p:nvSpPr>
        <p:spPr>
          <a:xfrm>
            <a:off x="4409694" y="2331720"/>
            <a:ext cx="15750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31,4%</a:t>
            </a:r>
            <a:endParaRPr lang="en-US" sz="1800" dirty="0"/>
          </a:p>
        </p:txBody>
      </p:sp>
      <p:sp>
        <p:nvSpPr>
          <p:cNvPr id="42" name="Shape 32"/>
          <p:cNvSpPr/>
          <p:nvPr/>
        </p:nvSpPr>
        <p:spPr>
          <a:xfrm>
            <a:off x="4409694" y="2633472"/>
            <a:ext cx="585216" cy="201168"/>
          </a:xfrm>
          <a:prstGeom prst="roundRect">
            <a:avLst>
              <a:gd name="adj" fmla="val 68182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4482846" y="2647188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+3,8%</a:t>
            </a:r>
            <a:endParaRPr lang="en-US" sz="760" dirty="0"/>
          </a:p>
        </p:txBody>
      </p:sp>
      <p:sp>
        <p:nvSpPr>
          <p:cNvPr id="44" name="Shape 34"/>
          <p:cNvSpPr/>
          <p:nvPr/>
        </p:nvSpPr>
        <p:spPr>
          <a:xfrm>
            <a:off x="6240780" y="1975104"/>
            <a:ext cx="186766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CE8F0"/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6387084" y="2112264"/>
            <a:ext cx="15750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CICLO MEDIO</a:t>
            </a:r>
            <a:endParaRPr lang="en-US" sz="870" dirty="0"/>
          </a:p>
        </p:txBody>
      </p:sp>
      <p:sp>
        <p:nvSpPr>
          <p:cNvPr id="46" name="Text 36"/>
          <p:cNvSpPr txBox="1"/>
          <p:nvPr/>
        </p:nvSpPr>
        <p:spPr>
          <a:xfrm>
            <a:off x="6387084" y="2331720"/>
            <a:ext cx="15750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24 días</a:t>
            </a:r>
            <a:endParaRPr lang="en-US" sz="1800" dirty="0"/>
          </a:p>
        </p:txBody>
      </p:sp>
      <p:sp>
        <p:nvSpPr>
          <p:cNvPr id="47" name="Shape 37"/>
          <p:cNvSpPr/>
          <p:nvPr/>
        </p:nvSpPr>
        <p:spPr>
          <a:xfrm>
            <a:off x="6387084" y="2633472"/>
            <a:ext cx="585216" cy="201168"/>
          </a:xfrm>
          <a:prstGeom prst="roundRect">
            <a:avLst>
              <a:gd name="adj" fmla="val 68182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48" name="Text 38"/>
          <p:cNvSpPr txBox="1"/>
          <p:nvPr/>
        </p:nvSpPr>
        <p:spPr>
          <a:xfrm>
            <a:off x="6460236" y="2647188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 días</a:t>
            </a:r>
            <a:endParaRPr lang="en-US" sz="760" dirty="0"/>
          </a:p>
        </p:txBody>
      </p:sp>
      <p:sp>
        <p:nvSpPr>
          <p:cNvPr id="49" name="Shape 39"/>
          <p:cNvSpPr/>
          <p:nvPr/>
        </p:nvSpPr>
        <p:spPr>
          <a:xfrm>
            <a:off x="8218170" y="1975104"/>
            <a:ext cx="186766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ECE8F0"/>
            </a:solidFill>
            <a:prstDash val="solid"/>
          </a:ln>
        </p:spPr>
      </p:sp>
      <p:sp>
        <p:nvSpPr>
          <p:cNvPr id="50" name="Text 40"/>
          <p:cNvSpPr txBox="1"/>
          <p:nvPr/>
        </p:nvSpPr>
        <p:spPr>
          <a:xfrm>
            <a:off x="8364474" y="2112264"/>
            <a:ext cx="15750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ACTIVIDAD</a:t>
            </a:r>
            <a:endParaRPr lang="en-US" sz="870" dirty="0"/>
          </a:p>
        </p:txBody>
      </p:sp>
      <p:sp>
        <p:nvSpPr>
          <p:cNvPr id="51" name="Text 41"/>
          <p:cNvSpPr txBox="1"/>
          <p:nvPr/>
        </p:nvSpPr>
        <p:spPr>
          <a:xfrm>
            <a:off x="8364474" y="2331720"/>
            <a:ext cx="15750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87%</a:t>
            </a:r>
            <a:endParaRPr lang="en-US" sz="1800" dirty="0"/>
          </a:p>
        </p:txBody>
      </p:sp>
      <p:sp>
        <p:nvSpPr>
          <p:cNvPr id="52" name="Shape 42"/>
          <p:cNvSpPr/>
          <p:nvPr/>
        </p:nvSpPr>
        <p:spPr>
          <a:xfrm>
            <a:off x="8364474" y="2633472"/>
            <a:ext cx="585216" cy="201168"/>
          </a:xfrm>
          <a:prstGeom prst="roundRect">
            <a:avLst>
              <a:gd name="adj" fmla="val 68182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53" name="Text 43"/>
          <p:cNvSpPr txBox="1"/>
          <p:nvPr/>
        </p:nvSpPr>
        <p:spPr>
          <a:xfrm>
            <a:off x="8437626" y="2647188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+6,1%</a:t>
            </a:r>
            <a:endParaRPr lang="en-US" sz="760" dirty="0"/>
          </a:p>
        </p:txBody>
      </p:sp>
      <p:sp>
        <p:nvSpPr>
          <p:cNvPr id="54" name="Shape 44"/>
          <p:cNvSpPr/>
          <p:nvPr/>
        </p:nvSpPr>
        <p:spPr>
          <a:xfrm>
            <a:off x="2286000" y="3054096"/>
            <a:ext cx="4757898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8890">
            <a:solidFill>
              <a:srgbClr val="ECE8F0"/>
            </a:solidFill>
            <a:prstDash val="solid"/>
          </a:ln>
        </p:spPr>
      </p:sp>
      <p:sp>
        <p:nvSpPr>
          <p:cNvPr id="55" name="Text 45"/>
          <p:cNvSpPr txBox="1"/>
          <p:nvPr/>
        </p:nvSpPr>
        <p:spPr>
          <a:xfrm>
            <a:off x="2450592" y="32004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Ingresos previstos</a:t>
            </a:r>
            <a:endParaRPr lang="en-US" sz="940" dirty="0"/>
          </a:p>
        </p:txBody>
      </p:sp>
      <p:sp>
        <p:nvSpPr>
          <p:cNvPr id="56" name="Text 46"/>
          <p:cNvSpPr txBox="1"/>
          <p:nvPr/>
        </p:nvSpPr>
        <p:spPr>
          <a:xfrm>
            <a:off x="5809458" y="32004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Últimos 8 meses</a:t>
            </a:r>
            <a:endParaRPr lang="en-US" sz="780" dirty="0"/>
          </a:p>
        </p:txBody>
      </p:sp>
      <p:sp>
        <p:nvSpPr>
          <p:cNvPr id="57" name="Shape 47"/>
          <p:cNvSpPr/>
          <p:nvPr/>
        </p:nvSpPr>
        <p:spPr>
          <a:xfrm>
            <a:off x="2596896" y="3584448"/>
            <a:ext cx="4163538" cy="0"/>
          </a:xfrm>
          <a:prstGeom prst="line">
            <a:avLst/>
          </a:prstGeom>
          <a:noFill/>
          <a:ln w="6350">
            <a:solidFill>
              <a:srgbClr val="ECE8F0"/>
            </a:solidFill>
            <a:prstDash val="solid"/>
            <a:headEnd type="none"/>
            <a:tailEnd type="none"/>
          </a:ln>
        </p:spPr>
      </p:sp>
      <p:sp>
        <p:nvSpPr>
          <p:cNvPr id="58" name="Shape 48"/>
          <p:cNvSpPr/>
          <p:nvPr/>
        </p:nvSpPr>
        <p:spPr>
          <a:xfrm>
            <a:off x="2596896" y="3931920"/>
            <a:ext cx="4163538" cy="0"/>
          </a:xfrm>
          <a:prstGeom prst="line">
            <a:avLst/>
          </a:prstGeom>
          <a:noFill/>
          <a:ln w="6350">
            <a:solidFill>
              <a:srgbClr val="ECE8F0"/>
            </a:solidFill>
            <a:prstDash val="solid"/>
            <a:headEnd type="none"/>
            <a:tailEnd type="none"/>
          </a:ln>
        </p:spPr>
      </p:sp>
      <p:sp>
        <p:nvSpPr>
          <p:cNvPr id="59" name="Shape 49"/>
          <p:cNvSpPr/>
          <p:nvPr/>
        </p:nvSpPr>
        <p:spPr>
          <a:xfrm>
            <a:off x="2596896" y="4279392"/>
            <a:ext cx="4163538" cy="0"/>
          </a:xfrm>
          <a:prstGeom prst="line">
            <a:avLst/>
          </a:prstGeom>
          <a:noFill/>
          <a:ln w="6350">
            <a:solidFill>
              <a:srgbClr val="ECE8F0"/>
            </a:solidFill>
            <a:prstDash val="solid"/>
            <a:headEnd type="none"/>
            <a:tailEnd type="none"/>
          </a:ln>
        </p:spPr>
      </p:sp>
      <p:sp>
        <p:nvSpPr>
          <p:cNvPr id="60" name="Shape 50"/>
          <p:cNvSpPr/>
          <p:nvPr/>
        </p:nvSpPr>
        <p:spPr>
          <a:xfrm>
            <a:off x="2596896" y="4626864"/>
            <a:ext cx="4163538" cy="0"/>
          </a:xfrm>
          <a:prstGeom prst="line">
            <a:avLst/>
          </a:prstGeom>
          <a:noFill/>
          <a:ln w="6350">
            <a:solidFill>
              <a:srgbClr val="ECE8F0"/>
            </a:solidFill>
            <a:prstDash val="solid"/>
            <a:headEnd type="none"/>
            <a:tailEnd type="none"/>
          </a:ln>
        </p:spPr>
      </p:sp>
      <p:sp>
        <p:nvSpPr>
          <p:cNvPr id="61" name="Shape 51"/>
          <p:cNvSpPr/>
          <p:nvPr/>
        </p:nvSpPr>
        <p:spPr>
          <a:xfrm>
            <a:off x="2596896" y="4397532"/>
            <a:ext cx="499625" cy="-145938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headEnd type="none"/>
            <a:tailEnd type="none"/>
          </a:ln>
        </p:spPr>
      </p:sp>
      <p:sp>
        <p:nvSpPr>
          <p:cNvPr id="62" name="Shape 52"/>
          <p:cNvSpPr/>
          <p:nvPr/>
        </p:nvSpPr>
        <p:spPr>
          <a:xfrm>
            <a:off x="3096521" y="4251594"/>
            <a:ext cx="457989" cy="62545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headEnd type="none"/>
            <a:tailEnd type="none"/>
          </a:ln>
        </p:spPr>
      </p:sp>
      <p:sp>
        <p:nvSpPr>
          <p:cNvPr id="63" name="Shape 53"/>
          <p:cNvSpPr/>
          <p:nvPr/>
        </p:nvSpPr>
        <p:spPr>
          <a:xfrm>
            <a:off x="3554510" y="4314139"/>
            <a:ext cx="541260" cy="-250180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headEnd type="none"/>
            <a:tailEnd type="none"/>
          </a:ln>
        </p:spPr>
      </p:sp>
      <p:sp>
        <p:nvSpPr>
          <p:cNvPr id="64" name="Shape 54"/>
          <p:cNvSpPr/>
          <p:nvPr/>
        </p:nvSpPr>
        <p:spPr>
          <a:xfrm>
            <a:off x="4095770" y="4063959"/>
            <a:ext cx="499625" cy="62545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headEnd type="none"/>
            <a:tailEnd type="none"/>
          </a:ln>
        </p:spPr>
      </p:sp>
      <p:sp>
        <p:nvSpPr>
          <p:cNvPr id="65" name="Shape 55"/>
          <p:cNvSpPr/>
          <p:nvPr/>
        </p:nvSpPr>
        <p:spPr>
          <a:xfrm>
            <a:off x="4595394" y="4126504"/>
            <a:ext cx="541260" cy="-208483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headEnd type="none"/>
            <a:tailEnd type="none"/>
          </a:ln>
        </p:spPr>
      </p:sp>
      <p:sp>
        <p:nvSpPr>
          <p:cNvPr id="66" name="Shape 56"/>
          <p:cNvSpPr/>
          <p:nvPr/>
        </p:nvSpPr>
        <p:spPr>
          <a:xfrm>
            <a:off x="5136654" y="3918021"/>
            <a:ext cx="541260" cy="83393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headEnd type="none"/>
            <a:tailEnd type="none"/>
          </a:ln>
        </p:spPr>
      </p:sp>
      <p:sp>
        <p:nvSpPr>
          <p:cNvPr id="67" name="Shape 57"/>
          <p:cNvSpPr/>
          <p:nvPr/>
        </p:nvSpPr>
        <p:spPr>
          <a:xfrm>
            <a:off x="5677914" y="4001414"/>
            <a:ext cx="499625" cy="-229332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headEnd type="none"/>
            <a:tailEnd type="none"/>
          </a:ln>
        </p:spPr>
      </p:sp>
      <p:sp>
        <p:nvSpPr>
          <p:cNvPr id="68" name="Shape 58"/>
          <p:cNvSpPr/>
          <p:nvPr/>
        </p:nvSpPr>
        <p:spPr>
          <a:xfrm>
            <a:off x="6177538" y="3772083"/>
            <a:ext cx="582895" cy="62545"/>
          </a:xfrm>
          <a:prstGeom prst="line">
            <a:avLst/>
          </a:prstGeom>
          <a:noFill/>
          <a:ln w="25400">
            <a:solidFill>
              <a:srgbClr val="6D28D9"/>
            </a:solidFill>
            <a:prstDash val="solid"/>
            <a:headEnd type="none"/>
            <a:tailEnd type="none"/>
          </a:ln>
        </p:spPr>
      </p:sp>
      <p:sp>
        <p:nvSpPr>
          <p:cNvPr id="69" name="Shape 59"/>
          <p:cNvSpPr/>
          <p:nvPr/>
        </p:nvSpPr>
        <p:spPr>
          <a:xfrm>
            <a:off x="2564892" y="4365528"/>
            <a:ext cx="64008" cy="6400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70" name="Shape 60"/>
          <p:cNvSpPr/>
          <p:nvPr/>
        </p:nvSpPr>
        <p:spPr>
          <a:xfrm>
            <a:off x="3064517" y="4219590"/>
            <a:ext cx="64008" cy="6400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71" name="Shape 61"/>
          <p:cNvSpPr/>
          <p:nvPr/>
        </p:nvSpPr>
        <p:spPr>
          <a:xfrm>
            <a:off x="3522506" y="4282135"/>
            <a:ext cx="64008" cy="6400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72" name="Shape 62"/>
          <p:cNvSpPr/>
          <p:nvPr/>
        </p:nvSpPr>
        <p:spPr>
          <a:xfrm>
            <a:off x="4063766" y="4031955"/>
            <a:ext cx="64008" cy="6400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73" name="Shape 63"/>
          <p:cNvSpPr/>
          <p:nvPr/>
        </p:nvSpPr>
        <p:spPr>
          <a:xfrm>
            <a:off x="4563390" y="4094500"/>
            <a:ext cx="64008" cy="6400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74" name="Shape 64"/>
          <p:cNvSpPr/>
          <p:nvPr/>
        </p:nvSpPr>
        <p:spPr>
          <a:xfrm>
            <a:off x="5104650" y="3886017"/>
            <a:ext cx="64008" cy="6400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75" name="Shape 65"/>
          <p:cNvSpPr/>
          <p:nvPr/>
        </p:nvSpPr>
        <p:spPr>
          <a:xfrm>
            <a:off x="5645910" y="3969410"/>
            <a:ext cx="64008" cy="6400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76" name="Shape 66"/>
          <p:cNvSpPr/>
          <p:nvPr/>
        </p:nvSpPr>
        <p:spPr>
          <a:xfrm>
            <a:off x="6145534" y="3740079"/>
            <a:ext cx="64008" cy="6400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77" name="Shape 67"/>
          <p:cNvSpPr/>
          <p:nvPr/>
        </p:nvSpPr>
        <p:spPr>
          <a:xfrm>
            <a:off x="6728430" y="3802624"/>
            <a:ext cx="64008" cy="6400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78" name="Text 68"/>
          <p:cNvSpPr txBox="1"/>
          <p:nvPr/>
        </p:nvSpPr>
        <p:spPr>
          <a:xfrm>
            <a:off x="2560320" y="469087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</a:t>
            </a:r>
            <a:endParaRPr lang="en-US" sz="670" dirty="0"/>
          </a:p>
        </p:txBody>
      </p:sp>
      <p:sp>
        <p:nvSpPr>
          <p:cNvPr id="79" name="Text 69"/>
          <p:cNvSpPr txBox="1"/>
          <p:nvPr/>
        </p:nvSpPr>
        <p:spPr>
          <a:xfrm>
            <a:off x="6513546" y="469087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7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OCT</a:t>
            </a:r>
            <a:endParaRPr lang="en-US" sz="670" dirty="0"/>
          </a:p>
        </p:txBody>
      </p:sp>
      <p:sp>
        <p:nvSpPr>
          <p:cNvPr id="80" name="Shape 70"/>
          <p:cNvSpPr/>
          <p:nvPr/>
        </p:nvSpPr>
        <p:spPr>
          <a:xfrm>
            <a:off x="7171914" y="3054096"/>
            <a:ext cx="2913918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8890">
            <a:solidFill>
              <a:srgbClr val="ECE8F0"/>
            </a:solidFill>
            <a:prstDash val="solid"/>
          </a:ln>
        </p:spPr>
      </p:sp>
      <p:sp>
        <p:nvSpPr>
          <p:cNvPr id="81" name="Text 71"/>
          <p:cNvSpPr txBox="1"/>
          <p:nvPr/>
        </p:nvSpPr>
        <p:spPr>
          <a:xfrm>
            <a:off x="7336506" y="3200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Actividad</a:t>
            </a:r>
            <a:endParaRPr lang="en-US" sz="940" dirty="0"/>
          </a:p>
        </p:txBody>
      </p:sp>
      <p:sp>
        <p:nvSpPr>
          <p:cNvPr id="82" name="Shape 72"/>
          <p:cNvSpPr/>
          <p:nvPr/>
        </p:nvSpPr>
        <p:spPr>
          <a:xfrm>
            <a:off x="7336506" y="3566160"/>
            <a:ext cx="256032" cy="256032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pic>
        <p:nvPicPr>
          <p:cNvPr id="8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386798" y="3616452"/>
            <a:ext cx="155448" cy="155448"/>
          </a:xfrm>
          <a:prstGeom prst="rect">
            <a:avLst/>
          </a:prstGeom>
        </p:spPr>
      </p:pic>
      <p:sp>
        <p:nvSpPr>
          <p:cNvPr id="84" name="Text 73"/>
          <p:cNvSpPr txBox="1"/>
          <p:nvPr/>
        </p:nvSpPr>
        <p:spPr>
          <a:xfrm>
            <a:off x="7683978" y="3557016"/>
            <a:ext cx="225555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enviado</a:t>
            </a:r>
            <a:endParaRPr lang="en-US" sz="790" dirty="0"/>
          </a:p>
        </p:txBody>
      </p:sp>
      <p:sp>
        <p:nvSpPr>
          <p:cNvPr id="85" name="Text 74"/>
          <p:cNvSpPr txBox="1"/>
          <p:nvPr/>
        </p:nvSpPr>
        <p:spPr>
          <a:xfrm>
            <a:off x="7683978" y="3712464"/>
            <a:ext cx="22555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Digital</a:t>
            </a:r>
            <a:endParaRPr lang="en-US" sz="720" dirty="0"/>
          </a:p>
        </p:txBody>
      </p:sp>
      <p:sp>
        <p:nvSpPr>
          <p:cNvPr id="86" name="Text 75"/>
          <p:cNvSpPr txBox="1"/>
          <p:nvPr/>
        </p:nvSpPr>
        <p:spPr>
          <a:xfrm>
            <a:off x="7683978" y="3840480"/>
            <a:ext cx="225555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Hace 18 min</a:t>
            </a:r>
            <a:endParaRPr lang="en-US" sz="650" dirty="0"/>
          </a:p>
        </p:txBody>
      </p:sp>
      <p:sp>
        <p:nvSpPr>
          <p:cNvPr id="87" name="Shape 76"/>
          <p:cNvSpPr/>
          <p:nvPr/>
        </p:nvSpPr>
        <p:spPr>
          <a:xfrm>
            <a:off x="7336506" y="3995928"/>
            <a:ext cx="256032" cy="256032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pic>
        <p:nvPicPr>
          <p:cNvPr id="88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386798" y="4046220"/>
            <a:ext cx="155448" cy="155448"/>
          </a:xfrm>
          <a:prstGeom prst="rect">
            <a:avLst/>
          </a:prstGeom>
        </p:spPr>
      </p:pic>
      <p:sp>
        <p:nvSpPr>
          <p:cNvPr id="89" name="Text 77"/>
          <p:cNvSpPr txBox="1"/>
          <p:nvPr/>
        </p:nvSpPr>
        <p:spPr>
          <a:xfrm>
            <a:off x="7683978" y="3986784"/>
            <a:ext cx="225555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agendada</a:t>
            </a:r>
            <a:endParaRPr lang="en-US" sz="790" dirty="0"/>
          </a:p>
        </p:txBody>
      </p:sp>
      <p:sp>
        <p:nvSpPr>
          <p:cNvPr id="90" name="Text 78"/>
          <p:cNvSpPr txBox="1"/>
          <p:nvPr/>
        </p:nvSpPr>
        <p:spPr>
          <a:xfrm>
            <a:off x="7683978" y="4142232"/>
            <a:ext cx="22555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 Studio</a:t>
            </a:r>
            <a:endParaRPr lang="en-US" sz="720" dirty="0"/>
          </a:p>
        </p:txBody>
      </p:sp>
      <p:sp>
        <p:nvSpPr>
          <p:cNvPr id="91" name="Text 79"/>
          <p:cNvSpPr txBox="1"/>
          <p:nvPr/>
        </p:nvSpPr>
        <p:spPr>
          <a:xfrm>
            <a:off x="7683978" y="4270248"/>
            <a:ext cx="225555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Hoy, 12:30</a:t>
            </a:r>
            <a:endParaRPr lang="en-US" sz="650" dirty="0"/>
          </a:p>
        </p:txBody>
      </p:sp>
      <p:sp>
        <p:nvSpPr>
          <p:cNvPr id="92" name="Shape 80"/>
          <p:cNvSpPr/>
          <p:nvPr/>
        </p:nvSpPr>
        <p:spPr>
          <a:xfrm>
            <a:off x="7336506" y="4425696"/>
            <a:ext cx="256032" cy="256032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pic>
        <p:nvPicPr>
          <p:cNvPr id="9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386798" y="4475988"/>
            <a:ext cx="155448" cy="155448"/>
          </a:xfrm>
          <a:prstGeom prst="rect">
            <a:avLst/>
          </a:prstGeom>
        </p:spPr>
      </p:pic>
      <p:sp>
        <p:nvSpPr>
          <p:cNvPr id="94" name="Text 81"/>
          <p:cNvSpPr txBox="1"/>
          <p:nvPr/>
        </p:nvSpPr>
        <p:spPr>
          <a:xfrm>
            <a:off x="7683978" y="4416552"/>
            <a:ext cx="225555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 actualizada</a:t>
            </a:r>
            <a:endParaRPr lang="en-US" sz="790" dirty="0"/>
          </a:p>
        </p:txBody>
      </p:sp>
      <p:sp>
        <p:nvSpPr>
          <p:cNvPr id="95" name="Text 82"/>
          <p:cNvSpPr txBox="1"/>
          <p:nvPr/>
        </p:nvSpPr>
        <p:spPr>
          <a:xfrm>
            <a:off x="7683978" y="4572000"/>
            <a:ext cx="22555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Senda Labs</a:t>
            </a:r>
            <a:endParaRPr lang="en-US" sz="720" dirty="0"/>
          </a:p>
        </p:txBody>
      </p:sp>
      <p:sp>
        <p:nvSpPr>
          <p:cNvPr id="96" name="Text 83"/>
          <p:cNvSpPr txBox="1"/>
          <p:nvPr/>
        </p:nvSpPr>
        <p:spPr>
          <a:xfrm>
            <a:off x="7683978" y="4700016"/>
            <a:ext cx="225555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Ayer</a:t>
            </a:r>
            <a:endParaRPr lang="en-US" sz="650" dirty="0"/>
          </a:p>
        </p:txBody>
      </p:sp>
      <p:sp>
        <p:nvSpPr>
          <p:cNvPr id="97" name="Shape 84"/>
          <p:cNvSpPr/>
          <p:nvPr/>
        </p:nvSpPr>
        <p:spPr>
          <a:xfrm>
            <a:off x="2286000" y="5157216"/>
            <a:ext cx="7799832" cy="1517904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8890">
            <a:solidFill>
              <a:srgbClr val="ECE8F0"/>
            </a:solidFill>
            <a:prstDash val="solid"/>
          </a:ln>
        </p:spPr>
      </p:sp>
      <p:sp>
        <p:nvSpPr>
          <p:cNvPr id="98" name="Text 85"/>
          <p:cNvSpPr txBox="1"/>
          <p:nvPr/>
        </p:nvSpPr>
        <p:spPr>
          <a:xfrm>
            <a:off x="2450592" y="52852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Oportunidades abiertas</a:t>
            </a:r>
            <a:endParaRPr lang="en-US" sz="940" dirty="0"/>
          </a:p>
        </p:txBody>
      </p:sp>
      <p:sp>
        <p:nvSpPr>
          <p:cNvPr id="99" name="Shape 86"/>
          <p:cNvSpPr/>
          <p:nvPr/>
        </p:nvSpPr>
        <p:spPr>
          <a:xfrm>
            <a:off x="9308592" y="5248656"/>
            <a:ext cx="594360" cy="219456"/>
          </a:xfrm>
          <a:prstGeom prst="roundRect">
            <a:avLst>
              <a:gd name="adj" fmla="val 62500"/>
            </a:avLst>
          </a:prstGeom>
          <a:solidFill>
            <a:srgbClr val="F3F0F7"/>
          </a:solidFill>
          <a:ln w="10160">
            <a:solidFill>
              <a:srgbClr val="ECE8F0"/>
            </a:solidFill>
            <a:prstDash val="solid"/>
          </a:ln>
        </p:spPr>
      </p:sp>
      <p:sp>
        <p:nvSpPr>
          <p:cNvPr id="100" name="Text 87"/>
          <p:cNvSpPr txBox="1"/>
          <p:nvPr/>
        </p:nvSpPr>
        <p:spPr>
          <a:xfrm>
            <a:off x="9381744" y="5262372"/>
            <a:ext cx="4480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Todas</a:t>
            </a:r>
            <a:endParaRPr lang="en-US" sz="750" dirty="0"/>
          </a:p>
        </p:txBody>
      </p:sp>
      <p:sp>
        <p:nvSpPr>
          <p:cNvPr id="101" name="Shape 88"/>
          <p:cNvSpPr/>
          <p:nvPr/>
        </p:nvSpPr>
        <p:spPr>
          <a:xfrm>
            <a:off x="2304288" y="5596128"/>
            <a:ext cx="7763256" cy="265176"/>
          </a:xfrm>
          <a:prstGeom prst="roundRect">
            <a:avLst>
              <a:gd name="adj" fmla="val 13793"/>
            </a:avLst>
          </a:prstGeom>
          <a:solidFill>
            <a:srgbClr val="F7F5FA"/>
          </a:solidFill>
          <a:ln w="12700">
            <a:solidFill>
              <a:srgbClr val="F7F5FA">
                <a:alpha val="0"/>
              </a:srgbClr>
            </a:solidFill>
            <a:prstDash val="solid"/>
          </a:ln>
        </p:spPr>
      </p:sp>
      <p:sp>
        <p:nvSpPr>
          <p:cNvPr id="102" name="Text 89"/>
          <p:cNvSpPr txBox="1"/>
          <p:nvPr/>
        </p:nvSpPr>
        <p:spPr>
          <a:xfrm>
            <a:off x="2450592" y="5660136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EMPRESA</a:t>
            </a:r>
            <a:endParaRPr lang="en-US" sz="660" dirty="0"/>
          </a:p>
        </p:txBody>
      </p:sp>
      <p:sp>
        <p:nvSpPr>
          <p:cNvPr id="103" name="Text 90"/>
          <p:cNvSpPr txBox="1"/>
          <p:nvPr/>
        </p:nvSpPr>
        <p:spPr>
          <a:xfrm>
            <a:off x="4965192" y="5660136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</a:t>
            </a:r>
            <a:endParaRPr lang="en-US" sz="660" dirty="0"/>
          </a:p>
        </p:txBody>
      </p:sp>
      <p:sp>
        <p:nvSpPr>
          <p:cNvPr id="104" name="Text 91"/>
          <p:cNvSpPr txBox="1"/>
          <p:nvPr/>
        </p:nvSpPr>
        <p:spPr>
          <a:xfrm>
            <a:off x="6336792" y="5660136"/>
            <a:ext cx="960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</a:t>
            </a:r>
            <a:endParaRPr lang="en-US" sz="660" dirty="0"/>
          </a:p>
        </p:txBody>
      </p:sp>
      <p:sp>
        <p:nvSpPr>
          <p:cNvPr id="105" name="Text 92"/>
          <p:cNvSpPr txBox="1"/>
          <p:nvPr/>
        </p:nvSpPr>
        <p:spPr>
          <a:xfrm>
            <a:off x="7434072" y="5660136"/>
            <a:ext cx="26609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PRÓXIMA ACCIÓN</a:t>
            </a:r>
            <a:endParaRPr lang="en-US" sz="660" dirty="0"/>
          </a:p>
        </p:txBody>
      </p:sp>
      <p:sp>
        <p:nvSpPr>
          <p:cNvPr id="106" name="Text 93"/>
          <p:cNvSpPr txBox="1"/>
          <p:nvPr/>
        </p:nvSpPr>
        <p:spPr>
          <a:xfrm>
            <a:off x="2450592" y="5907024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Digital</a:t>
            </a:r>
            <a:endParaRPr lang="en-US" sz="730" dirty="0"/>
          </a:p>
        </p:txBody>
      </p:sp>
      <p:sp>
        <p:nvSpPr>
          <p:cNvPr id="107" name="Shape 94"/>
          <p:cNvSpPr/>
          <p:nvPr/>
        </p:nvSpPr>
        <p:spPr>
          <a:xfrm>
            <a:off x="4956048" y="5879592"/>
            <a:ext cx="786384" cy="182880"/>
          </a:xfrm>
          <a:prstGeom prst="roundRect">
            <a:avLst>
              <a:gd name="adj" fmla="val 75000"/>
            </a:avLst>
          </a:prstGeom>
          <a:solidFill>
            <a:srgbClr val="F5F3FF"/>
          </a:solidFill>
          <a:ln w="10160">
            <a:solidFill>
              <a:srgbClr val="F5F3FF"/>
            </a:solidFill>
            <a:prstDash val="solid"/>
          </a:ln>
        </p:spPr>
      </p:sp>
      <p:sp>
        <p:nvSpPr>
          <p:cNvPr id="108" name="Text 95"/>
          <p:cNvSpPr txBox="1"/>
          <p:nvPr/>
        </p:nvSpPr>
        <p:spPr>
          <a:xfrm>
            <a:off x="5029200" y="5893308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Propuesta</a:t>
            </a:r>
            <a:endParaRPr lang="en-US" sz="670" dirty="0"/>
          </a:p>
        </p:txBody>
      </p:sp>
      <p:sp>
        <p:nvSpPr>
          <p:cNvPr id="109" name="Text 96"/>
          <p:cNvSpPr txBox="1"/>
          <p:nvPr/>
        </p:nvSpPr>
        <p:spPr>
          <a:xfrm>
            <a:off x="6336792" y="5907024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28.400 €</a:t>
            </a:r>
            <a:endParaRPr lang="en-US" sz="720" dirty="0"/>
          </a:p>
        </p:txBody>
      </p:sp>
      <p:sp>
        <p:nvSpPr>
          <p:cNvPr id="110" name="Text 97"/>
          <p:cNvSpPr txBox="1"/>
          <p:nvPr/>
        </p:nvSpPr>
        <p:spPr>
          <a:xfrm>
            <a:off x="7434072" y="5907024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Revisar contrato</a:t>
            </a:r>
            <a:endParaRPr lang="en-US" sz="720" dirty="0"/>
          </a:p>
        </p:txBody>
      </p:sp>
      <p:sp>
        <p:nvSpPr>
          <p:cNvPr id="111" name="Shape 98"/>
          <p:cNvSpPr/>
          <p:nvPr/>
        </p:nvSpPr>
        <p:spPr>
          <a:xfrm>
            <a:off x="2423160" y="6126480"/>
            <a:ext cx="7525512" cy="0"/>
          </a:xfrm>
          <a:prstGeom prst="line">
            <a:avLst/>
          </a:prstGeom>
          <a:noFill/>
          <a:ln w="5715">
            <a:solidFill>
              <a:srgbClr val="ECE8F0"/>
            </a:solidFill>
            <a:prstDash val="solid"/>
            <a:headEnd type="none"/>
            <a:tailEnd type="none"/>
          </a:ln>
        </p:spPr>
      </p:sp>
      <p:sp>
        <p:nvSpPr>
          <p:cNvPr id="112" name="Text 99"/>
          <p:cNvSpPr txBox="1"/>
          <p:nvPr/>
        </p:nvSpPr>
        <p:spPr>
          <a:xfrm>
            <a:off x="2450592" y="616305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 Studio</a:t>
            </a:r>
            <a:endParaRPr lang="en-US" sz="730" dirty="0"/>
          </a:p>
        </p:txBody>
      </p:sp>
      <p:sp>
        <p:nvSpPr>
          <p:cNvPr id="113" name="Shape 100"/>
          <p:cNvSpPr/>
          <p:nvPr/>
        </p:nvSpPr>
        <p:spPr>
          <a:xfrm>
            <a:off x="4956048" y="6135624"/>
            <a:ext cx="786384" cy="182880"/>
          </a:xfrm>
          <a:prstGeom prst="roundRect">
            <a:avLst>
              <a:gd name="adj" fmla="val 75000"/>
            </a:avLst>
          </a:prstGeom>
          <a:solidFill>
            <a:srgbClr val="F5F3FF"/>
          </a:solidFill>
          <a:ln w="10160">
            <a:solidFill>
              <a:srgbClr val="F5F3FF"/>
            </a:solidFill>
            <a:prstDash val="solid"/>
          </a:ln>
        </p:spPr>
      </p:sp>
      <p:sp>
        <p:nvSpPr>
          <p:cNvPr id="114" name="Text 101"/>
          <p:cNvSpPr txBox="1"/>
          <p:nvPr/>
        </p:nvSpPr>
        <p:spPr>
          <a:xfrm>
            <a:off x="5029200" y="6149340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0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</a:t>
            </a:r>
            <a:endParaRPr lang="en-US" sz="670" dirty="0"/>
          </a:p>
        </p:txBody>
      </p:sp>
      <p:sp>
        <p:nvSpPr>
          <p:cNvPr id="115" name="Text 102"/>
          <p:cNvSpPr txBox="1"/>
          <p:nvPr/>
        </p:nvSpPr>
        <p:spPr>
          <a:xfrm>
            <a:off x="6336792" y="6163056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17.900 €</a:t>
            </a:r>
            <a:endParaRPr lang="en-US" sz="720" dirty="0"/>
          </a:p>
        </p:txBody>
      </p:sp>
      <p:sp>
        <p:nvSpPr>
          <p:cNvPr id="116" name="Text 103"/>
          <p:cNvSpPr txBox="1"/>
          <p:nvPr/>
        </p:nvSpPr>
        <p:spPr>
          <a:xfrm>
            <a:off x="7434072" y="6163056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Enviar caso de uso</a:t>
            </a:r>
            <a:endParaRPr lang="en-US" sz="720" dirty="0"/>
          </a:p>
        </p:txBody>
      </p:sp>
      <p:sp>
        <p:nvSpPr>
          <p:cNvPr id="117" name="Shape 104"/>
          <p:cNvSpPr/>
          <p:nvPr/>
        </p:nvSpPr>
        <p:spPr>
          <a:xfrm>
            <a:off x="2423160" y="6382512"/>
            <a:ext cx="7525512" cy="0"/>
          </a:xfrm>
          <a:prstGeom prst="line">
            <a:avLst/>
          </a:prstGeom>
          <a:noFill/>
          <a:ln w="5715">
            <a:solidFill>
              <a:srgbClr val="ECE8F0"/>
            </a:solidFill>
            <a:prstDash val="solid"/>
            <a:headEnd type="none"/>
            <a:tailEnd type="none"/>
          </a:ln>
        </p:spPr>
      </p:sp>
      <p:sp>
        <p:nvSpPr>
          <p:cNvPr id="118" name="Text 105"/>
          <p:cNvSpPr txBox="1"/>
          <p:nvPr/>
        </p:nvSpPr>
        <p:spPr>
          <a:xfrm>
            <a:off x="2450592" y="6419088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Senda Labs</a:t>
            </a:r>
            <a:endParaRPr lang="en-US" sz="730" dirty="0"/>
          </a:p>
        </p:txBody>
      </p:sp>
      <p:sp>
        <p:nvSpPr>
          <p:cNvPr id="119" name="Shape 106"/>
          <p:cNvSpPr/>
          <p:nvPr/>
        </p:nvSpPr>
        <p:spPr>
          <a:xfrm>
            <a:off x="4956048" y="6391656"/>
            <a:ext cx="786384" cy="182880"/>
          </a:xfrm>
          <a:prstGeom prst="roundRect">
            <a:avLst>
              <a:gd name="adj" fmla="val 75000"/>
            </a:avLst>
          </a:prstGeom>
          <a:solidFill>
            <a:srgbClr val="FFFBEB"/>
          </a:solidFill>
          <a:ln w="10160">
            <a:solidFill>
              <a:srgbClr val="FFFBEB"/>
            </a:solidFill>
            <a:prstDash val="solid"/>
          </a:ln>
        </p:spPr>
      </p:sp>
      <p:sp>
        <p:nvSpPr>
          <p:cNvPr id="120" name="Text 107"/>
          <p:cNvSpPr txBox="1"/>
          <p:nvPr/>
        </p:nvSpPr>
        <p:spPr>
          <a:xfrm>
            <a:off x="5029200" y="6405372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0" b="1" dirty="0">
                <a:solidFill>
                  <a:srgbClr val="92400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Negociación</a:t>
            </a:r>
            <a:endParaRPr lang="en-US" sz="670" dirty="0"/>
          </a:p>
        </p:txBody>
      </p:sp>
      <p:sp>
        <p:nvSpPr>
          <p:cNvPr id="121" name="Text 108"/>
          <p:cNvSpPr txBox="1"/>
          <p:nvPr/>
        </p:nvSpPr>
        <p:spPr>
          <a:xfrm>
            <a:off x="6336792" y="6419088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41.200 €</a:t>
            </a:r>
            <a:endParaRPr lang="en-US" sz="720" dirty="0"/>
          </a:p>
        </p:txBody>
      </p:sp>
      <p:sp>
        <p:nvSpPr>
          <p:cNvPr id="122" name="Text 109"/>
          <p:cNvSpPr txBox="1"/>
          <p:nvPr/>
        </p:nvSpPr>
        <p:spPr>
          <a:xfrm>
            <a:off x="7434072" y="6419088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Llamada con dirección</a:t>
            </a:r>
            <a:endParaRPr lang="en-US" sz="7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56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BFB6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352544" y="256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BFB6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Aplicación UI · Dark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9674352" y="25603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BFB6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Nexo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9875520" cy="6099048"/>
          </a:xfrm>
          <a:prstGeom prst="roundRect">
            <a:avLst>
              <a:gd name="adj" fmla="val 2699"/>
            </a:avLst>
          </a:prstGeom>
          <a:solidFill>
            <a:srgbClr val="0E0B14"/>
          </a:solidFill>
          <a:ln w="8890">
            <a:solidFill>
              <a:srgbClr val="4036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208" y="1115568"/>
            <a:ext cx="1572768" cy="5879592"/>
          </a:xfrm>
          <a:prstGeom prst="roundRect">
            <a:avLst>
              <a:gd name="adj" fmla="val 8140"/>
            </a:avLst>
          </a:prstGeom>
          <a:solidFill>
            <a:srgbClr val="15111E"/>
          </a:solidFill>
          <a:ln w="8890">
            <a:solidFill>
              <a:srgbClr val="2B243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252728"/>
            <a:ext cx="420624" cy="42062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97864" y="124815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7F5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nexo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376" y="1938528"/>
            <a:ext cx="164592" cy="16459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69264" y="192481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Inicio</a:t>
            </a:r>
            <a:endParaRPr lang="en-US" sz="86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2376" y="2377440"/>
            <a:ext cx="164592" cy="16459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69264" y="2363724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Contactos</a:t>
            </a:r>
            <a:endParaRPr lang="en-US" sz="860" dirty="0"/>
          </a:p>
        </p:txBody>
      </p:sp>
      <p:sp>
        <p:nvSpPr>
          <p:cNvPr id="13" name="Shape 8"/>
          <p:cNvSpPr/>
          <p:nvPr/>
        </p:nvSpPr>
        <p:spPr>
          <a:xfrm>
            <a:off x="630936" y="2752344"/>
            <a:ext cx="1344168" cy="347472"/>
          </a:xfrm>
          <a:prstGeom prst="roundRect">
            <a:avLst>
              <a:gd name="adj" fmla="val 23684"/>
            </a:avLst>
          </a:prstGeom>
          <a:solidFill>
            <a:srgbClr val="2A1F3A"/>
          </a:solidFill>
          <a:ln w="6350">
            <a:solidFill>
              <a:srgbClr val="392A4D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2376" y="2816352"/>
            <a:ext cx="164592" cy="16459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969264" y="280263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Ventas</a:t>
            </a:r>
            <a:endParaRPr lang="en-US" sz="86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2376" y="3255264"/>
            <a:ext cx="164592" cy="16459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69264" y="324154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Actividad</a:t>
            </a:r>
            <a:endParaRPr lang="en-US" sz="86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2376" y="3694176"/>
            <a:ext cx="164592" cy="16459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969264" y="368046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Informes</a:t>
            </a:r>
            <a:endParaRPr lang="en-US" sz="860" dirty="0"/>
          </a:p>
        </p:txBody>
      </p:sp>
      <p:sp>
        <p:nvSpPr>
          <p:cNvPr id="20" name="Shape 12"/>
          <p:cNvSpPr/>
          <p:nvPr/>
        </p:nvSpPr>
        <p:spPr>
          <a:xfrm>
            <a:off x="667512" y="6117336"/>
            <a:ext cx="1280160" cy="0"/>
          </a:xfrm>
          <a:prstGeom prst="line">
            <a:avLst/>
          </a:prstGeom>
          <a:noFill/>
          <a:ln w="8890">
            <a:solidFill>
              <a:srgbClr val="2B2435"/>
            </a:solidFill>
            <a:prstDash val="solid"/>
            <a:headEnd type="none"/>
            <a:tailEnd type="none"/>
          </a:ln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22376" y="6318504"/>
            <a:ext cx="164592" cy="164592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969264" y="630478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Ajustes</a:t>
            </a:r>
            <a:endParaRPr lang="en-US" sz="860" dirty="0"/>
          </a:p>
        </p:txBody>
      </p:sp>
      <p:sp>
        <p:nvSpPr>
          <p:cNvPr id="23" name="Shape 14"/>
          <p:cNvSpPr/>
          <p:nvPr/>
        </p:nvSpPr>
        <p:spPr>
          <a:xfrm>
            <a:off x="694944" y="6684264"/>
            <a:ext cx="256032" cy="25603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4" name="Text 15"/>
          <p:cNvSpPr txBox="1"/>
          <p:nvPr/>
        </p:nvSpPr>
        <p:spPr>
          <a:xfrm>
            <a:off x="694944" y="6720840"/>
            <a:ext cx="256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80" b="1" dirty="0">
                <a:solidFill>
                  <a:srgbClr val="120B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</a:t>
            </a:r>
            <a:endParaRPr lang="en-US" sz="680" dirty="0"/>
          </a:p>
        </p:txBody>
      </p:sp>
      <p:sp>
        <p:nvSpPr>
          <p:cNvPr id="25" name="Text 16"/>
          <p:cNvSpPr txBox="1"/>
          <p:nvPr/>
        </p:nvSpPr>
        <p:spPr>
          <a:xfrm>
            <a:off x="1024128" y="667512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F7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Jorge Olmo</a:t>
            </a:r>
            <a:endParaRPr lang="en-US" sz="830" dirty="0"/>
          </a:p>
        </p:txBody>
      </p:sp>
      <p:sp>
        <p:nvSpPr>
          <p:cNvPr id="26" name="Text 17"/>
          <p:cNvSpPr txBox="1"/>
          <p:nvPr/>
        </p:nvSpPr>
        <p:spPr>
          <a:xfrm>
            <a:off x="1024128" y="6858000"/>
            <a:ext cx="548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</a:t>
            </a:r>
            <a:endParaRPr lang="en-US" sz="720" dirty="0"/>
          </a:p>
        </p:txBody>
      </p:sp>
      <p:sp>
        <p:nvSpPr>
          <p:cNvPr id="27" name="Text 18"/>
          <p:cNvSpPr txBox="1"/>
          <p:nvPr/>
        </p:nvSpPr>
        <p:spPr>
          <a:xfrm>
            <a:off x="2286000" y="125272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F7F5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Panel de ventas</a:t>
            </a:r>
            <a:endParaRPr lang="en-US" sz="1750" dirty="0"/>
          </a:p>
        </p:txBody>
      </p:sp>
      <p:sp>
        <p:nvSpPr>
          <p:cNvPr id="28" name="Text 19"/>
          <p:cNvSpPr txBox="1"/>
          <p:nvPr/>
        </p:nvSpPr>
        <p:spPr>
          <a:xfrm>
            <a:off x="2286000" y="159105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Visión general del rendimiento comercial</a:t>
            </a:r>
            <a:endParaRPr lang="en-US" sz="860" dirty="0"/>
          </a:p>
        </p:txBody>
      </p:sp>
      <p:sp>
        <p:nvSpPr>
          <p:cNvPr id="29" name="Shape 20"/>
          <p:cNvSpPr/>
          <p:nvPr/>
        </p:nvSpPr>
        <p:spPr>
          <a:xfrm>
            <a:off x="7598664" y="1261872"/>
            <a:ext cx="1417320" cy="347472"/>
          </a:xfrm>
          <a:prstGeom prst="roundRect">
            <a:avLst>
              <a:gd name="adj" fmla="val 26316"/>
            </a:avLst>
          </a:prstGeom>
          <a:solidFill>
            <a:srgbClr val="1D1728"/>
          </a:solidFill>
          <a:ln w="8890">
            <a:solidFill>
              <a:srgbClr val="2B2435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754112" y="1344168"/>
            <a:ext cx="137160" cy="13716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964424" y="1330452"/>
            <a:ext cx="79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928A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Buscar…</a:t>
            </a:r>
            <a:endParaRPr lang="en-US" sz="830" dirty="0"/>
          </a:p>
        </p:txBody>
      </p:sp>
      <p:sp>
        <p:nvSpPr>
          <p:cNvPr id="32" name="Shape 22"/>
          <p:cNvSpPr/>
          <p:nvPr/>
        </p:nvSpPr>
        <p:spPr>
          <a:xfrm>
            <a:off x="9171432" y="1261872"/>
            <a:ext cx="914400" cy="347472"/>
          </a:xfrm>
          <a:prstGeom prst="roundRect">
            <a:avLst>
              <a:gd name="adj" fmla="val 26316"/>
            </a:avLst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33" name="Text 23"/>
          <p:cNvSpPr txBox="1"/>
          <p:nvPr/>
        </p:nvSpPr>
        <p:spPr>
          <a:xfrm>
            <a:off x="9235440" y="1330452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b="1" dirty="0">
                <a:solidFill>
                  <a:srgbClr val="120B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Nueva</a:t>
            </a:r>
            <a:endParaRPr lang="en-US" sz="830" dirty="0"/>
          </a:p>
        </p:txBody>
      </p:sp>
      <p:sp>
        <p:nvSpPr>
          <p:cNvPr id="34" name="Shape 24"/>
          <p:cNvSpPr/>
          <p:nvPr/>
        </p:nvSpPr>
        <p:spPr>
          <a:xfrm>
            <a:off x="2286000" y="1975104"/>
            <a:ext cx="1867662" cy="914400"/>
          </a:xfrm>
          <a:prstGeom prst="roundRect">
            <a:avLst>
              <a:gd name="adj" fmla="val 12000"/>
            </a:avLst>
          </a:prstGeom>
          <a:solidFill>
            <a:srgbClr val="1D1728"/>
          </a:solidFill>
          <a:ln w="8890">
            <a:solidFill>
              <a:srgbClr val="2B2435"/>
            </a:solidFill>
            <a:prstDash val="solid"/>
          </a:ln>
        </p:spPr>
      </p:sp>
      <p:sp>
        <p:nvSpPr>
          <p:cNvPr id="35" name="Text 25"/>
          <p:cNvSpPr txBox="1"/>
          <p:nvPr/>
        </p:nvSpPr>
        <p:spPr>
          <a:xfrm>
            <a:off x="2432304" y="2112264"/>
            <a:ext cx="15750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</a:t>
            </a:r>
            <a:endParaRPr lang="en-US" sz="870" dirty="0"/>
          </a:p>
        </p:txBody>
      </p:sp>
      <p:sp>
        <p:nvSpPr>
          <p:cNvPr id="36" name="Text 26"/>
          <p:cNvSpPr txBox="1"/>
          <p:nvPr/>
        </p:nvSpPr>
        <p:spPr>
          <a:xfrm>
            <a:off x="2432304" y="2331720"/>
            <a:ext cx="15750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7F5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124.500 €</a:t>
            </a:r>
            <a:endParaRPr lang="en-US" sz="1800" dirty="0"/>
          </a:p>
        </p:txBody>
      </p:sp>
      <p:sp>
        <p:nvSpPr>
          <p:cNvPr id="37" name="Shape 27"/>
          <p:cNvSpPr/>
          <p:nvPr/>
        </p:nvSpPr>
        <p:spPr>
          <a:xfrm>
            <a:off x="2432304" y="2633472"/>
            <a:ext cx="585216" cy="201168"/>
          </a:xfrm>
          <a:prstGeom prst="roundRect">
            <a:avLst>
              <a:gd name="adj" fmla="val 68182"/>
            </a:avLst>
          </a:prstGeom>
          <a:solidFill>
            <a:srgbClr val="0E1A12"/>
          </a:solidFill>
          <a:ln w="10160">
            <a:solidFill>
              <a:srgbClr val="1E6A3A"/>
            </a:solidFill>
            <a:prstDash val="solid"/>
          </a:ln>
        </p:spPr>
      </p:sp>
      <p:sp>
        <p:nvSpPr>
          <p:cNvPr id="38" name="Text 28"/>
          <p:cNvSpPr txBox="1"/>
          <p:nvPr/>
        </p:nvSpPr>
        <p:spPr>
          <a:xfrm>
            <a:off x="2505456" y="2647188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+12,4%</a:t>
            </a:r>
            <a:endParaRPr lang="en-US" sz="760" dirty="0"/>
          </a:p>
        </p:txBody>
      </p:sp>
      <p:sp>
        <p:nvSpPr>
          <p:cNvPr id="39" name="Shape 29"/>
          <p:cNvSpPr/>
          <p:nvPr/>
        </p:nvSpPr>
        <p:spPr>
          <a:xfrm>
            <a:off x="4263390" y="1975104"/>
            <a:ext cx="1867662" cy="914400"/>
          </a:xfrm>
          <a:prstGeom prst="roundRect">
            <a:avLst>
              <a:gd name="adj" fmla="val 12000"/>
            </a:avLst>
          </a:prstGeom>
          <a:solidFill>
            <a:srgbClr val="1D1728"/>
          </a:solidFill>
          <a:ln w="8890">
            <a:solidFill>
              <a:srgbClr val="2B2435"/>
            </a:solidFill>
            <a:prstDash val="solid"/>
          </a:ln>
        </p:spPr>
      </p:sp>
      <p:sp>
        <p:nvSpPr>
          <p:cNvPr id="40" name="Text 30"/>
          <p:cNvSpPr txBox="1"/>
          <p:nvPr/>
        </p:nvSpPr>
        <p:spPr>
          <a:xfrm>
            <a:off x="4409694" y="2112264"/>
            <a:ext cx="15750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CONVERSIÓN</a:t>
            </a:r>
            <a:endParaRPr lang="en-US" sz="870" dirty="0"/>
          </a:p>
        </p:txBody>
      </p:sp>
      <p:sp>
        <p:nvSpPr>
          <p:cNvPr id="41" name="Text 31"/>
          <p:cNvSpPr txBox="1"/>
          <p:nvPr/>
        </p:nvSpPr>
        <p:spPr>
          <a:xfrm>
            <a:off x="4409694" y="2331720"/>
            <a:ext cx="15750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7F5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31,4%</a:t>
            </a:r>
            <a:endParaRPr lang="en-US" sz="1800" dirty="0"/>
          </a:p>
        </p:txBody>
      </p:sp>
      <p:sp>
        <p:nvSpPr>
          <p:cNvPr id="42" name="Shape 32"/>
          <p:cNvSpPr/>
          <p:nvPr/>
        </p:nvSpPr>
        <p:spPr>
          <a:xfrm>
            <a:off x="4409694" y="2633472"/>
            <a:ext cx="585216" cy="201168"/>
          </a:xfrm>
          <a:prstGeom prst="roundRect">
            <a:avLst>
              <a:gd name="adj" fmla="val 68182"/>
            </a:avLst>
          </a:prstGeom>
          <a:solidFill>
            <a:srgbClr val="0E1A12"/>
          </a:solidFill>
          <a:ln w="10160">
            <a:solidFill>
              <a:srgbClr val="1E6A3A"/>
            </a:solidFill>
            <a:prstDash val="solid"/>
          </a:ln>
        </p:spPr>
      </p:sp>
      <p:sp>
        <p:nvSpPr>
          <p:cNvPr id="43" name="Text 33"/>
          <p:cNvSpPr txBox="1"/>
          <p:nvPr/>
        </p:nvSpPr>
        <p:spPr>
          <a:xfrm>
            <a:off x="4482846" y="2647188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+3,8%</a:t>
            </a:r>
            <a:endParaRPr lang="en-US" sz="760" dirty="0"/>
          </a:p>
        </p:txBody>
      </p:sp>
      <p:sp>
        <p:nvSpPr>
          <p:cNvPr id="44" name="Shape 34"/>
          <p:cNvSpPr/>
          <p:nvPr/>
        </p:nvSpPr>
        <p:spPr>
          <a:xfrm>
            <a:off x="6240780" y="1975104"/>
            <a:ext cx="1867662" cy="914400"/>
          </a:xfrm>
          <a:prstGeom prst="roundRect">
            <a:avLst>
              <a:gd name="adj" fmla="val 12000"/>
            </a:avLst>
          </a:prstGeom>
          <a:solidFill>
            <a:srgbClr val="1D1728"/>
          </a:solidFill>
          <a:ln w="8890">
            <a:solidFill>
              <a:srgbClr val="2B2435"/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6387084" y="2112264"/>
            <a:ext cx="15750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CICLO MEDIO</a:t>
            </a:r>
            <a:endParaRPr lang="en-US" sz="870" dirty="0"/>
          </a:p>
        </p:txBody>
      </p:sp>
      <p:sp>
        <p:nvSpPr>
          <p:cNvPr id="46" name="Text 36"/>
          <p:cNvSpPr txBox="1"/>
          <p:nvPr/>
        </p:nvSpPr>
        <p:spPr>
          <a:xfrm>
            <a:off x="6387084" y="2331720"/>
            <a:ext cx="15750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7F5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24 días</a:t>
            </a:r>
            <a:endParaRPr lang="en-US" sz="1800" dirty="0"/>
          </a:p>
        </p:txBody>
      </p:sp>
      <p:sp>
        <p:nvSpPr>
          <p:cNvPr id="47" name="Shape 37"/>
          <p:cNvSpPr/>
          <p:nvPr/>
        </p:nvSpPr>
        <p:spPr>
          <a:xfrm>
            <a:off x="6387084" y="2633472"/>
            <a:ext cx="585216" cy="201168"/>
          </a:xfrm>
          <a:prstGeom prst="roundRect">
            <a:avLst>
              <a:gd name="adj" fmla="val 68182"/>
            </a:avLst>
          </a:prstGeom>
          <a:solidFill>
            <a:srgbClr val="0E1A12"/>
          </a:solidFill>
          <a:ln w="10160">
            <a:solidFill>
              <a:srgbClr val="1E6A3A"/>
            </a:solidFill>
            <a:prstDash val="solid"/>
          </a:ln>
        </p:spPr>
      </p:sp>
      <p:sp>
        <p:nvSpPr>
          <p:cNvPr id="48" name="Text 38"/>
          <p:cNvSpPr txBox="1"/>
          <p:nvPr/>
        </p:nvSpPr>
        <p:spPr>
          <a:xfrm>
            <a:off x="6460236" y="2647188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 días</a:t>
            </a:r>
            <a:endParaRPr lang="en-US" sz="760" dirty="0"/>
          </a:p>
        </p:txBody>
      </p:sp>
      <p:sp>
        <p:nvSpPr>
          <p:cNvPr id="49" name="Shape 39"/>
          <p:cNvSpPr/>
          <p:nvPr/>
        </p:nvSpPr>
        <p:spPr>
          <a:xfrm>
            <a:off x="8218170" y="1975104"/>
            <a:ext cx="1867662" cy="914400"/>
          </a:xfrm>
          <a:prstGeom prst="roundRect">
            <a:avLst>
              <a:gd name="adj" fmla="val 12000"/>
            </a:avLst>
          </a:prstGeom>
          <a:solidFill>
            <a:srgbClr val="1D1728"/>
          </a:solidFill>
          <a:ln w="8890">
            <a:solidFill>
              <a:srgbClr val="2B2435"/>
            </a:solidFill>
            <a:prstDash val="solid"/>
          </a:ln>
        </p:spPr>
      </p:sp>
      <p:sp>
        <p:nvSpPr>
          <p:cNvPr id="50" name="Text 40"/>
          <p:cNvSpPr txBox="1"/>
          <p:nvPr/>
        </p:nvSpPr>
        <p:spPr>
          <a:xfrm>
            <a:off x="8364474" y="2112264"/>
            <a:ext cx="15750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ACTIVIDAD</a:t>
            </a:r>
            <a:endParaRPr lang="en-US" sz="870" dirty="0"/>
          </a:p>
        </p:txBody>
      </p:sp>
      <p:sp>
        <p:nvSpPr>
          <p:cNvPr id="51" name="Text 41"/>
          <p:cNvSpPr txBox="1"/>
          <p:nvPr/>
        </p:nvSpPr>
        <p:spPr>
          <a:xfrm>
            <a:off x="8364474" y="2331720"/>
            <a:ext cx="157505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7F5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87%</a:t>
            </a:r>
            <a:endParaRPr lang="en-US" sz="1800" dirty="0"/>
          </a:p>
        </p:txBody>
      </p:sp>
      <p:sp>
        <p:nvSpPr>
          <p:cNvPr id="52" name="Shape 42"/>
          <p:cNvSpPr/>
          <p:nvPr/>
        </p:nvSpPr>
        <p:spPr>
          <a:xfrm>
            <a:off x="8364474" y="2633472"/>
            <a:ext cx="585216" cy="201168"/>
          </a:xfrm>
          <a:prstGeom prst="roundRect">
            <a:avLst>
              <a:gd name="adj" fmla="val 68182"/>
            </a:avLst>
          </a:prstGeom>
          <a:solidFill>
            <a:srgbClr val="0E1A12"/>
          </a:solidFill>
          <a:ln w="10160">
            <a:solidFill>
              <a:srgbClr val="1E6A3A"/>
            </a:solidFill>
            <a:prstDash val="solid"/>
          </a:ln>
        </p:spPr>
      </p:sp>
      <p:sp>
        <p:nvSpPr>
          <p:cNvPr id="53" name="Text 43"/>
          <p:cNvSpPr txBox="1"/>
          <p:nvPr/>
        </p:nvSpPr>
        <p:spPr>
          <a:xfrm>
            <a:off x="8437626" y="2647188"/>
            <a:ext cx="4389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6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+6,1%</a:t>
            </a:r>
            <a:endParaRPr lang="en-US" sz="760" dirty="0"/>
          </a:p>
        </p:txBody>
      </p:sp>
      <p:sp>
        <p:nvSpPr>
          <p:cNvPr id="54" name="Shape 44"/>
          <p:cNvSpPr/>
          <p:nvPr/>
        </p:nvSpPr>
        <p:spPr>
          <a:xfrm>
            <a:off x="2286000" y="3054096"/>
            <a:ext cx="4757898" cy="1938528"/>
          </a:xfrm>
          <a:prstGeom prst="roundRect">
            <a:avLst>
              <a:gd name="adj" fmla="val 5660"/>
            </a:avLst>
          </a:prstGeom>
          <a:solidFill>
            <a:srgbClr val="1D1728"/>
          </a:solidFill>
          <a:ln w="8890">
            <a:solidFill>
              <a:srgbClr val="2B2435"/>
            </a:solidFill>
            <a:prstDash val="solid"/>
          </a:ln>
        </p:spPr>
      </p:sp>
      <p:sp>
        <p:nvSpPr>
          <p:cNvPr id="55" name="Text 45"/>
          <p:cNvSpPr txBox="1"/>
          <p:nvPr/>
        </p:nvSpPr>
        <p:spPr>
          <a:xfrm>
            <a:off x="2450592" y="320040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F7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Ingresos previstos</a:t>
            </a:r>
            <a:endParaRPr lang="en-US" sz="940" dirty="0"/>
          </a:p>
        </p:txBody>
      </p:sp>
      <p:sp>
        <p:nvSpPr>
          <p:cNvPr id="56" name="Text 46"/>
          <p:cNvSpPr txBox="1"/>
          <p:nvPr/>
        </p:nvSpPr>
        <p:spPr>
          <a:xfrm>
            <a:off x="5809458" y="32004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Últimos 8 meses</a:t>
            </a:r>
            <a:endParaRPr lang="en-US" sz="780" dirty="0"/>
          </a:p>
        </p:txBody>
      </p:sp>
      <p:sp>
        <p:nvSpPr>
          <p:cNvPr id="57" name="Shape 47"/>
          <p:cNvSpPr/>
          <p:nvPr/>
        </p:nvSpPr>
        <p:spPr>
          <a:xfrm>
            <a:off x="2596896" y="3584448"/>
            <a:ext cx="4163538" cy="0"/>
          </a:xfrm>
          <a:prstGeom prst="line">
            <a:avLst/>
          </a:prstGeom>
          <a:noFill/>
          <a:ln w="6350">
            <a:solidFill>
              <a:srgbClr val="2B2435"/>
            </a:solidFill>
            <a:prstDash val="solid"/>
            <a:headEnd type="none"/>
            <a:tailEnd type="none"/>
          </a:ln>
        </p:spPr>
      </p:sp>
      <p:sp>
        <p:nvSpPr>
          <p:cNvPr id="58" name="Shape 48"/>
          <p:cNvSpPr/>
          <p:nvPr/>
        </p:nvSpPr>
        <p:spPr>
          <a:xfrm>
            <a:off x="2596896" y="3931920"/>
            <a:ext cx="4163538" cy="0"/>
          </a:xfrm>
          <a:prstGeom prst="line">
            <a:avLst/>
          </a:prstGeom>
          <a:noFill/>
          <a:ln w="6350">
            <a:solidFill>
              <a:srgbClr val="2B2435"/>
            </a:solidFill>
            <a:prstDash val="solid"/>
            <a:headEnd type="none"/>
            <a:tailEnd type="none"/>
          </a:ln>
        </p:spPr>
      </p:sp>
      <p:sp>
        <p:nvSpPr>
          <p:cNvPr id="59" name="Shape 49"/>
          <p:cNvSpPr/>
          <p:nvPr/>
        </p:nvSpPr>
        <p:spPr>
          <a:xfrm>
            <a:off x="2596896" y="4279392"/>
            <a:ext cx="4163538" cy="0"/>
          </a:xfrm>
          <a:prstGeom prst="line">
            <a:avLst/>
          </a:prstGeom>
          <a:noFill/>
          <a:ln w="6350">
            <a:solidFill>
              <a:srgbClr val="2B2435"/>
            </a:solidFill>
            <a:prstDash val="solid"/>
            <a:headEnd type="none"/>
            <a:tailEnd type="none"/>
          </a:ln>
        </p:spPr>
      </p:sp>
      <p:sp>
        <p:nvSpPr>
          <p:cNvPr id="60" name="Shape 50"/>
          <p:cNvSpPr/>
          <p:nvPr/>
        </p:nvSpPr>
        <p:spPr>
          <a:xfrm>
            <a:off x="2596896" y="4626864"/>
            <a:ext cx="4163538" cy="0"/>
          </a:xfrm>
          <a:prstGeom prst="line">
            <a:avLst/>
          </a:prstGeom>
          <a:noFill/>
          <a:ln w="6350">
            <a:solidFill>
              <a:srgbClr val="2B2435"/>
            </a:solidFill>
            <a:prstDash val="solid"/>
            <a:headEnd type="none"/>
            <a:tailEnd type="none"/>
          </a:ln>
        </p:spPr>
      </p:sp>
      <p:sp>
        <p:nvSpPr>
          <p:cNvPr id="61" name="Shape 51"/>
          <p:cNvSpPr/>
          <p:nvPr/>
        </p:nvSpPr>
        <p:spPr>
          <a:xfrm>
            <a:off x="2596896" y="4397532"/>
            <a:ext cx="499625" cy="-145938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62" name="Shape 52"/>
          <p:cNvSpPr/>
          <p:nvPr/>
        </p:nvSpPr>
        <p:spPr>
          <a:xfrm>
            <a:off x="3096521" y="4251594"/>
            <a:ext cx="457989" cy="62545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63" name="Shape 53"/>
          <p:cNvSpPr/>
          <p:nvPr/>
        </p:nvSpPr>
        <p:spPr>
          <a:xfrm>
            <a:off x="3554510" y="4314139"/>
            <a:ext cx="541260" cy="-25018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64" name="Shape 54"/>
          <p:cNvSpPr/>
          <p:nvPr/>
        </p:nvSpPr>
        <p:spPr>
          <a:xfrm>
            <a:off x="4095770" y="4063959"/>
            <a:ext cx="499625" cy="62545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65" name="Shape 55"/>
          <p:cNvSpPr/>
          <p:nvPr/>
        </p:nvSpPr>
        <p:spPr>
          <a:xfrm>
            <a:off x="4595394" y="4126504"/>
            <a:ext cx="541260" cy="-208483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66" name="Shape 56"/>
          <p:cNvSpPr/>
          <p:nvPr/>
        </p:nvSpPr>
        <p:spPr>
          <a:xfrm>
            <a:off x="5136654" y="3918021"/>
            <a:ext cx="541260" cy="83393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67" name="Shape 57"/>
          <p:cNvSpPr/>
          <p:nvPr/>
        </p:nvSpPr>
        <p:spPr>
          <a:xfrm>
            <a:off x="5677914" y="4001414"/>
            <a:ext cx="499625" cy="-229332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68" name="Shape 58"/>
          <p:cNvSpPr/>
          <p:nvPr/>
        </p:nvSpPr>
        <p:spPr>
          <a:xfrm>
            <a:off x="6177538" y="3772083"/>
            <a:ext cx="582895" cy="62545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69" name="Shape 59"/>
          <p:cNvSpPr/>
          <p:nvPr/>
        </p:nvSpPr>
        <p:spPr>
          <a:xfrm>
            <a:off x="2564892" y="4365528"/>
            <a:ext cx="64008" cy="6400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0" name="Shape 60"/>
          <p:cNvSpPr/>
          <p:nvPr/>
        </p:nvSpPr>
        <p:spPr>
          <a:xfrm>
            <a:off x="3064517" y="4219590"/>
            <a:ext cx="64008" cy="6400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1" name="Shape 61"/>
          <p:cNvSpPr/>
          <p:nvPr/>
        </p:nvSpPr>
        <p:spPr>
          <a:xfrm>
            <a:off x="3522506" y="4282135"/>
            <a:ext cx="64008" cy="6400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2" name="Shape 62"/>
          <p:cNvSpPr/>
          <p:nvPr/>
        </p:nvSpPr>
        <p:spPr>
          <a:xfrm>
            <a:off x="4063766" y="4031955"/>
            <a:ext cx="64008" cy="6400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3" name="Shape 63"/>
          <p:cNvSpPr/>
          <p:nvPr/>
        </p:nvSpPr>
        <p:spPr>
          <a:xfrm>
            <a:off x="4563390" y="4094500"/>
            <a:ext cx="64008" cy="6400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4" name="Shape 64"/>
          <p:cNvSpPr/>
          <p:nvPr/>
        </p:nvSpPr>
        <p:spPr>
          <a:xfrm>
            <a:off x="5104650" y="3886017"/>
            <a:ext cx="64008" cy="6400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5" name="Shape 65"/>
          <p:cNvSpPr/>
          <p:nvPr/>
        </p:nvSpPr>
        <p:spPr>
          <a:xfrm>
            <a:off x="5645910" y="3969410"/>
            <a:ext cx="64008" cy="6400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6" name="Shape 66"/>
          <p:cNvSpPr/>
          <p:nvPr/>
        </p:nvSpPr>
        <p:spPr>
          <a:xfrm>
            <a:off x="6145534" y="3740079"/>
            <a:ext cx="64008" cy="6400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7" name="Shape 67"/>
          <p:cNvSpPr/>
          <p:nvPr/>
        </p:nvSpPr>
        <p:spPr>
          <a:xfrm>
            <a:off x="6728430" y="3802624"/>
            <a:ext cx="64008" cy="6400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8" name="Text 68"/>
          <p:cNvSpPr txBox="1"/>
          <p:nvPr/>
        </p:nvSpPr>
        <p:spPr>
          <a:xfrm>
            <a:off x="2560320" y="469087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</a:t>
            </a:r>
            <a:endParaRPr lang="en-US" sz="670" dirty="0"/>
          </a:p>
        </p:txBody>
      </p:sp>
      <p:sp>
        <p:nvSpPr>
          <p:cNvPr id="79" name="Text 69"/>
          <p:cNvSpPr txBox="1"/>
          <p:nvPr/>
        </p:nvSpPr>
        <p:spPr>
          <a:xfrm>
            <a:off x="6513546" y="4690872"/>
            <a:ext cx="3291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7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OCT</a:t>
            </a:r>
            <a:endParaRPr lang="en-US" sz="670" dirty="0"/>
          </a:p>
        </p:txBody>
      </p:sp>
      <p:sp>
        <p:nvSpPr>
          <p:cNvPr id="80" name="Shape 70"/>
          <p:cNvSpPr/>
          <p:nvPr/>
        </p:nvSpPr>
        <p:spPr>
          <a:xfrm>
            <a:off x="7171914" y="3054096"/>
            <a:ext cx="2913918" cy="1938528"/>
          </a:xfrm>
          <a:prstGeom prst="roundRect">
            <a:avLst>
              <a:gd name="adj" fmla="val 5660"/>
            </a:avLst>
          </a:prstGeom>
          <a:solidFill>
            <a:srgbClr val="1D1728"/>
          </a:solidFill>
          <a:ln w="8890">
            <a:solidFill>
              <a:srgbClr val="2B2435"/>
            </a:solidFill>
            <a:prstDash val="solid"/>
          </a:ln>
        </p:spPr>
      </p:sp>
      <p:sp>
        <p:nvSpPr>
          <p:cNvPr id="81" name="Text 71"/>
          <p:cNvSpPr txBox="1"/>
          <p:nvPr/>
        </p:nvSpPr>
        <p:spPr>
          <a:xfrm>
            <a:off x="7336506" y="3200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F7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Actividad</a:t>
            </a:r>
            <a:endParaRPr lang="en-US" sz="940" dirty="0"/>
          </a:p>
        </p:txBody>
      </p:sp>
      <p:sp>
        <p:nvSpPr>
          <p:cNvPr id="82" name="Shape 72"/>
          <p:cNvSpPr/>
          <p:nvPr/>
        </p:nvSpPr>
        <p:spPr>
          <a:xfrm>
            <a:off x="7336506" y="3566160"/>
            <a:ext cx="256032" cy="256032"/>
          </a:xfrm>
          <a:prstGeom prst="ellipse">
            <a:avLst/>
          </a:prstGeom>
          <a:solidFill>
            <a:srgbClr val="2A2037"/>
          </a:solidFill>
          <a:ln w="12700">
            <a:solidFill>
              <a:srgbClr val="2A2037">
                <a:alpha val="0"/>
              </a:srgbClr>
            </a:solidFill>
            <a:prstDash val="solid"/>
          </a:ln>
        </p:spPr>
      </p:sp>
      <p:pic>
        <p:nvPicPr>
          <p:cNvPr id="8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386798" y="3616452"/>
            <a:ext cx="155448" cy="155448"/>
          </a:xfrm>
          <a:prstGeom prst="rect">
            <a:avLst/>
          </a:prstGeom>
        </p:spPr>
      </p:pic>
      <p:sp>
        <p:nvSpPr>
          <p:cNvPr id="84" name="Text 73"/>
          <p:cNvSpPr txBox="1"/>
          <p:nvPr/>
        </p:nvSpPr>
        <p:spPr>
          <a:xfrm>
            <a:off x="7683978" y="3557016"/>
            <a:ext cx="225555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F7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enviado</a:t>
            </a:r>
            <a:endParaRPr lang="en-US" sz="790" dirty="0"/>
          </a:p>
        </p:txBody>
      </p:sp>
      <p:sp>
        <p:nvSpPr>
          <p:cNvPr id="85" name="Text 74"/>
          <p:cNvSpPr txBox="1"/>
          <p:nvPr/>
        </p:nvSpPr>
        <p:spPr>
          <a:xfrm>
            <a:off x="7683978" y="3712464"/>
            <a:ext cx="22555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Digital</a:t>
            </a:r>
            <a:endParaRPr lang="en-US" sz="720" dirty="0"/>
          </a:p>
        </p:txBody>
      </p:sp>
      <p:sp>
        <p:nvSpPr>
          <p:cNvPr id="86" name="Text 75"/>
          <p:cNvSpPr txBox="1"/>
          <p:nvPr/>
        </p:nvSpPr>
        <p:spPr>
          <a:xfrm>
            <a:off x="7683978" y="3840480"/>
            <a:ext cx="225555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Hace 18 min</a:t>
            </a:r>
            <a:endParaRPr lang="en-US" sz="650" dirty="0"/>
          </a:p>
        </p:txBody>
      </p:sp>
      <p:sp>
        <p:nvSpPr>
          <p:cNvPr id="87" name="Shape 76"/>
          <p:cNvSpPr/>
          <p:nvPr/>
        </p:nvSpPr>
        <p:spPr>
          <a:xfrm>
            <a:off x="7336506" y="3995928"/>
            <a:ext cx="256032" cy="256032"/>
          </a:xfrm>
          <a:prstGeom prst="ellipse">
            <a:avLst/>
          </a:prstGeom>
          <a:solidFill>
            <a:srgbClr val="2A2037"/>
          </a:solidFill>
          <a:ln w="12700">
            <a:solidFill>
              <a:srgbClr val="2A2037">
                <a:alpha val="0"/>
              </a:srgbClr>
            </a:solidFill>
            <a:prstDash val="solid"/>
          </a:ln>
        </p:spPr>
      </p:sp>
      <p:pic>
        <p:nvPicPr>
          <p:cNvPr id="88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386798" y="4046220"/>
            <a:ext cx="155448" cy="155448"/>
          </a:xfrm>
          <a:prstGeom prst="rect">
            <a:avLst/>
          </a:prstGeom>
        </p:spPr>
      </p:pic>
      <p:sp>
        <p:nvSpPr>
          <p:cNvPr id="89" name="Text 77"/>
          <p:cNvSpPr txBox="1"/>
          <p:nvPr/>
        </p:nvSpPr>
        <p:spPr>
          <a:xfrm>
            <a:off x="7683978" y="3986784"/>
            <a:ext cx="225555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F7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agendada</a:t>
            </a:r>
            <a:endParaRPr lang="en-US" sz="790" dirty="0"/>
          </a:p>
        </p:txBody>
      </p:sp>
      <p:sp>
        <p:nvSpPr>
          <p:cNvPr id="90" name="Text 78"/>
          <p:cNvSpPr txBox="1"/>
          <p:nvPr/>
        </p:nvSpPr>
        <p:spPr>
          <a:xfrm>
            <a:off x="7683978" y="4142232"/>
            <a:ext cx="22555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 Studio</a:t>
            </a:r>
            <a:endParaRPr lang="en-US" sz="720" dirty="0"/>
          </a:p>
        </p:txBody>
      </p:sp>
      <p:sp>
        <p:nvSpPr>
          <p:cNvPr id="91" name="Text 79"/>
          <p:cNvSpPr txBox="1"/>
          <p:nvPr/>
        </p:nvSpPr>
        <p:spPr>
          <a:xfrm>
            <a:off x="7683978" y="4270248"/>
            <a:ext cx="225555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Hoy, 12:30</a:t>
            </a:r>
            <a:endParaRPr lang="en-US" sz="650" dirty="0"/>
          </a:p>
        </p:txBody>
      </p:sp>
      <p:sp>
        <p:nvSpPr>
          <p:cNvPr id="92" name="Shape 80"/>
          <p:cNvSpPr/>
          <p:nvPr/>
        </p:nvSpPr>
        <p:spPr>
          <a:xfrm>
            <a:off x="7336506" y="4425696"/>
            <a:ext cx="256032" cy="256032"/>
          </a:xfrm>
          <a:prstGeom prst="ellipse">
            <a:avLst/>
          </a:prstGeom>
          <a:solidFill>
            <a:srgbClr val="2A2037"/>
          </a:solidFill>
          <a:ln w="12700">
            <a:solidFill>
              <a:srgbClr val="2A2037">
                <a:alpha val="0"/>
              </a:srgbClr>
            </a:solidFill>
            <a:prstDash val="solid"/>
          </a:ln>
        </p:spPr>
      </p:sp>
      <p:pic>
        <p:nvPicPr>
          <p:cNvPr id="9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386798" y="4475988"/>
            <a:ext cx="155448" cy="155448"/>
          </a:xfrm>
          <a:prstGeom prst="rect">
            <a:avLst/>
          </a:prstGeom>
        </p:spPr>
      </p:pic>
      <p:sp>
        <p:nvSpPr>
          <p:cNvPr id="94" name="Text 81"/>
          <p:cNvSpPr txBox="1"/>
          <p:nvPr/>
        </p:nvSpPr>
        <p:spPr>
          <a:xfrm>
            <a:off x="7683978" y="4416552"/>
            <a:ext cx="225555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90" b="1" dirty="0">
                <a:solidFill>
                  <a:srgbClr val="F7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Oferta actualizada</a:t>
            </a:r>
            <a:endParaRPr lang="en-US" sz="790" dirty="0"/>
          </a:p>
        </p:txBody>
      </p:sp>
      <p:sp>
        <p:nvSpPr>
          <p:cNvPr id="95" name="Text 82"/>
          <p:cNvSpPr txBox="1"/>
          <p:nvPr/>
        </p:nvSpPr>
        <p:spPr>
          <a:xfrm>
            <a:off x="7683978" y="4572000"/>
            <a:ext cx="22555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Senda Labs</a:t>
            </a:r>
            <a:endParaRPr lang="en-US" sz="720" dirty="0"/>
          </a:p>
        </p:txBody>
      </p:sp>
      <p:sp>
        <p:nvSpPr>
          <p:cNvPr id="96" name="Text 83"/>
          <p:cNvSpPr txBox="1"/>
          <p:nvPr/>
        </p:nvSpPr>
        <p:spPr>
          <a:xfrm>
            <a:off x="7683978" y="4700016"/>
            <a:ext cx="225555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Ayer</a:t>
            </a:r>
            <a:endParaRPr lang="en-US" sz="650" dirty="0"/>
          </a:p>
        </p:txBody>
      </p:sp>
      <p:sp>
        <p:nvSpPr>
          <p:cNvPr id="97" name="Shape 84"/>
          <p:cNvSpPr/>
          <p:nvPr/>
        </p:nvSpPr>
        <p:spPr>
          <a:xfrm>
            <a:off x="2286000" y="5157216"/>
            <a:ext cx="7799832" cy="1517904"/>
          </a:xfrm>
          <a:prstGeom prst="roundRect">
            <a:avLst>
              <a:gd name="adj" fmla="val 7229"/>
            </a:avLst>
          </a:prstGeom>
          <a:solidFill>
            <a:srgbClr val="1D1728"/>
          </a:solidFill>
          <a:ln w="8890">
            <a:solidFill>
              <a:srgbClr val="2B2435"/>
            </a:solidFill>
            <a:prstDash val="solid"/>
          </a:ln>
        </p:spPr>
      </p:sp>
      <p:sp>
        <p:nvSpPr>
          <p:cNvPr id="98" name="Text 85"/>
          <p:cNvSpPr txBox="1"/>
          <p:nvPr/>
        </p:nvSpPr>
        <p:spPr>
          <a:xfrm>
            <a:off x="2450592" y="52852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F7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Oportunidades abiertas</a:t>
            </a:r>
            <a:endParaRPr lang="en-US" sz="940" dirty="0"/>
          </a:p>
        </p:txBody>
      </p:sp>
      <p:sp>
        <p:nvSpPr>
          <p:cNvPr id="99" name="Shape 86"/>
          <p:cNvSpPr/>
          <p:nvPr/>
        </p:nvSpPr>
        <p:spPr>
          <a:xfrm>
            <a:off x="9308592" y="5248656"/>
            <a:ext cx="594360" cy="219456"/>
          </a:xfrm>
          <a:prstGeom prst="roundRect">
            <a:avLst>
              <a:gd name="adj" fmla="val 62500"/>
            </a:avLst>
          </a:prstGeom>
          <a:solidFill>
            <a:srgbClr val="251E32"/>
          </a:solidFill>
          <a:ln w="10160">
            <a:solidFill>
              <a:srgbClr val="2B2435"/>
            </a:solidFill>
            <a:prstDash val="solid"/>
          </a:ln>
        </p:spPr>
      </p:sp>
      <p:sp>
        <p:nvSpPr>
          <p:cNvPr id="100" name="Text 87"/>
          <p:cNvSpPr txBox="1"/>
          <p:nvPr/>
        </p:nvSpPr>
        <p:spPr>
          <a:xfrm>
            <a:off x="9381744" y="5262372"/>
            <a:ext cx="44805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Todas</a:t>
            </a:r>
            <a:endParaRPr lang="en-US" sz="750" dirty="0"/>
          </a:p>
        </p:txBody>
      </p:sp>
      <p:sp>
        <p:nvSpPr>
          <p:cNvPr id="101" name="Shape 88"/>
          <p:cNvSpPr/>
          <p:nvPr/>
        </p:nvSpPr>
        <p:spPr>
          <a:xfrm>
            <a:off x="2304288" y="5596128"/>
            <a:ext cx="7763256" cy="265176"/>
          </a:xfrm>
          <a:prstGeom prst="roundRect">
            <a:avLst>
              <a:gd name="adj" fmla="val 13793"/>
            </a:avLst>
          </a:prstGeom>
          <a:solidFill>
            <a:srgbClr val="1A1523"/>
          </a:solidFill>
          <a:ln w="12700">
            <a:solidFill>
              <a:srgbClr val="1A1523">
                <a:alpha val="0"/>
              </a:srgbClr>
            </a:solidFill>
            <a:prstDash val="solid"/>
          </a:ln>
        </p:spPr>
      </p:sp>
      <p:sp>
        <p:nvSpPr>
          <p:cNvPr id="102" name="Text 89"/>
          <p:cNvSpPr txBox="1"/>
          <p:nvPr/>
        </p:nvSpPr>
        <p:spPr>
          <a:xfrm>
            <a:off x="2450592" y="5660136"/>
            <a:ext cx="2377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EMPRESA</a:t>
            </a:r>
            <a:endParaRPr lang="en-US" sz="660" dirty="0"/>
          </a:p>
        </p:txBody>
      </p:sp>
      <p:sp>
        <p:nvSpPr>
          <p:cNvPr id="103" name="Text 90"/>
          <p:cNvSpPr txBox="1"/>
          <p:nvPr/>
        </p:nvSpPr>
        <p:spPr>
          <a:xfrm>
            <a:off x="4965192" y="5660136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FASE</a:t>
            </a:r>
            <a:endParaRPr lang="en-US" sz="660" dirty="0"/>
          </a:p>
        </p:txBody>
      </p:sp>
      <p:sp>
        <p:nvSpPr>
          <p:cNvPr id="104" name="Text 91"/>
          <p:cNvSpPr txBox="1"/>
          <p:nvPr/>
        </p:nvSpPr>
        <p:spPr>
          <a:xfrm>
            <a:off x="6336792" y="5660136"/>
            <a:ext cx="960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</a:t>
            </a:r>
            <a:endParaRPr lang="en-US" sz="660" dirty="0"/>
          </a:p>
        </p:txBody>
      </p:sp>
      <p:sp>
        <p:nvSpPr>
          <p:cNvPr id="105" name="Text 92"/>
          <p:cNvSpPr txBox="1"/>
          <p:nvPr/>
        </p:nvSpPr>
        <p:spPr>
          <a:xfrm>
            <a:off x="7434072" y="5660136"/>
            <a:ext cx="26609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60" b="1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PRÓXIMA ACCIÓN</a:t>
            </a:r>
            <a:endParaRPr lang="en-US" sz="660" dirty="0"/>
          </a:p>
        </p:txBody>
      </p:sp>
      <p:sp>
        <p:nvSpPr>
          <p:cNvPr id="106" name="Text 93"/>
          <p:cNvSpPr txBox="1"/>
          <p:nvPr/>
        </p:nvSpPr>
        <p:spPr>
          <a:xfrm>
            <a:off x="2450592" y="5907024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7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Digital</a:t>
            </a:r>
            <a:endParaRPr lang="en-US" sz="730" dirty="0"/>
          </a:p>
        </p:txBody>
      </p:sp>
      <p:sp>
        <p:nvSpPr>
          <p:cNvPr id="107" name="Shape 94"/>
          <p:cNvSpPr/>
          <p:nvPr/>
        </p:nvSpPr>
        <p:spPr>
          <a:xfrm>
            <a:off x="4956048" y="5879592"/>
            <a:ext cx="786384" cy="182880"/>
          </a:xfrm>
          <a:prstGeom prst="roundRect">
            <a:avLst>
              <a:gd name="adj" fmla="val 75000"/>
            </a:avLst>
          </a:prstGeom>
          <a:solidFill>
            <a:srgbClr val="2A2037"/>
          </a:solidFill>
          <a:ln w="10160">
            <a:solidFill>
              <a:srgbClr val="2A2037"/>
            </a:solidFill>
            <a:prstDash val="solid"/>
          </a:ln>
        </p:spPr>
      </p:sp>
      <p:sp>
        <p:nvSpPr>
          <p:cNvPr id="108" name="Text 95"/>
          <p:cNvSpPr txBox="1"/>
          <p:nvPr/>
        </p:nvSpPr>
        <p:spPr>
          <a:xfrm>
            <a:off x="5029200" y="5893308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0" b="1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Propuesta</a:t>
            </a:r>
            <a:endParaRPr lang="en-US" sz="670" dirty="0"/>
          </a:p>
        </p:txBody>
      </p:sp>
      <p:sp>
        <p:nvSpPr>
          <p:cNvPr id="109" name="Text 96"/>
          <p:cNvSpPr txBox="1"/>
          <p:nvPr/>
        </p:nvSpPr>
        <p:spPr>
          <a:xfrm>
            <a:off x="6336792" y="5907024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7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28.400 €</a:t>
            </a:r>
            <a:endParaRPr lang="en-US" sz="720" dirty="0"/>
          </a:p>
        </p:txBody>
      </p:sp>
      <p:sp>
        <p:nvSpPr>
          <p:cNvPr id="110" name="Text 97"/>
          <p:cNvSpPr txBox="1"/>
          <p:nvPr/>
        </p:nvSpPr>
        <p:spPr>
          <a:xfrm>
            <a:off x="7434072" y="5907024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Revisar contrato</a:t>
            </a:r>
            <a:endParaRPr lang="en-US" sz="720" dirty="0"/>
          </a:p>
        </p:txBody>
      </p:sp>
      <p:sp>
        <p:nvSpPr>
          <p:cNvPr id="111" name="Shape 98"/>
          <p:cNvSpPr/>
          <p:nvPr/>
        </p:nvSpPr>
        <p:spPr>
          <a:xfrm>
            <a:off x="2423160" y="6126480"/>
            <a:ext cx="7525512" cy="0"/>
          </a:xfrm>
          <a:prstGeom prst="line">
            <a:avLst/>
          </a:prstGeom>
          <a:noFill/>
          <a:ln w="5715">
            <a:solidFill>
              <a:srgbClr val="2B2435"/>
            </a:solidFill>
            <a:prstDash val="solid"/>
            <a:headEnd type="none"/>
            <a:tailEnd type="none"/>
          </a:ln>
        </p:spPr>
      </p:sp>
      <p:sp>
        <p:nvSpPr>
          <p:cNvPr id="112" name="Text 99"/>
          <p:cNvSpPr txBox="1"/>
          <p:nvPr/>
        </p:nvSpPr>
        <p:spPr>
          <a:xfrm>
            <a:off x="2450592" y="616305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7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 Studio</a:t>
            </a:r>
            <a:endParaRPr lang="en-US" sz="730" dirty="0"/>
          </a:p>
        </p:txBody>
      </p:sp>
      <p:sp>
        <p:nvSpPr>
          <p:cNvPr id="113" name="Shape 100"/>
          <p:cNvSpPr/>
          <p:nvPr/>
        </p:nvSpPr>
        <p:spPr>
          <a:xfrm>
            <a:off x="4956048" y="6135624"/>
            <a:ext cx="786384" cy="182880"/>
          </a:xfrm>
          <a:prstGeom prst="roundRect">
            <a:avLst>
              <a:gd name="adj" fmla="val 75000"/>
            </a:avLst>
          </a:prstGeom>
          <a:solidFill>
            <a:srgbClr val="2A2037"/>
          </a:solidFill>
          <a:ln w="10160">
            <a:solidFill>
              <a:srgbClr val="2A2037"/>
            </a:solidFill>
            <a:prstDash val="solid"/>
          </a:ln>
        </p:spPr>
      </p:sp>
      <p:sp>
        <p:nvSpPr>
          <p:cNvPr id="114" name="Text 101"/>
          <p:cNvSpPr txBox="1"/>
          <p:nvPr/>
        </p:nvSpPr>
        <p:spPr>
          <a:xfrm>
            <a:off x="5029200" y="6149340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0" b="1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</a:t>
            </a:r>
            <a:endParaRPr lang="en-US" sz="670" dirty="0"/>
          </a:p>
        </p:txBody>
      </p:sp>
      <p:sp>
        <p:nvSpPr>
          <p:cNvPr id="115" name="Text 102"/>
          <p:cNvSpPr txBox="1"/>
          <p:nvPr/>
        </p:nvSpPr>
        <p:spPr>
          <a:xfrm>
            <a:off x="6336792" y="6163056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7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17.900 €</a:t>
            </a:r>
            <a:endParaRPr lang="en-US" sz="720" dirty="0"/>
          </a:p>
        </p:txBody>
      </p:sp>
      <p:sp>
        <p:nvSpPr>
          <p:cNvPr id="116" name="Text 103"/>
          <p:cNvSpPr txBox="1"/>
          <p:nvPr/>
        </p:nvSpPr>
        <p:spPr>
          <a:xfrm>
            <a:off x="7434072" y="6163056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Enviar caso de uso</a:t>
            </a:r>
            <a:endParaRPr lang="en-US" sz="720" dirty="0"/>
          </a:p>
        </p:txBody>
      </p:sp>
      <p:sp>
        <p:nvSpPr>
          <p:cNvPr id="117" name="Shape 104"/>
          <p:cNvSpPr/>
          <p:nvPr/>
        </p:nvSpPr>
        <p:spPr>
          <a:xfrm>
            <a:off x="2423160" y="6382512"/>
            <a:ext cx="7525512" cy="0"/>
          </a:xfrm>
          <a:prstGeom prst="line">
            <a:avLst/>
          </a:prstGeom>
          <a:noFill/>
          <a:ln w="5715">
            <a:solidFill>
              <a:srgbClr val="2B2435"/>
            </a:solidFill>
            <a:prstDash val="solid"/>
            <a:headEnd type="none"/>
            <a:tailEnd type="none"/>
          </a:ln>
        </p:spPr>
      </p:sp>
      <p:sp>
        <p:nvSpPr>
          <p:cNvPr id="118" name="Text 105"/>
          <p:cNvSpPr txBox="1"/>
          <p:nvPr/>
        </p:nvSpPr>
        <p:spPr>
          <a:xfrm>
            <a:off x="2450592" y="6419088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7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Senda Labs</a:t>
            </a:r>
            <a:endParaRPr lang="en-US" sz="730" dirty="0"/>
          </a:p>
        </p:txBody>
      </p:sp>
      <p:sp>
        <p:nvSpPr>
          <p:cNvPr id="119" name="Shape 106"/>
          <p:cNvSpPr/>
          <p:nvPr/>
        </p:nvSpPr>
        <p:spPr>
          <a:xfrm>
            <a:off x="4956048" y="6391656"/>
            <a:ext cx="786384" cy="182880"/>
          </a:xfrm>
          <a:prstGeom prst="roundRect">
            <a:avLst>
              <a:gd name="adj" fmla="val 75000"/>
            </a:avLst>
          </a:prstGeom>
          <a:solidFill>
            <a:srgbClr val="2A1B00"/>
          </a:solidFill>
          <a:ln w="10160">
            <a:solidFill>
              <a:srgbClr val="2A1B00"/>
            </a:solidFill>
            <a:prstDash val="solid"/>
          </a:ln>
        </p:spPr>
      </p:sp>
      <p:sp>
        <p:nvSpPr>
          <p:cNvPr id="120" name="Text 107"/>
          <p:cNvSpPr txBox="1"/>
          <p:nvPr/>
        </p:nvSpPr>
        <p:spPr>
          <a:xfrm>
            <a:off x="5029200" y="6405372"/>
            <a:ext cx="6400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Negociación</a:t>
            </a:r>
            <a:endParaRPr lang="en-US" sz="670" dirty="0"/>
          </a:p>
        </p:txBody>
      </p:sp>
      <p:sp>
        <p:nvSpPr>
          <p:cNvPr id="121" name="Text 108"/>
          <p:cNvSpPr txBox="1"/>
          <p:nvPr/>
        </p:nvSpPr>
        <p:spPr>
          <a:xfrm>
            <a:off x="6336792" y="6419088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7F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41.200 €</a:t>
            </a:r>
            <a:endParaRPr lang="en-US" sz="720" dirty="0"/>
          </a:p>
        </p:txBody>
      </p:sp>
      <p:sp>
        <p:nvSpPr>
          <p:cNvPr id="122" name="Text 109"/>
          <p:cNvSpPr txBox="1"/>
          <p:nvPr/>
        </p:nvSpPr>
        <p:spPr>
          <a:xfrm>
            <a:off x="7434072" y="6419088"/>
            <a:ext cx="24505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Llamada con dirección</a:t>
            </a:r>
            <a:endParaRPr lang="en-US" sz="7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56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352544" y="256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Adaptación del referente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9674352" y="25603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20624" y="93268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Qué se toma y cómo se reinterpreta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20624" y="1426464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propuesta conserva la claridad editorial del manual aportado, pero traduce su lenguaje a un sistema de producto bimodal y tokenizado.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0624" y="1938528"/>
            <a:ext cx="2148840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8890">
            <a:solidFill>
              <a:srgbClr val="D8D2E0"/>
            </a:solidFill>
            <a:prstDash val="solid"/>
          </a:ln>
        </p:spPr>
      </p:sp>
      <p:pic>
        <p:nvPicPr>
          <p:cNvPr id="8" name="Image 0" descr="/mnt/data/nexo_identity_src/pag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75104"/>
            <a:ext cx="2075688" cy="11704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0624" y="3447288"/>
            <a:ext cx="2148840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8890">
            <a:solidFill>
              <a:srgbClr val="D8D2E0"/>
            </a:solidFill>
            <a:prstDash val="solid"/>
          </a:ln>
        </p:spPr>
      </p:sp>
      <p:pic>
        <p:nvPicPr>
          <p:cNvPr id="10" name="Image 1" descr="/mnt/data/nexo_identity_src/page-0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83864"/>
            <a:ext cx="2075688" cy="11704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20624" y="4956048"/>
            <a:ext cx="2148840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8890">
            <a:solidFill>
              <a:srgbClr val="D8D2E0"/>
            </a:solidFill>
            <a:prstDash val="solid"/>
          </a:ln>
        </p:spPr>
      </p:sp>
      <p:pic>
        <p:nvPicPr>
          <p:cNvPr id="12" name="Image 2" descr="/mnt/data/nexo_identity_src/page-1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992624"/>
            <a:ext cx="2075688" cy="117043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761488" y="2432304"/>
            <a:ext cx="576072" cy="0"/>
          </a:xfrm>
          <a:prstGeom prst="line">
            <a:avLst/>
          </a:prstGeom>
          <a:noFill/>
          <a:ln w="2286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14" name="Shape 9"/>
          <p:cNvSpPr/>
          <p:nvPr/>
        </p:nvSpPr>
        <p:spPr>
          <a:xfrm>
            <a:off x="3200400" y="2340864"/>
            <a:ext cx="164592" cy="182880"/>
          </a:xfrm>
          <a:prstGeom prst="chevron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2761488" y="3941064"/>
            <a:ext cx="576072" cy="0"/>
          </a:xfrm>
          <a:prstGeom prst="line">
            <a:avLst/>
          </a:prstGeom>
          <a:noFill/>
          <a:ln w="2286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16" name="Shape 11"/>
          <p:cNvSpPr/>
          <p:nvPr/>
        </p:nvSpPr>
        <p:spPr>
          <a:xfrm>
            <a:off x="3200400" y="3849624"/>
            <a:ext cx="164592" cy="182880"/>
          </a:xfrm>
          <a:prstGeom prst="chevron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2761488" y="5449824"/>
            <a:ext cx="576072" cy="0"/>
          </a:xfrm>
          <a:prstGeom prst="line">
            <a:avLst/>
          </a:prstGeom>
          <a:noFill/>
          <a:ln w="2286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18" name="Shape 13"/>
          <p:cNvSpPr/>
          <p:nvPr/>
        </p:nvSpPr>
        <p:spPr>
          <a:xfrm>
            <a:off x="3200400" y="5358384"/>
            <a:ext cx="164592" cy="182880"/>
          </a:xfrm>
          <a:prstGeom prst="chevron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3566160" y="1938528"/>
            <a:ext cx="6675120" cy="1243584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0160">
            <a:solidFill>
              <a:srgbClr val="ECE8F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822192" y="21396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Círculo abierto → órbita modular</a:t>
            </a:r>
            <a:endParaRPr lang="en-US" sz="1320" dirty="0"/>
          </a:p>
        </p:txBody>
      </p:sp>
      <p:sp>
        <p:nvSpPr>
          <p:cNvPr id="21" name="Text 16"/>
          <p:cNvSpPr txBox="1"/>
          <p:nvPr/>
        </p:nvSpPr>
        <p:spPr>
          <a:xfrm>
            <a:off x="6675120" y="2139696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gesto de conexión y flujo se conserva, incorporando nodos que representan módulos, usuarios y datos.</a:t>
            </a:r>
            <a:endParaRPr lang="en-US" sz="940" dirty="0"/>
          </a:p>
        </p:txBody>
      </p:sp>
      <p:sp>
        <p:nvSpPr>
          <p:cNvPr id="22" name="Shape 17"/>
          <p:cNvSpPr/>
          <p:nvPr/>
        </p:nvSpPr>
        <p:spPr>
          <a:xfrm>
            <a:off x="3566160" y="3447288"/>
            <a:ext cx="6675120" cy="1243584"/>
          </a:xfrm>
          <a:prstGeom prst="roundRect">
            <a:avLst>
              <a:gd name="adj" fmla="val 10294"/>
            </a:avLst>
          </a:prstGeom>
          <a:solidFill>
            <a:srgbClr val="F5F3FF"/>
          </a:solidFill>
          <a:ln w="10160">
            <a:solidFill>
              <a:srgbClr val="DDD6FE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3822192" y="36484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Paleta corporativa → tokens de tema</a:t>
            </a:r>
            <a:endParaRPr lang="en-US" sz="1320" dirty="0"/>
          </a:p>
        </p:txBody>
      </p:sp>
      <p:sp>
        <p:nvSpPr>
          <p:cNvPr id="24" name="Text 19"/>
          <p:cNvSpPr txBox="1"/>
          <p:nvPr/>
        </p:nvSpPr>
        <p:spPr>
          <a:xfrm>
            <a:off x="6675120" y="3648456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contraste de la referencia se transforma en Purple + Indigo + Cyan con equivalencias Light/Dark y estados semánticos.</a:t>
            </a:r>
            <a:endParaRPr lang="en-US" sz="940" dirty="0"/>
          </a:p>
        </p:txBody>
      </p:sp>
      <p:sp>
        <p:nvSpPr>
          <p:cNvPr id="25" name="Shape 20"/>
          <p:cNvSpPr/>
          <p:nvPr/>
        </p:nvSpPr>
        <p:spPr>
          <a:xfrm>
            <a:off x="3566160" y="4956048"/>
            <a:ext cx="6675120" cy="1243584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0160">
            <a:solidFill>
              <a:srgbClr val="ECE8F0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3822192" y="515721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Patrón circular → recurso de producto</a:t>
            </a:r>
            <a:endParaRPr lang="en-US" sz="1320" dirty="0"/>
          </a:p>
        </p:txBody>
      </p:sp>
      <p:sp>
        <p:nvSpPr>
          <p:cNvPr id="27" name="Text 22"/>
          <p:cNvSpPr txBox="1"/>
          <p:nvPr/>
        </p:nvSpPr>
        <p:spPr>
          <a:xfrm>
            <a:off x="6675120" y="5157216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circunferencias pasan a ser órbitas abiertas aplicables a portadas, empty states, onboarding y motion.</a:t>
            </a:r>
            <a:endParaRPr lang="en-US" sz="940" dirty="0"/>
          </a:p>
        </p:txBody>
      </p:sp>
      <p:sp>
        <p:nvSpPr>
          <p:cNvPr id="28" name="Shape 23"/>
          <p:cNvSpPr/>
          <p:nvPr/>
        </p:nvSpPr>
        <p:spPr>
          <a:xfrm>
            <a:off x="3566160" y="6556248"/>
            <a:ext cx="6675120" cy="438912"/>
          </a:xfrm>
          <a:prstGeom prst="roundRect">
            <a:avLst>
              <a:gd name="adj" fmla="val 22917"/>
            </a:avLst>
          </a:prstGeom>
          <a:solidFill>
            <a:srgbClr val="0E0B14"/>
          </a:solidFill>
          <a:ln w="12700">
            <a:solidFill>
              <a:srgbClr val="0E0B14">
                <a:alpha val="0"/>
              </a:srgbClr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3822192" y="6684264"/>
            <a:ext cx="6108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Raleway editorial → Inter Display + Inter para mayor legibilidad en tablas y UI densa.</a:t>
            </a:r>
            <a:endParaRPr lang="en-US" sz="87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56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352544" y="256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Usos correctos / incorrectos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9674352" y="25603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384048" y="1115568"/>
            <a:ext cx="2788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Criterios de</a:t>
            </a:r>
            <a:endParaRPr lang="en-US" sz="29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29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consistencia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384048" y="2231136"/>
            <a:ext cx="2788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4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identidad debe ser reconocible por su estructura, no por acumular efectos. El morado organiza la interacción; los neutros sostienen la densidad.</a:t>
            </a:r>
            <a:endParaRPr lang="en-US" sz="1240" dirty="0"/>
          </a:p>
        </p:txBody>
      </p:sp>
      <p:sp>
        <p:nvSpPr>
          <p:cNvPr id="7" name="Text 5"/>
          <p:cNvSpPr txBox="1"/>
          <p:nvPr/>
        </p:nvSpPr>
        <p:spPr>
          <a:xfrm>
            <a:off x="402336" y="387705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Sí</a:t>
            </a:r>
            <a:endParaRPr lang="en-US" sz="930" dirty="0"/>
          </a:p>
        </p:txBody>
      </p:sp>
      <p:sp>
        <p:nvSpPr>
          <p:cNvPr id="8" name="Text 6"/>
          <p:cNvSpPr txBox="1"/>
          <p:nvPr/>
        </p:nvSpPr>
        <p:spPr>
          <a:xfrm>
            <a:off x="402336" y="4224528"/>
            <a:ext cx="2606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Un CTA dominante por contexto</a:t>
            </a:r>
            <a:endParaRPr lang="en-US" sz="96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Estados con icono y texto</a:t>
            </a:r>
            <a:endParaRPr lang="en-US" sz="96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Superficies separadas por tono/borde</a:t>
            </a:r>
            <a:endParaRPr lang="en-US" sz="96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Gráficos con etiquetas directas</a:t>
            </a:r>
            <a:endParaRPr lang="en-US" sz="96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Contraste AA como mínimo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3703320" y="1143000"/>
            <a:ext cx="2880360" cy="1965960"/>
          </a:xfrm>
          <a:prstGeom prst="roundRect">
            <a:avLst>
              <a:gd name="adj" fmla="val 7442"/>
            </a:avLst>
          </a:prstGeom>
          <a:solidFill>
            <a:srgbClr val="FFFFFF"/>
          </a:solidFill>
          <a:ln w="10160">
            <a:solidFill>
              <a:srgbClr val="EC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13632" y="1353312"/>
            <a:ext cx="749808" cy="210312"/>
          </a:xfrm>
          <a:prstGeom prst="roundRect">
            <a:avLst>
              <a:gd name="adj" fmla="val 65217"/>
            </a:avLst>
          </a:prstGeom>
          <a:solidFill>
            <a:srgbClr val="F0FDF4"/>
          </a:solidFill>
          <a:ln w="10160">
            <a:solidFill>
              <a:srgbClr val="BBF7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86784" y="1367028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CORRECTO</a:t>
            </a:r>
            <a:endParaRPr lang="en-US" sz="730" dirty="0"/>
          </a:p>
        </p:txBody>
      </p:sp>
      <p:sp>
        <p:nvSpPr>
          <p:cNvPr id="12" name="Text 10"/>
          <p:cNvSpPr txBox="1"/>
          <p:nvPr/>
        </p:nvSpPr>
        <p:spPr>
          <a:xfrm>
            <a:off x="3913632" y="176479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Nueva oportunidad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3913632" y="2267712"/>
            <a:ext cx="1389888" cy="384048"/>
          </a:xfrm>
          <a:prstGeom prst="roundRect">
            <a:avLst>
              <a:gd name="adj" fmla="val 26190"/>
            </a:avLst>
          </a:prstGeom>
          <a:solidFill>
            <a:srgbClr val="6D28D9"/>
          </a:solidFill>
          <a:ln w="12700">
            <a:solidFill>
              <a:srgbClr val="6D28D9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13632" y="2281428"/>
            <a:ext cx="138988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Crear oportunidad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3913632" y="2761488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único CTA y contraste AAA.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6903720" y="1143000"/>
            <a:ext cx="2880360" cy="1965960"/>
          </a:xfrm>
          <a:prstGeom prst="roundRect">
            <a:avLst>
              <a:gd name="adj" fmla="val 7442"/>
            </a:avLst>
          </a:prstGeom>
          <a:solidFill>
            <a:srgbClr val="22102F"/>
          </a:solidFill>
          <a:ln w="17780">
            <a:solidFill>
              <a:srgbClr val="6D28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14032" y="1353312"/>
            <a:ext cx="877824" cy="210312"/>
          </a:xfrm>
          <a:prstGeom prst="roundRect">
            <a:avLst>
              <a:gd name="adj" fmla="val 65217"/>
            </a:avLst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87184" y="13670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INCORRECTO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7223760" y="1883664"/>
            <a:ext cx="2231136" cy="530352"/>
          </a:xfrm>
          <a:prstGeom prst="roundRect">
            <a:avLst>
              <a:gd name="adj" fmla="val 27586"/>
            </a:avLst>
          </a:prstGeom>
          <a:solidFill>
            <a:srgbClr val="8B5CF6"/>
          </a:solidFill>
          <a:ln w="25400">
            <a:solidFill>
              <a:srgbClr val="D946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23760" y="2029968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20" b="1" dirty="0">
                <a:solidFill>
                  <a:srgbClr val="E9D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CREAR AHORA</a:t>
            </a:r>
            <a:endParaRPr lang="en-US" sz="1120" dirty="0"/>
          </a:p>
        </p:txBody>
      </p:sp>
      <p:sp>
        <p:nvSpPr>
          <p:cNvPr id="21" name="Text 19"/>
          <p:cNvSpPr txBox="1"/>
          <p:nvPr/>
        </p:nvSpPr>
        <p:spPr>
          <a:xfrm>
            <a:off x="7114032" y="27614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C7A7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Glow, doble acento y texto con bajo contraste.</a:t>
            </a:r>
            <a:endParaRPr lang="en-US" sz="810" dirty="0"/>
          </a:p>
        </p:txBody>
      </p:sp>
      <p:sp>
        <p:nvSpPr>
          <p:cNvPr id="22" name="Shape 20"/>
          <p:cNvSpPr/>
          <p:nvPr/>
        </p:nvSpPr>
        <p:spPr>
          <a:xfrm>
            <a:off x="3703320" y="3456432"/>
            <a:ext cx="2880360" cy="1965960"/>
          </a:xfrm>
          <a:prstGeom prst="roundRect">
            <a:avLst>
              <a:gd name="adj" fmla="val 7442"/>
            </a:avLst>
          </a:prstGeom>
          <a:solidFill>
            <a:srgbClr val="0E0B14"/>
          </a:solidFill>
          <a:ln w="10160">
            <a:solidFill>
              <a:srgbClr val="4036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913632" y="3666744"/>
            <a:ext cx="749808" cy="210312"/>
          </a:xfrm>
          <a:prstGeom prst="roundRect">
            <a:avLst>
              <a:gd name="adj" fmla="val 65217"/>
            </a:avLst>
          </a:prstGeom>
          <a:solidFill>
            <a:srgbClr val="0E1A12"/>
          </a:solidFill>
          <a:ln w="10160">
            <a:solidFill>
              <a:srgbClr val="1E6A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86784" y="3680460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4ADE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CORRECTO</a:t>
            </a:r>
            <a:endParaRPr lang="en-US" sz="730" dirty="0"/>
          </a:p>
        </p:txBody>
      </p:sp>
      <p:sp>
        <p:nvSpPr>
          <p:cNvPr id="25" name="Shape 23"/>
          <p:cNvSpPr/>
          <p:nvPr/>
        </p:nvSpPr>
        <p:spPr>
          <a:xfrm>
            <a:off x="3913632" y="4096512"/>
            <a:ext cx="2395728" cy="731520"/>
          </a:xfrm>
          <a:prstGeom prst="roundRect">
            <a:avLst>
              <a:gd name="adj" fmla="val 13750"/>
            </a:avLst>
          </a:prstGeom>
          <a:solidFill>
            <a:srgbClr val="1D1728"/>
          </a:solidFill>
          <a:ln w="8890">
            <a:solidFill>
              <a:srgbClr val="2B24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0" y="4416552"/>
            <a:ext cx="68580" cy="6858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15968" y="42793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b="1" dirty="0">
                <a:solidFill>
                  <a:srgbClr val="FBBF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Revisión necesaria</a:t>
            </a:r>
            <a:endParaRPr lang="en-US" sz="910" dirty="0"/>
          </a:p>
        </p:txBody>
      </p:sp>
      <p:sp>
        <p:nvSpPr>
          <p:cNvPr id="28" name="Text 26"/>
          <p:cNvSpPr txBox="1"/>
          <p:nvPr/>
        </p:nvSpPr>
        <p:spPr>
          <a:xfrm>
            <a:off x="4315968" y="4507992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7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Falta el CIF del cliente</a:t>
            </a:r>
            <a:endParaRPr lang="en-US" sz="770" dirty="0"/>
          </a:p>
        </p:txBody>
      </p:sp>
      <p:sp>
        <p:nvSpPr>
          <p:cNvPr id="29" name="Text 27"/>
          <p:cNvSpPr txBox="1"/>
          <p:nvPr/>
        </p:nvSpPr>
        <p:spPr>
          <a:xfrm>
            <a:off x="3913632" y="50200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Icono + texto + color.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6903720" y="3456432"/>
            <a:ext cx="2880360" cy="1965960"/>
          </a:xfrm>
          <a:prstGeom prst="roundRect">
            <a:avLst>
              <a:gd name="adj" fmla="val 7442"/>
            </a:avLst>
          </a:prstGeom>
          <a:solidFill>
            <a:srgbClr val="000000"/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14032" y="3666744"/>
            <a:ext cx="877824" cy="210312"/>
          </a:xfrm>
          <a:prstGeom prst="roundRect">
            <a:avLst>
              <a:gd name="adj" fmla="val 65217"/>
            </a:avLst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187184" y="36804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INCORRECTO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7333488" y="4224528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07808" y="41879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114032" y="48646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10" dirty="0">
                <a:solidFill>
                  <a:srgbClr val="77777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Estado comunicado solo por color y uso de negro puro.</a:t>
            </a:r>
            <a:endParaRPr lang="en-US" sz="81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4048" y="2560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4352544" y="25603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Arquitectura de tokens &amp; handoff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9674352" y="256032"/>
            <a:ext cx="621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5C56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20624" y="9326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B1724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Del color al producto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20624" y="1426464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escalabilidad depende de separar decisiones primitivas, semánticas y de componente.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148840"/>
            <a:ext cx="1965960" cy="1051560"/>
          </a:xfrm>
          <a:prstGeom prst="roundRect">
            <a:avLst>
              <a:gd name="adj" fmla="val 13043"/>
            </a:avLst>
          </a:prstGeom>
          <a:solidFill>
            <a:srgbClr val="F5F3FF"/>
          </a:solidFill>
          <a:ln w="10160">
            <a:solidFill>
              <a:srgbClr val="EC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58952" y="2313432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b="1" spc="60" kern="0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PRIMITIVOS</a:t>
            </a:r>
            <a:endParaRPr lang="en-US" sz="780" dirty="0"/>
          </a:p>
        </p:txBody>
      </p:sp>
      <p:sp>
        <p:nvSpPr>
          <p:cNvPr id="9" name="Text 7"/>
          <p:cNvSpPr txBox="1"/>
          <p:nvPr/>
        </p:nvSpPr>
        <p:spPr>
          <a:xfrm>
            <a:off x="758952" y="2606040"/>
            <a:ext cx="16367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purple.700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neutral.950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space.4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51760" y="2670048"/>
            <a:ext cx="182880" cy="0"/>
          </a:xfrm>
          <a:prstGeom prst="line">
            <a:avLst/>
          </a:prstGeom>
          <a:noFill/>
          <a:ln w="2032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697480" y="2578608"/>
            <a:ext cx="164592" cy="182880"/>
          </a:xfrm>
          <a:prstGeom prst="chevron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2148840"/>
            <a:ext cx="2148840" cy="1051560"/>
          </a:xfrm>
          <a:prstGeom prst="roundRect">
            <a:avLst>
              <a:gd name="adj" fmla="val 13043"/>
            </a:avLst>
          </a:prstGeom>
          <a:solidFill>
            <a:srgbClr val="EEEAF7"/>
          </a:solidFill>
          <a:ln w="10160">
            <a:solidFill>
              <a:srgbClr val="EC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90672" y="2313432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b="1" spc="60" kern="0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SEMÁNTICOS</a:t>
            </a:r>
            <a:endParaRPr lang="en-US" sz="780" dirty="0"/>
          </a:p>
        </p:txBody>
      </p:sp>
      <p:sp>
        <p:nvSpPr>
          <p:cNvPr id="14" name="Text 12"/>
          <p:cNvSpPr txBox="1"/>
          <p:nvPr/>
        </p:nvSpPr>
        <p:spPr>
          <a:xfrm>
            <a:off x="3090672" y="2606040"/>
            <a:ext cx="1819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action.primary.bg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surface.canvas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text.secondary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166360" y="2670048"/>
            <a:ext cx="182880" cy="0"/>
          </a:xfrm>
          <a:prstGeom prst="line">
            <a:avLst/>
          </a:prstGeom>
          <a:noFill/>
          <a:ln w="2032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5212080" y="2578608"/>
            <a:ext cx="164592" cy="182880"/>
          </a:xfrm>
          <a:prstGeom prst="chevron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40680" y="2148840"/>
            <a:ext cx="2148840" cy="1051560"/>
          </a:xfrm>
          <a:prstGeom prst="roundRect">
            <a:avLst>
              <a:gd name="adj" fmla="val 13043"/>
            </a:avLst>
          </a:prstGeom>
          <a:solidFill>
            <a:srgbClr val="E8F4F7"/>
          </a:solidFill>
          <a:ln w="10160">
            <a:solidFill>
              <a:srgbClr val="EC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05272" y="2313432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b="1" spc="60" kern="0" dirty="0">
                <a:solidFill>
                  <a:srgbClr val="0E74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COMPONENTES</a:t>
            </a:r>
            <a:endParaRPr lang="en-US" sz="780" dirty="0"/>
          </a:p>
        </p:txBody>
      </p:sp>
      <p:sp>
        <p:nvSpPr>
          <p:cNvPr id="19" name="Text 17"/>
          <p:cNvSpPr txBox="1"/>
          <p:nvPr/>
        </p:nvSpPr>
        <p:spPr>
          <a:xfrm>
            <a:off x="5605272" y="2606040"/>
            <a:ext cx="18196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button.primary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table.row.hover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input.error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680960" y="2670048"/>
            <a:ext cx="182880" cy="0"/>
          </a:xfrm>
          <a:prstGeom prst="line">
            <a:avLst/>
          </a:prstGeom>
          <a:noFill/>
          <a:ln w="20320">
            <a:solidFill>
              <a:srgbClr val="A78BFA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7726680" y="2578608"/>
            <a:ext cx="164592" cy="182880"/>
          </a:xfrm>
          <a:prstGeom prst="chevron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0" y="2148840"/>
            <a:ext cx="2011680" cy="1051560"/>
          </a:xfrm>
          <a:prstGeom prst="roundRect">
            <a:avLst>
              <a:gd name="adj" fmla="val 13043"/>
            </a:avLst>
          </a:prstGeom>
          <a:solidFill>
            <a:srgbClr val="0E0B14"/>
          </a:solidFill>
          <a:ln w="10160">
            <a:solidFill>
              <a:srgbClr val="40364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119872" y="2313432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0" b="1" spc="60" kern="0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PRODUCTO</a:t>
            </a:r>
            <a:endParaRPr lang="en-US" sz="780" dirty="0"/>
          </a:p>
        </p:txBody>
      </p:sp>
      <p:sp>
        <p:nvSpPr>
          <p:cNvPr id="24" name="Text 22"/>
          <p:cNvSpPr txBox="1"/>
          <p:nvPr/>
        </p:nvSpPr>
        <p:spPr>
          <a:xfrm>
            <a:off x="8119872" y="2606040"/>
            <a:ext cx="1682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Billing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4360" y="3730752"/>
            <a:ext cx="9372600" cy="1993392"/>
          </a:xfrm>
          <a:prstGeom prst="roundRect">
            <a:avLst>
              <a:gd name="adj" fmla="val 7339"/>
            </a:avLst>
          </a:prstGeom>
          <a:solidFill>
            <a:srgbClr val="FFFFFF"/>
          </a:solidFill>
          <a:ln w="10160">
            <a:solidFill>
              <a:srgbClr val="EC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1248" y="398678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110" kern="0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HANDOFF RECOMENDADO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41248" y="4407408"/>
            <a:ext cx="219456" cy="219456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6968" y="4453128"/>
            <a:ext cx="128016" cy="128016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170432" y="43982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Figma variables</a:t>
            </a:r>
            <a:endParaRPr lang="en-US" sz="880" dirty="0"/>
          </a:p>
        </p:txBody>
      </p:sp>
      <p:sp>
        <p:nvSpPr>
          <p:cNvPr id="30" name="Text 27"/>
          <p:cNvSpPr txBox="1"/>
          <p:nvPr/>
        </p:nvSpPr>
        <p:spPr>
          <a:xfrm>
            <a:off x="2350008" y="4398264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Colecciones: Primitives, Semantic Light, Semantic Dark y Components.</a:t>
            </a:r>
            <a:endParaRPr lang="en-US" sz="820" dirty="0"/>
          </a:p>
        </p:txBody>
      </p:sp>
      <p:sp>
        <p:nvSpPr>
          <p:cNvPr id="31" name="Shape 28"/>
          <p:cNvSpPr/>
          <p:nvPr/>
        </p:nvSpPr>
        <p:spPr>
          <a:xfrm>
            <a:off x="5321808" y="4407408"/>
            <a:ext cx="219456" cy="219456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67528" y="4453128"/>
            <a:ext cx="128016" cy="128016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5650992" y="439826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Tokens JSON</a:t>
            </a:r>
            <a:endParaRPr lang="en-US" sz="880" dirty="0"/>
          </a:p>
        </p:txBody>
      </p:sp>
      <p:sp>
        <p:nvSpPr>
          <p:cNvPr id="34" name="Text 30"/>
          <p:cNvSpPr txBox="1"/>
          <p:nvPr/>
        </p:nvSpPr>
        <p:spPr>
          <a:xfrm>
            <a:off x="6830568" y="4398264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 única para web, mobile y documentación.</a:t>
            </a:r>
            <a:endParaRPr lang="en-US" sz="820" dirty="0"/>
          </a:p>
        </p:txBody>
      </p:sp>
      <p:sp>
        <p:nvSpPr>
          <p:cNvPr id="35" name="Shape 31"/>
          <p:cNvSpPr/>
          <p:nvPr/>
        </p:nvSpPr>
        <p:spPr>
          <a:xfrm>
            <a:off x="841248" y="5010912"/>
            <a:ext cx="219456" cy="219456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6968" y="5056632"/>
            <a:ext cx="128016" cy="128016"/>
          </a:xfrm>
          <a:prstGeom prst="rect">
            <a:avLst/>
          </a:prstGeom>
        </p:spPr>
      </p:pic>
      <p:sp>
        <p:nvSpPr>
          <p:cNvPr id="37" name="Text 32"/>
          <p:cNvSpPr txBox="1"/>
          <p:nvPr/>
        </p:nvSpPr>
        <p:spPr>
          <a:xfrm>
            <a:off x="1170432" y="50017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Storybook</a:t>
            </a:r>
            <a:endParaRPr lang="en-US" sz="880" dirty="0"/>
          </a:p>
        </p:txBody>
      </p:sp>
      <p:sp>
        <p:nvSpPr>
          <p:cNvPr id="38" name="Text 33"/>
          <p:cNvSpPr txBox="1"/>
          <p:nvPr/>
        </p:nvSpPr>
        <p:spPr>
          <a:xfrm>
            <a:off x="2350008" y="5001768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Estados, interacción, responsividad y pruebas visuales.</a:t>
            </a:r>
            <a:endParaRPr lang="en-US" sz="820" dirty="0"/>
          </a:p>
        </p:txBody>
      </p:sp>
      <p:sp>
        <p:nvSpPr>
          <p:cNvPr id="39" name="Shape 34"/>
          <p:cNvSpPr/>
          <p:nvPr/>
        </p:nvSpPr>
        <p:spPr>
          <a:xfrm>
            <a:off x="5321808" y="5010912"/>
            <a:ext cx="219456" cy="219456"/>
          </a:xfrm>
          <a:prstGeom prst="ellipse">
            <a:avLst/>
          </a:prstGeom>
          <a:solidFill>
            <a:srgbClr val="F5F3FF"/>
          </a:solidFill>
          <a:ln w="12700">
            <a:solidFill>
              <a:srgbClr val="F5F3FF">
                <a:alpha val="0"/>
              </a:srgbClr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67528" y="5056632"/>
            <a:ext cx="128016" cy="128016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5650992" y="50017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b="1" dirty="0">
                <a:solidFill>
                  <a:srgbClr val="1B172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 accesible</a:t>
            </a:r>
            <a:endParaRPr lang="en-US" sz="880" dirty="0"/>
          </a:p>
        </p:txBody>
      </p:sp>
      <p:sp>
        <p:nvSpPr>
          <p:cNvPr id="42" name="Text 36"/>
          <p:cNvSpPr txBox="1"/>
          <p:nvPr/>
        </p:nvSpPr>
        <p:spPr>
          <a:xfrm>
            <a:off x="6830568" y="5001768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625C6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Contraste automatizado, teclado, screen reader y reduced motion.</a:t>
            </a:r>
            <a:endParaRPr lang="en-US" sz="820" dirty="0"/>
          </a:p>
        </p:txBody>
      </p:sp>
      <p:sp>
        <p:nvSpPr>
          <p:cNvPr id="43" name="Shape 37"/>
          <p:cNvSpPr/>
          <p:nvPr/>
        </p:nvSpPr>
        <p:spPr>
          <a:xfrm>
            <a:off x="594360" y="6062472"/>
            <a:ext cx="9372600" cy="566928"/>
          </a:xfrm>
          <a:prstGeom prst="roundRect">
            <a:avLst>
              <a:gd name="adj" fmla="val 20968"/>
            </a:avLst>
          </a:prstGeom>
          <a:solidFill>
            <a:srgbClr val="2E1065"/>
          </a:solidFill>
          <a:ln w="12700">
            <a:solidFill>
              <a:srgbClr val="2E1065">
                <a:alpha val="0"/>
              </a:srgbClr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841248" y="6254496"/>
            <a:ext cx="3063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--nexo-color-action-primary-bg</a:t>
            </a:r>
            <a:endParaRPr lang="en-US" sz="930" dirty="0"/>
          </a:p>
        </p:txBody>
      </p:sp>
      <p:sp>
        <p:nvSpPr>
          <p:cNvPr id="45" name="Text 39"/>
          <p:cNvSpPr txBox="1"/>
          <p:nvPr/>
        </p:nvSpPr>
        <p:spPr>
          <a:xfrm>
            <a:off x="4279392" y="6245352"/>
            <a:ext cx="5193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C1BAC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Ningún componente referencia un HEX directo.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46520" y="-502920"/>
            <a:ext cx="4480560" cy="4480560"/>
          </a:xfrm>
          <a:prstGeom prst="ellipse">
            <a:avLst/>
          </a:prstGeom>
          <a:solidFill>
            <a:srgbClr val="0E0B14">
              <a:alpha val="0"/>
            </a:srgbClr>
          </a:solidFill>
          <a:ln w="1524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07808" y="1783080"/>
            <a:ext cx="4114800" cy="4114800"/>
          </a:xfrm>
          <a:prstGeom prst="ellipse">
            <a:avLst/>
          </a:prstGeom>
          <a:solidFill>
            <a:srgbClr val="0E0B14">
              <a:alpha val="0"/>
            </a:srgbClr>
          </a:solidFill>
          <a:ln w="1524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1080" y="4343400"/>
            <a:ext cx="3063240" cy="3063240"/>
          </a:xfrm>
          <a:prstGeom prst="ellipse">
            <a:avLst/>
          </a:prstGeom>
          <a:solidFill>
            <a:srgbClr val="0E0B14">
              <a:alpha val="0"/>
            </a:srgbClr>
          </a:solidFill>
          <a:ln w="15240">
            <a:solidFill>
              <a:srgbClr val="A78BFA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39912" y="2029968"/>
            <a:ext cx="100584" cy="100584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27464" y="4672584"/>
            <a:ext cx="100584" cy="100584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24344" y="576072"/>
            <a:ext cx="100584" cy="100584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32918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spc="140" kern="0" dirty="0">
                <a:solidFill>
                  <a:srgbClr val="C7BD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NEXO</a:t>
            </a:r>
            <a:endParaRPr lang="en-US" sz="82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306324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7F5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Sistema visual &amp; UI Design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3675888"/>
            <a:ext cx="4096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C4B5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Todo conectado. Solo lo necesario.</a:t>
            </a:r>
            <a:endParaRPr lang="en-US" sz="132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34840" y="4608576"/>
            <a:ext cx="420624" cy="420624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946904" y="460400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7F5FA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nexo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069080" y="548640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28A9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Versión 1.0 · Octubre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Nexo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Nexo — Sistema Visual &amp; UI Design v1.0</dc:title>
  <dc:subject>Sistema visual y UI Design para Nexo CRM SaaS B2B</dc:subject>
  <dc:creator>OpenAI</dc:creator>
  <cp:lastModifiedBy>OpenAI</cp:lastModifiedBy>
  <cp:revision>1</cp:revision>
  <dcterms:created xsi:type="dcterms:W3CDTF">2026-10-02T17:37:19Z</dcterms:created>
  <dcterms:modified xsi:type="dcterms:W3CDTF">2026-10-02T17:37:19Z</dcterms:modified>
</cp:coreProperties>
</file>